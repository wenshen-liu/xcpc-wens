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9" r:id="rId3"/>
    <p:sldId id="258" r:id="rId4"/>
    <p:sldId id="260" r:id="rId5"/>
    <p:sldId id="263" r:id="rId6"/>
    <p:sldId id="264" r:id="rId7"/>
    <p:sldId id="265" r:id="rId8"/>
    <p:sldId id="266" r:id="rId9"/>
    <p:sldId id="270" r:id="rId10"/>
    <p:sldId id="278" r:id="rId11"/>
    <p:sldId id="276" r:id="rId12"/>
    <p:sldId id="277" r:id="rId13"/>
    <p:sldId id="267" r:id="rId14"/>
    <p:sldId id="268" r:id="rId15"/>
    <p:sldId id="269" r:id="rId16"/>
    <p:sldId id="275" r:id="rId17"/>
    <p:sldId id="271" r:id="rId18"/>
    <p:sldId id="272" r:id="rId19"/>
    <p:sldId id="262" r:id="rId20"/>
    <p:sldId id="27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180" y="-9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zh-CN" altLang="en-US"/>
              <a:t>单击此处编辑母版标题样式</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A190783B-F243-467B-BFCF-3FD06750554E}" type="datetimeFigureOut">
              <a:rPr lang="zh-CN" altLang="en-US" smtClean="0"/>
              <a:t>2020/7/29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3A593D3-8529-42E6-A44E-86B5B27E23E1}" type="slidenum">
              <a:rPr lang="zh-CN" altLang="en-US" smtClean="0"/>
              <a:t>‹#›</a:t>
            </a:fld>
            <a:endParaRPr lang="zh-CN" altLang="en-US"/>
          </a:p>
        </p:txBody>
      </p:sp>
    </p:spTree>
    <p:extLst>
      <p:ext uri="{BB962C8B-B14F-4D97-AF65-F5344CB8AC3E}">
        <p14:creationId xmlns:p14="http://schemas.microsoft.com/office/powerpoint/2010/main" val="34159770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3"/>
          <p:cNvSpPr>
            <a:spLocks noGrp="1"/>
          </p:cNvSpPr>
          <p:nvPr>
            <p:ph type="dt" sz="half" idx="10"/>
          </p:nvPr>
        </p:nvSpPr>
        <p:spPr/>
        <p:txBody>
          <a:bodyPr/>
          <a:lstStyle/>
          <a:p>
            <a:fld id="{A190783B-F243-467B-BFCF-3FD06750554E}" type="datetimeFigureOut">
              <a:rPr lang="zh-CN" altLang="en-US" smtClean="0"/>
              <a:t>2020/7/29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3A593D3-8529-42E6-A44E-86B5B27E23E1}" type="slidenum">
              <a:rPr lang="zh-CN" altLang="en-US" smtClean="0"/>
              <a:t>‹#›</a:t>
            </a:fld>
            <a:endParaRPr lang="zh-CN" altLang="en-US"/>
          </a:p>
        </p:txBody>
      </p:sp>
    </p:spTree>
    <p:extLst>
      <p:ext uri="{BB962C8B-B14F-4D97-AF65-F5344CB8AC3E}">
        <p14:creationId xmlns:p14="http://schemas.microsoft.com/office/powerpoint/2010/main" val="20800127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A190783B-F243-467B-BFCF-3FD06750554E}" type="datetimeFigureOut">
              <a:rPr lang="zh-CN" altLang="en-US" smtClean="0"/>
              <a:t>2020/7/29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3A593D3-8529-42E6-A44E-86B5B27E23E1}" type="slidenum">
              <a:rPr lang="zh-CN" altLang="en-US" smtClean="0"/>
              <a:t>‹#›</a:t>
            </a:fld>
            <a:endParaRPr lang="zh-CN" altLang="en-US"/>
          </a:p>
        </p:txBody>
      </p:sp>
    </p:spTree>
    <p:extLst>
      <p:ext uri="{BB962C8B-B14F-4D97-AF65-F5344CB8AC3E}">
        <p14:creationId xmlns:p14="http://schemas.microsoft.com/office/powerpoint/2010/main" val="19100596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A190783B-F243-467B-BFCF-3FD06750554E}" type="datetimeFigureOut">
              <a:rPr lang="zh-CN" altLang="en-US" smtClean="0"/>
              <a:t>2020/7/29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F3A593D3-8529-42E6-A44E-86B5B27E23E1}" type="slidenum">
              <a:rPr lang="zh-CN" altLang="en-US" smtClean="0"/>
              <a:t>‹#›</a:t>
            </a:fld>
            <a:endParaRPr lang="zh-CN" altLang="en-US"/>
          </a:p>
        </p:txBody>
      </p:sp>
    </p:spTree>
    <p:extLst>
      <p:ext uri="{BB962C8B-B14F-4D97-AF65-F5344CB8AC3E}">
        <p14:creationId xmlns:p14="http://schemas.microsoft.com/office/powerpoint/2010/main" val="7760404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A190783B-F243-467B-BFCF-3FD06750554E}" type="datetimeFigureOut">
              <a:rPr lang="zh-CN" altLang="en-US" smtClean="0"/>
              <a:t>2020/7/29</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F3A593D3-8529-42E6-A44E-86B5B27E23E1}" type="slidenum">
              <a:rPr lang="zh-CN" altLang="en-US" smtClean="0"/>
              <a:t>‹#›</a:t>
            </a:fld>
            <a:endParaRPr lang="zh-CN" altLang="en-US"/>
          </a:p>
        </p:txBody>
      </p:sp>
    </p:spTree>
    <p:extLst>
      <p:ext uri="{BB962C8B-B14F-4D97-AF65-F5344CB8AC3E}">
        <p14:creationId xmlns:p14="http://schemas.microsoft.com/office/powerpoint/2010/main" val="12879923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7" name="Date Placeholder 2"/>
          <p:cNvSpPr>
            <a:spLocks noGrp="1"/>
          </p:cNvSpPr>
          <p:nvPr>
            <p:ph type="dt" sz="half" idx="10"/>
          </p:nvPr>
        </p:nvSpPr>
        <p:spPr/>
        <p:txBody>
          <a:bodyPr/>
          <a:lstStyle/>
          <a:p>
            <a:fld id="{A190783B-F243-467B-BFCF-3FD06750554E}" type="datetimeFigureOut">
              <a:rPr lang="zh-CN" altLang="en-US" smtClean="0"/>
              <a:t>2020/7/29</a:t>
            </a:fld>
            <a:endParaRPr lang="zh-CN" altLang="en-US"/>
          </a:p>
        </p:txBody>
      </p:sp>
      <p:sp>
        <p:nvSpPr>
          <p:cNvPr id="5" name="Footer Placeholder 3"/>
          <p:cNvSpPr>
            <a:spLocks noGrp="1"/>
          </p:cNvSpPr>
          <p:nvPr>
            <p:ph type="ftr" sz="quarter" idx="11"/>
          </p:nvPr>
        </p:nvSpPr>
        <p:spPr/>
        <p:txBody>
          <a:bodyPr/>
          <a:lstStyle/>
          <a:p>
            <a:endParaRPr lang="zh-CN" altLang="en-US"/>
          </a:p>
        </p:txBody>
      </p:sp>
      <p:sp>
        <p:nvSpPr>
          <p:cNvPr id="6" name="Slide Number Placeholder 4"/>
          <p:cNvSpPr>
            <a:spLocks noGrp="1"/>
          </p:cNvSpPr>
          <p:nvPr>
            <p:ph type="sldNum" sz="quarter" idx="12"/>
          </p:nvPr>
        </p:nvSpPr>
        <p:spPr/>
        <p:txBody>
          <a:bodyPr/>
          <a:lstStyle/>
          <a:p>
            <a:fld id="{F3A593D3-8529-42E6-A44E-86B5B27E23E1}" type="slidenum">
              <a:rPr lang="zh-CN" altLang="en-US" smtClean="0"/>
              <a:t>‹#›</a:t>
            </a:fld>
            <a:endParaRPr lang="zh-CN" altLang="en-US"/>
          </a:p>
        </p:txBody>
      </p:sp>
    </p:spTree>
    <p:extLst>
      <p:ext uri="{BB962C8B-B14F-4D97-AF65-F5344CB8AC3E}">
        <p14:creationId xmlns:p14="http://schemas.microsoft.com/office/powerpoint/2010/main" val="41058244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A190783B-F243-467B-BFCF-3FD06750554E}" type="datetimeFigureOut">
              <a:rPr lang="zh-CN" altLang="en-US" smtClean="0"/>
              <a:t>2020/7/29</a:t>
            </a:fld>
            <a:endParaRPr lang="zh-CN" altLang="en-US"/>
          </a:p>
        </p:txBody>
      </p:sp>
      <p:sp>
        <p:nvSpPr>
          <p:cNvPr id="5" name="Footer Placeholder 2"/>
          <p:cNvSpPr>
            <a:spLocks noGrp="1"/>
          </p:cNvSpPr>
          <p:nvPr>
            <p:ph type="ftr" sz="quarter" idx="11"/>
          </p:nvPr>
        </p:nvSpPr>
        <p:spPr/>
        <p:txBody>
          <a:bodyPr/>
          <a:lstStyle/>
          <a:p>
            <a:endParaRPr lang="zh-CN" altLang="en-US"/>
          </a:p>
        </p:txBody>
      </p:sp>
      <p:sp>
        <p:nvSpPr>
          <p:cNvPr id="6" name="Slide Number Placeholder 3"/>
          <p:cNvSpPr>
            <a:spLocks noGrp="1"/>
          </p:cNvSpPr>
          <p:nvPr>
            <p:ph type="sldNum" sz="quarter" idx="12"/>
          </p:nvPr>
        </p:nvSpPr>
        <p:spPr/>
        <p:txBody>
          <a:bodyPr/>
          <a:lstStyle/>
          <a:p>
            <a:fld id="{F3A593D3-8529-42E6-A44E-86B5B27E23E1}" type="slidenum">
              <a:rPr lang="zh-CN" altLang="en-US" smtClean="0"/>
              <a:t>‹#›</a:t>
            </a:fld>
            <a:endParaRPr lang="zh-CN" altLang="en-US"/>
          </a:p>
        </p:txBody>
      </p:sp>
    </p:spTree>
    <p:extLst>
      <p:ext uri="{BB962C8B-B14F-4D97-AF65-F5344CB8AC3E}">
        <p14:creationId xmlns:p14="http://schemas.microsoft.com/office/powerpoint/2010/main" val="5852645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zh-CN" altLang="en-US"/>
              <a:t>单击此处编辑母版标题样式</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7" name="Date Placeholder 4"/>
          <p:cNvSpPr>
            <a:spLocks noGrp="1"/>
          </p:cNvSpPr>
          <p:nvPr>
            <p:ph type="dt" sz="half" idx="10"/>
          </p:nvPr>
        </p:nvSpPr>
        <p:spPr/>
        <p:txBody>
          <a:bodyPr/>
          <a:lstStyle/>
          <a:p>
            <a:fld id="{A190783B-F243-467B-BFCF-3FD06750554E}" type="datetimeFigureOut">
              <a:rPr lang="zh-CN" altLang="en-US" smtClean="0"/>
              <a:t>2020/7/29</a:t>
            </a:fld>
            <a:endParaRPr lang="zh-CN" altLang="en-US"/>
          </a:p>
        </p:txBody>
      </p:sp>
      <p:sp>
        <p:nvSpPr>
          <p:cNvPr id="5" name="Footer Placeholder 5"/>
          <p:cNvSpPr>
            <a:spLocks noGrp="1"/>
          </p:cNvSpPr>
          <p:nvPr>
            <p:ph type="ftr" sz="quarter" idx="11"/>
          </p:nvPr>
        </p:nvSpPr>
        <p:spPr/>
        <p:txBody>
          <a:bodyPr/>
          <a:lstStyle/>
          <a:p>
            <a:endParaRPr lang="zh-CN" altLang="en-US"/>
          </a:p>
        </p:txBody>
      </p:sp>
      <p:sp>
        <p:nvSpPr>
          <p:cNvPr id="6" name="Slide Number Placeholder 6"/>
          <p:cNvSpPr>
            <a:spLocks noGrp="1"/>
          </p:cNvSpPr>
          <p:nvPr>
            <p:ph type="sldNum" sz="quarter" idx="12"/>
          </p:nvPr>
        </p:nvSpPr>
        <p:spPr/>
        <p:txBody>
          <a:bodyPr/>
          <a:lstStyle/>
          <a:p>
            <a:fld id="{F3A593D3-8529-42E6-A44E-86B5B27E23E1}" type="slidenum">
              <a:rPr lang="zh-CN" altLang="en-US" smtClean="0"/>
              <a:t>‹#›</a:t>
            </a:fld>
            <a:endParaRPr lang="zh-CN" altLang="en-US"/>
          </a:p>
        </p:txBody>
      </p:sp>
    </p:spTree>
    <p:extLst>
      <p:ext uri="{BB962C8B-B14F-4D97-AF65-F5344CB8AC3E}">
        <p14:creationId xmlns:p14="http://schemas.microsoft.com/office/powerpoint/2010/main" val="13239055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A190783B-F243-467B-BFCF-3FD06750554E}" type="datetimeFigureOut">
              <a:rPr lang="zh-CN" altLang="en-US" smtClean="0"/>
              <a:t>2020/7/29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F3A593D3-8529-42E6-A44E-86B5B27E23E1}" type="slidenum">
              <a:rPr lang="zh-CN" altLang="en-US" smtClean="0"/>
              <a:t>‹#›</a:t>
            </a:fld>
            <a:endParaRPr lang="zh-CN" altLang="en-US"/>
          </a:p>
        </p:txBody>
      </p:sp>
    </p:spTree>
    <p:extLst>
      <p:ext uri="{BB962C8B-B14F-4D97-AF65-F5344CB8AC3E}">
        <p14:creationId xmlns:p14="http://schemas.microsoft.com/office/powerpoint/2010/main" val="9477732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带描述的全景图片">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A190783B-F243-467B-BFCF-3FD06750554E}" type="datetimeFigureOut">
              <a:rPr lang="zh-CN" altLang="en-US" smtClean="0"/>
              <a:t>2020/7/29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F3A593D3-8529-42E6-A44E-86B5B27E23E1}" type="slidenum">
              <a:rPr lang="zh-CN" altLang="en-US" smtClean="0"/>
              <a:t>‹#›</a:t>
            </a:fld>
            <a:endParaRPr lang="zh-CN" altLang="en-US"/>
          </a:p>
        </p:txBody>
      </p:sp>
    </p:spTree>
    <p:extLst>
      <p:ext uri="{BB962C8B-B14F-4D97-AF65-F5344CB8AC3E}">
        <p14:creationId xmlns:p14="http://schemas.microsoft.com/office/powerpoint/2010/main" val="336193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zh-CN" altLang="en-US"/>
              <a:t>单击此处编辑母版标题样式</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A190783B-F243-467B-BFCF-3FD06750554E}" type="datetimeFigureOut">
              <a:rPr lang="zh-CN" altLang="en-US" smtClean="0"/>
              <a:t>2020/7/29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3A593D3-8529-42E6-A44E-86B5B27E23E1}" type="slidenum">
              <a:rPr lang="zh-CN" altLang="en-US" smtClean="0"/>
              <a:t>‹#›</a:t>
            </a:fld>
            <a:endParaRPr lang="zh-CN" altLang="en-US"/>
          </a:p>
        </p:txBody>
      </p:sp>
    </p:spTree>
    <p:extLst>
      <p:ext uri="{BB962C8B-B14F-4D97-AF65-F5344CB8AC3E}">
        <p14:creationId xmlns:p14="http://schemas.microsoft.com/office/powerpoint/2010/main" val="1203422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zh-CN" altLang="en-US"/>
              <a:t>单击此处编辑母版标题样式</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zh-CN" altLang="en-US"/>
              <a:t>单击此处编辑母版文本样式</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A190783B-F243-467B-BFCF-3FD06750554E}" type="datetimeFigureOut">
              <a:rPr lang="zh-CN" altLang="en-US" smtClean="0"/>
              <a:t>2020/7/29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3A593D3-8529-42E6-A44E-86B5B27E23E1}" type="slidenum">
              <a:rPr lang="zh-CN" altLang="en-US" smtClean="0"/>
              <a:t>‹#›</a:t>
            </a:fld>
            <a:endParaRPr lang="zh-CN" alt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0134225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A190783B-F243-467B-BFCF-3FD06750554E}" type="datetimeFigureOut">
              <a:rPr lang="zh-CN" altLang="en-US" smtClean="0"/>
              <a:t>2020/7/29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3A593D3-8529-42E6-A44E-86B5B27E23E1}" type="slidenum">
              <a:rPr lang="zh-CN" altLang="en-US" smtClean="0"/>
              <a:t>‹#›</a:t>
            </a:fld>
            <a:endParaRPr lang="zh-CN" altLang="en-US"/>
          </a:p>
        </p:txBody>
      </p:sp>
    </p:spTree>
    <p:extLst>
      <p:ext uri="{BB962C8B-B14F-4D97-AF65-F5344CB8AC3E}">
        <p14:creationId xmlns:p14="http://schemas.microsoft.com/office/powerpoint/2010/main" val="35218229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栏">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zh-CN" altLang="en-US"/>
              <a:t>单击此处编辑母版标题样式</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190783B-F243-467B-BFCF-3FD06750554E}" type="datetimeFigureOut">
              <a:rPr lang="zh-CN" altLang="en-US" smtClean="0"/>
              <a:t>2020/7/29</a:t>
            </a:fld>
            <a:endParaRPr lang="zh-CN" altLang="en-US"/>
          </a:p>
        </p:txBody>
      </p:sp>
      <p:sp>
        <p:nvSpPr>
          <p:cNvPr id="4"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3A593D3-8529-42E6-A44E-86B5B27E23E1}" type="slidenum">
              <a:rPr lang="zh-CN" altLang="en-US" smtClean="0"/>
              <a:t>‹#›</a:t>
            </a:fld>
            <a:endParaRPr lang="zh-CN" altLang="en-US"/>
          </a:p>
        </p:txBody>
      </p:sp>
    </p:spTree>
    <p:extLst>
      <p:ext uri="{BB962C8B-B14F-4D97-AF65-F5344CB8AC3E}">
        <p14:creationId xmlns:p14="http://schemas.microsoft.com/office/powerpoint/2010/main" val="6815802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图片栏">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zh-CN" altLang="en-US"/>
              <a:t>单击此处编辑母版标题样式</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190783B-F243-467B-BFCF-3FD06750554E}" type="datetimeFigureOut">
              <a:rPr lang="zh-CN" altLang="en-US" smtClean="0"/>
              <a:t>2020/7/29</a:t>
            </a:fld>
            <a:endParaRPr lang="zh-CN" altLang="en-US"/>
          </a:p>
        </p:txBody>
      </p:sp>
      <p:sp>
        <p:nvSpPr>
          <p:cNvPr id="4"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3A593D3-8529-42E6-A44E-86B5B27E23E1}" type="slidenum">
              <a:rPr lang="zh-CN" altLang="en-US" smtClean="0"/>
              <a:t>‹#›</a:t>
            </a:fld>
            <a:endParaRPr lang="zh-CN" altLang="en-US"/>
          </a:p>
        </p:txBody>
      </p:sp>
    </p:spTree>
    <p:extLst>
      <p:ext uri="{BB962C8B-B14F-4D97-AF65-F5344CB8AC3E}">
        <p14:creationId xmlns:p14="http://schemas.microsoft.com/office/powerpoint/2010/main" val="11264315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nchor="t" anchorCtr="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A190783B-F243-467B-BFCF-3FD06750554E}" type="datetimeFigureOut">
              <a:rPr lang="zh-CN" altLang="en-US" smtClean="0"/>
              <a:t>2020/7/29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3A593D3-8529-42E6-A44E-86B5B27E23E1}" type="slidenum">
              <a:rPr lang="zh-CN" altLang="en-US" smtClean="0"/>
              <a:t>‹#›</a:t>
            </a:fld>
            <a:endParaRPr lang="zh-CN" altLang="en-US"/>
          </a:p>
        </p:txBody>
      </p:sp>
    </p:spTree>
    <p:extLst>
      <p:ext uri="{BB962C8B-B14F-4D97-AF65-F5344CB8AC3E}">
        <p14:creationId xmlns:p14="http://schemas.microsoft.com/office/powerpoint/2010/main" val="27399580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A190783B-F243-467B-BFCF-3FD06750554E}" type="datetimeFigureOut">
              <a:rPr lang="zh-CN" altLang="en-US" smtClean="0"/>
              <a:t>2020/7/29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3A593D3-8529-42E6-A44E-86B5B27E23E1}" type="slidenum">
              <a:rPr lang="zh-CN" altLang="en-US" smtClean="0"/>
              <a:t>‹#›</a:t>
            </a:fld>
            <a:endParaRPr lang="zh-CN" altLang="en-US"/>
          </a:p>
        </p:txBody>
      </p:sp>
    </p:spTree>
    <p:extLst>
      <p:ext uri="{BB962C8B-B14F-4D97-AF65-F5344CB8AC3E}">
        <p14:creationId xmlns:p14="http://schemas.microsoft.com/office/powerpoint/2010/main" val="19705646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A190783B-F243-467B-BFCF-3FD06750554E}" type="datetimeFigureOut">
              <a:rPr lang="zh-CN" altLang="en-US" smtClean="0"/>
              <a:t>2020/7/29</a:t>
            </a:fld>
            <a:endParaRPr lang="zh-CN" alt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zh-CN" alt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F3A593D3-8529-42E6-A44E-86B5B27E23E1}" type="slidenum">
              <a:rPr lang="zh-CN" altLang="en-US" smtClean="0"/>
              <a:t>‹#›</a:t>
            </a:fld>
            <a:endParaRPr lang="zh-CN" altLang="en-US"/>
          </a:p>
        </p:txBody>
      </p:sp>
    </p:spTree>
    <p:extLst>
      <p:ext uri="{BB962C8B-B14F-4D97-AF65-F5344CB8AC3E}">
        <p14:creationId xmlns:p14="http://schemas.microsoft.com/office/powerpoint/2010/main" val="242905033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9D4CCB71-636F-406F-904F-40F4322D75F4}"/>
              </a:ext>
            </a:extLst>
          </p:cNvPr>
          <p:cNvSpPr>
            <a:spLocks noGrp="1"/>
          </p:cNvSpPr>
          <p:nvPr>
            <p:ph type="ctrTitle"/>
          </p:nvPr>
        </p:nvSpPr>
        <p:spPr/>
        <p:txBody>
          <a:bodyPr/>
          <a:lstStyle/>
          <a:p>
            <a:r>
              <a:rPr lang="zh-CN" altLang="en-US" dirty="0"/>
              <a:t>数据结构</a:t>
            </a:r>
          </a:p>
        </p:txBody>
      </p:sp>
      <p:sp>
        <p:nvSpPr>
          <p:cNvPr id="3" name="副标题 2">
            <a:extLst>
              <a:ext uri="{FF2B5EF4-FFF2-40B4-BE49-F238E27FC236}">
                <a16:creationId xmlns:a16="http://schemas.microsoft.com/office/drawing/2014/main" xmlns="" id="{719A2794-3E60-4583-BAFC-A8AC45889714}"/>
              </a:ext>
            </a:extLst>
          </p:cNvPr>
          <p:cNvSpPr>
            <a:spLocks noGrp="1"/>
          </p:cNvSpPr>
          <p:nvPr>
            <p:ph type="subTitle" idx="1"/>
          </p:nvPr>
        </p:nvSpPr>
        <p:spPr/>
        <p:txBody>
          <a:bodyPr/>
          <a:lstStyle/>
          <a:p>
            <a:r>
              <a:rPr lang="en-US" altLang="zh-CN" dirty="0"/>
              <a:t>wfj</a:t>
            </a:r>
            <a:endParaRPr lang="zh-CN" altLang="en-US" dirty="0"/>
          </a:p>
        </p:txBody>
      </p:sp>
    </p:spTree>
    <p:extLst>
      <p:ext uri="{BB962C8B-B14F-4D97-AF65-F5344CB8AC3E}">
        <p14:creationId xmlns:p14="http://schemas.microsoft.com/office/powerpoint/2010/main" val="31321185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117E32EF-0220-4827-8302-216377B0F8C9}"/>
              </a:ext>
            </a:extLst>
          </p:cNvPr>
          <p:cNvSpPr>
            <a:spLocks noGrp="1"/>
          </p:cNvSpPr>
          <p:nvPr>
            <p:ph type="title"/>
          </p:nvPr>
        </p:nvSpPr>
        <p:spPr/>
        <p:txBody>
          <a:bodyPr/>
          <a:lstStyle/>
          <a:p>
            <a:r>
              <a:rPr lang="zh-CN" altLang="en-US" dirty="0"/>
              <a:t>树状数组</a:t>
            </a:r>
          </a:p>
        </p:txBody>
      </p:sp>
      <p:sp>
        <p:nvSpPr>
          <p:cNvPr id="3" name="内容占位符 2">
            <a:extLst>
              <a:ext uri="{FF2B5EF4-FFF2-40B4-BE49-F238E27FC236}">
                <a16:creationId xmlns:a16="http://schemas.microsoft.com/office/drawing/2014/main" xmlns="" id="{55EF833A-0CFB-44FC-A97C-5FFF4B42B601}"/>
              </a:ext>
            </a:extLst>
          </p:cNvPr>
          <p:cNvSpPr>
            <a:spLocks noGrp="1"/>
          </p:cNvSpPr>
          <p:nvPr>
            <p:ph idx="1"/>
          </p:nvPr>
        </p:nvSpPr>
        <p:spPr/>
        <p:txBody>
          <a:bodyPr/>
          <a:lstStyle/>
          <a:p>
            <a:r>
              <a:rPr lang="zh-CN" altLang="en-US" dirty="0"/>
              <a:t>原理？</a:t>
            </a:r>
            <a:endParaRPr lang="en-US" altLang="zh-CN" dirty="0"/>
          </a:p>
          <a:p>
            <a:endParaRPr lang="en-US" altLang="zh-CN" dirty="0"/>
          </a:p>
          <a:p>
            <a:r>
              <a:rPr lang="zh-CN" altLang="en-US" dirty="0"/>
              <a:t>区间修改</a:t>
            </a:r>
            <a:r>
              <a:rPr lang="en-US" altLang="zh-CN" dirty="0"/>
              <a:t>+</a:t>
            </a:r>
            <a:r>
              <a:rPr lang="zh-CN" altLang="en-US" dirty="0"/>
              <a:t>单点查询</a:t>
            </a:r>
            <a:endParaRPr lang="en-US" altLang="zh-CN" dirty="0"/>
          </a:p>
          <a:p>
            <a:endParaRPr lang="en-US" altLang="zh-CN" dirty="0"/>
          </a:p>
          <a:p>
            <a:r>
              <a:rPr lang="zh-CN" altLang="en-US" dirty="0"/>
              <a:t>区间修改</a:t>
            </a:r>
            <a:r>
              <a:rPr lang="en-US" altLang="zh-CN" dirty="0"/>
              <a:t>+</a:t>
            </a:r>
            <a:r>
              <a:rPr lang="zh-CN" altLang="en-US" dirty="0"/>
              <a:t>区间查询</a:t>
            </a:r>
          </a:p>
        </p:txBody>
      </p:sp>
    </p:spTree>
    <p:extLst>
      <p:ext uri="{BB962C8B-B14F-4D97-AF65-F5344CB8AC3E}">
        <p14:creationId xmlns:p14="http://schemas.microsoft.com/office/powerpoint/2010/main" val="3368599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3299EA38-06B1-4D21-A1AB-9E02381C01DC}"/>
              </a:ext>
            </a:extLst>
          </p:cNvPr>
          <p:cNvSpPr>
            <a:spLocks noGrp="1"/>
          </p:cNvSpPr>
          <p:nvPr>
            <p:ph type="title"/>
          </p:nvPr>
        </p:nvSpPr>
        <p:spPr/>
        <p:txBody>
          <a:bodyPr/>
          <a:lstStyle/>
          <a:p>
            <a:r>
              <a:rPr lang="en-US" altLang="zh-CN" dirty="0" err="1"/>
              <a:t>AtCoder</a:t>
            </a:r>
            <a:r>
              <a:rPr lang="en-US" altLang="zh-CN" dirty="0"/>
              <a:t> Regular Contest 068E </a:t>
            </a:r>
            <a:r>
              <a:rPr lang="en-US" altLang="zh-CN" dirty="0" err="1"/>
              <a:t>Snuke</a:t>
            </a:r>
            <a:r>
              <a:rPr lang="en-US" altLang="zh-CN" dirty="0"/>
              <a:t> Line</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xmlns="" id="{E07A402B-37BF-4EA8-977F-1C9F59829288}"/>
                  </a:ext>
                </a:extLst>
              </p:cNvPr>
              <p:cNvSpPr>
                <a:spLocks noGrp="1"/>
              </p:cNvSpPr>
              <p:nvPr>
                <p:ph idx="1"/>
              </p:nvPr>
            </p:nvSpPr>
            <p:spPr/>
            <p:txBody>
              <a:bodyPr>
                <a:normAutofit/>
              </a:bodyPr>
              <a:lstStyle/>
              <a:p>
                <a14:m>
                  <m:oMath xmlns:m="http://schemas.openxmlformats.org/officeDocument/2006/math">
                    <m:r>
                      <a:rPr lang="en-US" altLang="zh-CN" i="1" dirty="0" smtClean="0">
                        <a:latin typeface="Cambria Math" panose="02040503050406030204" pitchFamily="18" charset="0"/>
                      </a:rPr>
                      <m:t>𝑚</m:t>
                    </m:r>
                    <m:r>
                      <a:rPr lang="en-US" altLang="zh-CN" i="1" dirty="0" smtClean="0">
                        <a:latin typeface="Cambria Math" panose="02040503050406030204" pitchFamily="18" charset="0"/>
                      </a:rPr>
                      <m:t>+1</m:t>
                    </m:r>
                  </m:oMath>
                </a14:m>
                <a:r>
                  <a:rPr lang="zh-CN" altLang="en-US" dirty="0"/>
                  <a:t>个车站</a:t>
                </a:r>
                <a:r>
                  <a:rPr lang="en-US" altLang="zh-CN" dirty="0"/>
                  <a:t>(</a:t>
                </a:r>
                <a14:m>
                  <m:oMath xmlns:m="http://schemas.openxmlformats.org/officeDocument/2006/math">
                    <m:r>
                      <a:rPr lang="en-US" altLang="zh-CN" i="1" dirty="0" smtClean="0">
                        <a:latin typeface="Cambria Math" panose="02040503050406030204" pitchFamily="18" charset="0"/>
                      </a:rPr>
                      <m:t>0~</m:t>
                    </m:r>
                    <m:r>
                      <a:rPr lang="en-US" altLang="zh-CN" i="1" dirty="0" smtClean="0">
                        <a:latin typeface="Cambria Math" panose="02040503050406030204" pitchFamily="18" charset="0"/>
                      </a:rPr>
                      <m:t>𝑚</m:t>
                    </m:r>
                  </m:oMath>
                </a14:m>
                <a:r>
                  <a:rPr lang="zh-CN" altLang="en-US" dirty="0"/>
                  <a:t>编号</a:t>
                </a:r>
                <a:r>
                  <a:rPr lang="en-US" altLang="zh-CN" dirty="0"/>
                  <a:t>)</a:t>
                </a:r>
                <a:r>
                  <a:rPr lang="zh-CN" altLang="en-US" dirty="0"/>
                  <a:t>。</a:t>
                </a:r>
                <a14:m>
                  <m:oMath xmlns:m="http://schemas.openxmlformats.org/officeDocument/2006/math">
                    <m:r>
                      <a:rPr lang="en-US" altLang="zh-CN" i="1" dirty="0" smtClean="0">
                        <a:latin typeface="Cambria Math" panose="02040503050406030204" pitchFamily="18" charset="0"/>
                      </a:rPr>
                      <m:t>𝑛</m:t>
                    </m:r>
                  </m:oMath>
                </a14:m>
                <a:r>
                  <a:rPr lang="zh-CN" altLang="en-US" dirty="0"/>
                  <a:t>种商品，第</a:t>
                </a:r>
                <a14:m>
                  <m:oMath xmlns:m="http://schemas.openxmlformats.org/officeDocument/2006/math">
                    <m:r>
                      <a:rPr lang="en-US" altLang="zh-CN" i="1" dirty="0" smtClean="0">
                        <a:latin typeface="Cambria Math" panose="02040503050406030204" pitchFamily="18" charset="0"/>
                      </a:rPr>
                      <m:t>𝑖</m:t>
                    </m:r>
                  </m:oMath>
                </a14:m>
                <a:r>
                  <a:rPr lang="zh-CN" altLang="en-US" dirty="0"/>
                  <a:t>种只在编号</a:t>
                </a:r>
                <a14:m>
                  <m:oMath xmlns:m="http://schemas.openxmlformats.org/officeDocument/2006/math">
                    <m:r>
                      <a:rPr lang="en-US" altLang="zh-CN" i="1" dirty="0" smtClean="0">
                        <a:latin typeface="Cambria Math" panose="02040503050406030204" pitchFamily="18" charset="0"/>
                      </a:rPr>
                      <m:t>[</m:t>
                    </m:r>
                    <m:r>
                      <a:rPr lang="en-US" altLang="zh-CN" i="1" dirty="0" err="1">
                        <a:latin typeface="Cambria Math" panose="02040503050406030204" pitchFamily="18" charset="0"/>
                      </a:rPr>
                      <m:t>𝑙𝑖</m:t>
                    </m:r>
                    <m:r>
                      <a:rPr lang="en-US" altLang="zh-CN" i="1" dirty="0" err="1">
                        <a:latin typeface="Cambria Math" panose="02040503050406030204" pitchFamily="18" charset="0"/>
                      </a:rPr>
                      <m:t>,</m:t>
                    </m:r>
                    <m:r>
                      <a:rPr lang="en-US" altLang="zh-CN" i="1" dirty="0" err="1">
                        <a:latin typeface="Cambria Math" panose="02040503050406030204" pitchFamily="18" charset="0"/>
                      </a:rPr>
                      <m:t>𝑟𝑖</m:t>
                    </m:r>
                    <m:r>
                      <a:rPr lang="en-US" altLang="zh-CN" i="1" dirty="0" smtClean="0">
                        <a:latin typeface="Cambria Math" panose="02040503050406030204" pitchFamily="18" charset="0"/>
                      </a:rPr>
                      <m:t>]</m:t>
                    </m:r>
                  </m:oMath>
                </a14:m>
                <a:r>
                  <a:rPr lang="zh-CN" altLang="en-US" dirty="0"/>
                  <a:t>的车站出售。对于每一个</a:t>
                </a:r>
                <a14:m>
                  <m:oMath xmlns:m="http://schemas.openxmlformats.org/officeDocument/2006/math">
                    <m:r>
                      <a:rPr lang="en-US" altLang="zh-CN" i="1" dirty="0" smtClean="0">
                        <a:latin typeface="Cambria Math" panose="02040503050406030204" pitchFamily="18" charset="0"/>
                      </a:rPr>
                      <m:t>𝑑</m:t>
                    </m:r>
                  </m:oMath>
                </a14:m>
                <a:r>
                  <a:rPr lang="zh-CN" altLang="en-US" dirty="0"/>
                  <a:t>，从</a:t>
                </a:r>
                <a14:m>
                  <m:oMath xmlns:m="http://schemas.openxmlformats.org/officeDocument/2006/math">
                    <m:r>
                      <a:rPr lang="en-US" altLang="zh-CN" i="1" dirty="0" smtClean="0">
                        <a:latin typeface="Cambria Math" panose="02040503050406030204" pitchFamily="18" charset="0"/>
                      </a:rPr>
                      <m:t>0</m:t>
                    </m:r>
                  </m:oMath>
                </a14:m>
                <a:r>
                  <a:rPr lang="zh-CN" altLang="en-US" dirty="0"/>
                  <a:t>出发，只会在</a:t>
                </a:r>
                <a14:m>
                  <m:oMath xmlns:m="http://schemas.openxmlformats.org/officeDocument/2006/math">
                    <m:r>
                      <a:rPr lang="en-US" altLang="zh-CN" i="1" dirty="0" smtClean="0">
                        <a:latin typeface="Cambria Math" panose="02040503050406030204" pitchFamily="18" charset="0"/>
                      </a:rPr>
                      <m:t>𝑑</m:t>
                    </m:r>
                  </m:oMath>
                </a14:m>
                <a:r>
                  <a:rPr lang="zh-CN" altLang="en-US" dirty="0"/>
                  <a:t>的倍数车站停车。对于</a:t>
                </a:r>
                <a14:m>
                  <m:oMath xmlns:m="http://schemas.openxmlformats.org/officeDocument/2006/math">
                    <m:r>
                      <a:rPr lang="en-US" altLang="zh-CN" i="1" dirty="0" smtClean="0">
                        <a:latin typeface="Cambria Math" panose="02040503050406030204" pitchFamily="18" charset="0"/>
                      </a:rPr>
                      <m:t>𝑑</m:t>
                    </m:r>
                  </m:oMath>
                </a14:m>
                <a:r>
                  <a:rPr lang="zh-CN" altLang="en-US" dirty="0"/>
                  <a:t>从</a:t>
                </a:r>
                <a14:m>
                  <m:oMath xmlns:m="http://schemas.openxmlformats.org/officeDocument/2006/math">
                    <m:r>
                      <a:rPr lang="en-US" altLang="zh-CN" i="1" dirty="0" smtClean="0">
                        <a:latin typeface="Cambria Math" panose="02040503050406030204" pitchFamily="18" charset="0"/>
                      </a:rPr>
                      <m:t>1</m:t>
                    </m:r>
                  </m:oMath>
                </a14:m>
                <a:r>
                  <a:rPr lang="zh-CN" altLang="en-US" dirty="0"/>
                  <a:t>到</a:t>
                </a:r>
                <a14:m>
                  <m:oMath xmlns:m="http://schemas.openxmlformats.org/officeDocument/2006/math">
                    <m:r>
                      <a:rPr lang="en-US" altLang="zh-CN" i="1" dirty="0" smtClean="0">
                        <a:latin typeface="Cambria Math" panose="02040503050406030204" pitchFamily="18" charset="0"/>
                      </a:rPr>
                      <m:t>𝑚</m:t>
                    </m:r>
                  </m:oMath>
                </a14:m>
                <a:r>
                  <a:rPr lang="zh-CN" altLang="en-US" dirty="0"/>
                  <a:t>的列车，求最多能买到多少种商品。</a:t>
                </a:r>
                <a:endParaRPr lang="en-US" altLang="zh-CN" dirty="0"/>
              </a:p>
              <a:p>
                <a:endParaRPr lang="en-US" altLang="zh-CN" dirty="0"/>
              </a:p>
              <a:p>
                <a:r>
                  <a:rPr lang="zh-CN" altLang="en-US" dirty="0"/>
                  <a:t>首先对于每个</a:t>
                </a:r>
                <a14:m>
                  <m:oMath xmlns:m="http://schemas.openxmlformats.org/officeDocument/2006/math">
                    <m:r>
                      <m:rPr>
                        <m:sty m:val="p"/>
                      </m:rPr>
                      <a:rPr lang="en-US" altLang="zh-CN" i="1" dirty="0">
                        <a:latin typeface="Cambria Math" panose="02040503050406030204" pitchFamily="18" charset="0"/>
                      </a:rPr>
                      <m:t>d</m:t>
                    </m:r>
                  </m:oMath>
                </a14:m>
                <a:r>
                  <a:rPr lang="zh-CN" altLang="en-US" dirty="0"/>
                  <a:t>，如果一个商品的区间长度</a:t>
                </a:r>
                <a14:m>
                  <m:oMath xmlns:m="http://schemas.openxmlformats.org/officeDocument/2006/math">
                    <m:r>
                      <a:rPr lang="en-US" altLang="zh-CN" b="0" i="1" smtClean="0">
                        <a:latin typeface="Cambria Math" panose="02040503050406030204" pitchFamily="18" charset="0"/>
                        <a:ea typeface="Cambria Math" panose="02040503050406030204" pitchFamily="18" charset="0"/>
                      </a:rPr>
                      <m:t>&gt;</m:t>
                    </m:r>
                    <m:r>
                      <a:rPr lang="en-US" altLang="zh-CN" b="0" i="1" smtClean="0">
                        <a:latin typeface="Cambria Math" panose="02040503050406030204" pitchFamily="18" charset="0"/>
                      </a:rPr>
                      <m:t>𝑑</m:t>
                    </m:r>
                  </m:oMath>
                </a14:m>
                <a:r>
                  <a:rPr lang="zh-CN" altLang="en-US" dirty="0"/>
                  <a:t>，那么它会横跨</a:t>
                </a:r>
                <a14:m>
                  <m:oMath xmlns:m="http://schemas.openxmlformats.org/officeDocument/2006/math">
                    <m:r>
                      <a:rPr lang="en-US" altLang="zh-CN" b="0" i="1" smtClean="0">
                        <a:latin typeface="Cambria Math" panose="02040503050406030204" pitchFamily="18" charset="0"/>
                      </a:rPr>
                      <m:t>𝑑</m:t>
                    </m:r>
                  </m:oMath>
                </a14:m>
                <a:r>
                  <a:rPr lang="zh-CN" altLang="en-US" dirty="0"/>
                  <a:t>的购买点，故一定能被买。否则，它最多只会在一个购买点出现，所以我们只要统计在购买点出现的商品数就好了。</a:t>
                </a:r>
                <a:endParaRPr lang="en-US" altLang="zh-CN" dirty="0"/>
              </a:p>
              <a:p>
                <a:r>
                  <a:rPr lang="zh-CN" altLang="en-US" dirty="0"/>
                  <a:t>所以我们将商品按照区间长度排序。将</a:t>
                </a:r>
                <a14:m>
                  <m:oMath xmlns:m="http://schemas.openxmlformats.org/officeDocument/2006/math">
                    <m:r>
                      <a:rPr lang="en-US" altLang="zh-CN" b="0" i="1" smtClean="0">
                        <a:latin typeface="Cambria Math" panose="02040503050406030204" pitchFamily="18" charset="0"/>
                      </a:rPr>
                      <m:t>𝑟𝑖</m:t>
                    </m:r>
                    <m:r>
                      <a:rPr lang="en-US" altLang="zh-CN" b="0" i="1" smtClean="0">
                        <a:latin typeface="Cambria Math" panose="02040503050406030204" pitchFamily="18" charset="0"/>
                      </a:rPr>
                      <m:t>−</m:t>
                    </m:r>
                    <m:r>
                      <a:rPr lang="en-US" altLang="zh-CN" b="0" i="1" smtClean="0">
                        <a:latin typeface="Cambria Math" panose="02040503050406030204" pitchFamily="18" charset="0"/>
                      </a:rPr>
                      <m:t>𝑙𝑖</m:t>
                    </m:r>
                    <m:r>
                      <a:rPr lang="en-US" altLang="zh-CN" b="0" i="1" smtClean="0">
                        <a:latin typeface="Cambria Math" panose="02040503050406030204" pitchFamily="18" charset="0"/>
                      </a:rPr>
                      <m:t>≥</m:t>
                    </m:r>
                    <m:r>
                      <a:rPr lang="en-US" altLang="zh-CN" b="0" i="1" smtClean="0">
                        <a:latin typeface="Cambria Math" panose="02040503050406030204" pitchFamily="18" charset="0"/>
                      </a:rPr>
                      <m:t>𝑑</m:t>
                    </m:r>
                    <m:r>
                      <a:rPr lang="zh-CN" altLang="en-US" i="1">
                        <a:latin typeface="Cambria Math" panose="02040503050406030204" pitchFamily="18" charset="0"/>
                      </a:rPr>
                      <m:t>的</m:t>
                    </m:r>
                  </m:oMath>
                </a14:m>
                <a:r>
                  <a:rPr lang="zh-CN" altLang="en-US" dirty="0"/>
                  <a:t>商品直接加上，将</a:t>
                </a:r>
                <a14:m>
                  <m:oMath xmlns:m="http://schemas.openxmlformats.org/officeDocument/2006/math">
                    <m:r>
                      <a:rPr lang="en-US" altLang="zh-CN" b="0" i="1" smtClean="0">
                        <a:latin typeface="Cambria Math" panose="02040503050406030204" pitchFamily="18" charset="0"/>
                      </a:rPr>
                      <m:t>𝑟𝑖</m:t>
                    </m:r>
                    <m:r>
                      <a:rPr lang="en-US" altLang="zh-CN" b="0" i="1" smtClean="0">
                        <a:latin typeface="Cambria Math" panose="02040503050406030204" pitchFamily="18" charset="0"/>
                      </a:rPr>
                      <m:t>−</m:t>
                    </m:r>
                    <m:r>
                      <a:rPr lang="en-US" altLang="zh-CN" b="0" i="1" smtClean="0">
                        <a:latin typeface="Cambria Math" panose="02040503050406030204" pitchFamily="18" charset="0"/>
                      </a:rPr>
                      <m:t>𝑙𝑖</m:t>
                    </m:r>
                    <m:r>
                      <a:rPr lang="en-US" altLang="zh-CN" b="0" i="1" smtClean="0">
                        <a:latin typeface="Cambria Math" panose="02040503050406030204" pitchFamily="18" charset="0"/>
                      </a:rPr>
                      <m:t>&lt;</m:t>
                    </m:r>
                    <m:r>
                      <a:rPr lang="en-US" altLang="zh-CN" b="0" i="1" smtClean="0">
                        <a:latin typeface="Cambria Math" panose="02040503050406030204" pitchFamily="18" charset="0"/>
                      </a:rPr>
                      <m:t>𝑑</m:t>
                    </m:r>
                  </m:oMath>
                </a14:m>
                <a:r>
                  <a:rPr lang="zh-CN" altLang="en-US" dirty="0"/>
                  <a:t>的商品加入树状数组中，然后枚举</a:t>
                </a:r>
                <a14:m>
                  <m:oMath xmlns:m="http://schemas.openxmlformats.org/officeDocument/2006/math">
                    <m:r>
                      <a:rPr lang="en-US" altLang="zh-CN" b="0" i="1" smtClean="0">
                        <a:latin typeface="Cambria Math" panose="02040503050406030204" pitchFamily="18" charset="0"/>
                      </a:rPr>
                      <m:t>𝑑</m:t>
                    </m:r>
                  </m:oMath>
                </a14:m>
                <a:r>
                  <a:rPr lang="zh-CN" altLang="en-US" dirty="0"/>
                  <a:t>的倍数直接统计即可。</a:t>
                </a:r>
              </a:p>
            </p:txBody>
          </p:sp>
        </mc:Choice>
        <mc:Fallback xmlns="">
          <p:sp>
            <p:nvSpPr>
              <p:cNvPr id="3" name="内容占位符 2">
                <a:extLst>
                  <a:ext uri="{FF2B5EF4-FFF2-40B4-BE49-F238E27FC236}">
                    <a16:creationId xmlns:a16="http://schemas.microsoft.com/office/drawing/2014/main" id="{E07A402B-37BF-4EA8-977F-1C9F59829288}"/>
                  </a:ext>
                </a:extLst>
              </p:cNvPr>
              <p:cNvSpPr>
                <a:spLocks noGrp="1" noRot="1" noChangeAspect="1" noMove="1" noResize="1" noEditPoints="1" noAdjustHandles="1" noChangeArrowheads="1" noChangeShapeType="1" noTextEdit="1"/>
              </p:cNvSpPr>
              <p:nvPr>
                <p:ph idx="1"/>
              </p:nvPr>
            </p:nvSpPr>
            <p:spPr>
              <a:blipFill>
                <a:blip r:embed="rId2"/>
                <a:stretch>
                  <a:fillRect l="-341" t="-1163" r="-40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01342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CD0185B2-34CC-4F5E-B704-56AA8A41123E}"/>
              </a:ext>
            </a:extLst>
          </p:cNvPr>
          <p:cNvSpPr>
            <a:spLocks noGrp="1"/>
          </p:cNvSpPr>
          <p:nvPr>
            <p:ph type="title"/>
          </p:nvPr>
        </p:nvSpPr>
        <p:spPr/>
        <p:txBody>
          <a:bodyPr/>
          <a:lstStyle/>
          <a:p>
            <a:r>
              <a:rPr lang="zh-CN" altLang="en-US" dirty="0"/>
              <a:t>codeforces 283E Cow Tennis Tournament</a:t>
            </a:r>
          </a:p>
        </p:txBody>
      </p:sp>
      <p:sp>
        <p:nvSpPr>
          <p:cNvPr id="3" name="内容占位符 2">
            <a:extLst>
              <a:ext uri="{FF2B5EF4-FFF2-40B4-BE49-F238E27FC236}">
                <a16:creationId xmlns:a16="http://schemas.microsoft.com/office/drawing/2014/main" xmlns="" id="{01FE7023-6501-4F2E-9FBF-2FFC17EBFB04}"/>
              </a:ext>
            </a:extLst>
          </p:cNvPr>
          <p:cNvSpPr>
            <a:spLocks noGrp="1"/>
          </p:cNvSpPr>
          <p:nvPr>
            <p:ph idx="1"/>
          </p:nvPr>
        </p:nvSpPr>
        <p:spPr/>
        <p:txBody>
          <a:bodyPr>
            <a:normAutofit lnSpcReduction="10000"/>
          </a:bodyPr>
          <a:lstStyle/>
          <a:p>
            <a:r>
              <a:rPr lang="en-US" altLang="zh-CN" dirty="0"/>
              <a:t>n</a:t>
            </a:r>
            <a:r>
              <a:rPr lang="zh-CN" altLang="en-US" dirty="0"/>
              <a:t>头奶牛，每个奶牛有互不相同的武力值</a:t>
            </a:r>
            <a:r>
              <a:rPr lang="en-US" altLang="zh-CN" dirty="0"/>
              <a:t>ai</a:t>
            </a:r>
            <a:r>
              <a:rPr lang="zh-CN" altLang="en-US" dirty="0"/>
              <a:t>，两两有比赛，胜负取决于武力值高低。有</a:t>
            </a:r>
            <a:r>
              <a:rPr lang="en-US" altLang="zh-CN" dirty="0"/>
              <a:t>m</a:t>
            </a:r>
            <a:r>
              <a:rPr lang="zh-CN" altLang="en-US" dirty="0"/>
              <a:t>个操作，每个操作为将一段武力值区间里的胜负关系取反。求</a:t>
            </a:r>
            <a:r>
              <a:rPr lang="en-US" altLang="zh-CN" dirty="0"/>
              <a:t>m</a:t>
            </a:r>
            <a:r>
              <a:rPr lang="zh-CN" altLang="en-US" dirty="0"/>
              <a:t>次操作后的三元环个数。</a:t>
            </a:r>
          </a:p>
          <a:p>
            <a:r>
              <a:rPr lang="zh-CN" altLang="en-US" dirty="0"/>
              <a:t>考虑用总方案减去不合法方案，总方案是</a:t>
            </a:r>
            <a:r>
              <a:rPr lang="en-US" altLang="zh-CN" dirty="0"/>
              <a:t>C(n,3)</a:t>
            </a:r>
            <a:r>
              <a:rPr lang="zh-CN" altLang="en-US" dirty="0"/>
              <a:t>。</a:t>
            </a:r>
          </a:p>
          <a:p>
            <a:r>
              <a:rPr lang="zh-CN" altLang="en-US" dirty="0"/>
              <a:t>不合法方案，即没有形成环的方案，显然是有一个人战胜了另外两个人。</a:t>
            </a:r>
          </a:p>
          <a:p>
            <a:r>
              <a:rPr lang="zh-CN" altLang="en-US" dirty="0"/>
              <a:t>我们先把所有人按照能力从小到大排序，然后离散化所有区间。</a:t>
            </a:r>
          </a:p>
          <a:p>
            <a:r>
              <a:rPr lang="zh-CN" altLang="en-US" dirty="0"/>
              <a:t>我们枚举</a:t>
            </a:r>
            <a:r>
              <a:rPr lang="en-US" altLang="zh-CN" dirty="0" err="1"/>
              <a:t>i</a:t>
            </a:r>
            <a:r>
              <a:rPr lang="zh-CN" altLang="en-US" dirty="0"/>
              <a:t>，考虑他战胜另外两个人的方案。枚举</a:t>
            </a:r>
            <a:r>
              <a:rPr lang="en-US" altLang="zh-CN" dirty="0" err="1"/>
              <a:t>i</a:t>
            </a:r>
            <a:r>
              <a:rPr lang="zh-CN" altLang="en-US" dirty="0"/>
              <a:t>时，把覆盖</a:t>
            </a:r>
            <a:r>
              <a:rPr lang="en-US" altLang="zh-CN" dirty="0" err="1"/>
              <a:t>i</a:t>
            </a:r>
            <a:r>
              <a:rPr lang="zh-CN" altLang="en-US" dirty="0"/>
              <a:t>的区间全部取反，这个可以用扫描线</a:t>
            </a:r>
            <a:r>
              <a:rPr lang="en-US" altLang="zh-CN" dirty="0"/>
              <a:t>+</a:t>
            </a:r>
            <a:r>
              <a:rPr lang="zh-CN" altLang="en-US" dirty="0"/>
              <a:t>线段树实现。</a:t>
            </a:r>
          </a:p>
          <a:p>
            <a:r>
              <a:rPr lang="zh-CN" altLang="en-US" dirty="0"/>
              <a:t>然后我们就知道哪些点的状态发生了变化，</a:t>
            </a:r>
            <a:r>
              <a:rPr lang="en-US" altLang="zh-CN" dirty="0" err="1"/>
              <a:t>i</a:t>
            </a:r>
            <a:r>
              <a:rPr lang="zh-CN" altLang="en-US" dirty="0"/>
              <a:t>左边被</a:t>
            </a:r>
            <a:r>
              <a:rPr lang="en-US" altLang="zh-CN" dirty="0" err="1"/>
              <a:t>i</a:t>
            </a:r>
            <a:r>
              <a:rPr lang="zh-CN" altLang="en-US" dirty="0"/>
              <a:t>打败的就是没有变化的点的数量，</a:t>
            </a:r>
            <a:r>
              <a:rPr lang="en-US" altLang="zh-CN" dirty="0" err="1"/>
              <a:t>i</a:t>
            </a:r>
            <a:r>
              <a:rPr lang="zh-CN" altLang="en-US" dirty="0"/>
              <a:t>右边被</a:t>
            </a:r>
            <a:r>
              <a:rPr lang="en-US" altLang="zh-CN" dirty="0" err="1"/>
              <a:t>i</a:t>
            </a:r>
            <a:r>
              <a:rPr lang="zh-CN" altLang="en-US" dirty="0"/>
              <a:t>打败的就是变化的点的数量。</a:t>
            </a:r>
          </a:p>
          <a:p>
            <a:r>
              <a:rPr lang="zh-CN" altLang="en-US" dirty="0"/>
              <a:t>然后</a:t>
            </a:r>
            <a:r>
              <a:rPr lang="en-US" altLang="zh-CN" dirty="0" err="1"/>
              <a:t>i</a:t>
            </a:r>
            <a:r>
              <a:rPr lang="zh-CN" altLang="en-US" dirty="0"/>
              <a:t>打败的两个人可以是左边两个，右边两个和左右各一个。</a:t>
            </a:r>
          </a:p>
        </p:txBody>
      </p:sp>
    </p:spTree>
    <p:extLst>
      <p:ext uri="{BB962C8B-B14F-4D97-AF65-F5344CB8AC3E}">
        <p14:creationId xmlns:p14="http://schemas.microsoft.com/office/powerpoint/2010/main" val="3023035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525F5812-88D5-4FF9-B58B-D4F499957377}"/>
              </a:ext>
            </a:extLst>
          </p:cNvPr>
          <p:cNvSpPr>
            <a:spLocks noGrp="1"/>
          </p:cNvSpPr>
          <p:nvPr>
            <p:ph type="title"/>
          </p:nvPr>
        </p:nvSpPr>
        <p:spPr/>
        <p:txBody>
          <a:bodyPr/>
          <a:lstStyle/>
          <a:p>
            <a:r>
              <a:rPr lang="en-US" altLang="zh-CN" dirty="0"/>
              <a:t>[Tjoi2016&amp;Heoi2016]</a:t>
            </a:r>
            <a:r>
              <a:rPr lang="zh-CN" altLang="en-US" dirty="0"/>
              <a:t>排序</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xmlns="" id="{D35EA8FC-2FC0-468A-ACE4-386F8BAAF440}"/>
                  </a:ext>
                </a:extLst>
              </p:cNvPr>
              <p:cNvSpPr>
                <a:spLocks noGrp="1"/>
              </p:cNvSpPr>
              <p:nvPr>
                <p:ph idx="1"/>
              </p:nvPr>
            </p:nvSpPr>
            <p:spPr/>
            <p:txBody>
              <a:bodyPr/>
              <a:lstStyle/>
              <a:p>
                <a:r>
                  <a:rPr lang="zh-CN" altLang="en-US" dirty="0"/>
                  <a:t>给出一个</a:t>
                </a:r>
                <a14:m>
                  <m:oMath xmlns:m="http://schemas.openxmlformats.org/officeDocument/2006/math">
                    <m:r>
                      <a:rPr lang="en-US" altLang="zh-CN" i="1" dirty="0" smtClean="0">
                        <a:latin typeface="Cambria Math" panose="02040503050406030204" pitchFamily="18" charset="0"/>
                      </a:rPr>
                      <m:t>1</m:t>
                    </m:r>
                  </m:oMath>
                </a14:m>
                <a:r>
                  <a:rPr lang="zh-CN" altLang="en-US" dirty="0"/>
                  <a:t>到</a:t>
                </a:r>
                <a14:m>
                  <m:oMath xmlns:m="http://schemas.openxmlformats.org/officeDocument/2006/math">
                    <m:r>
                      <a:rPr lang="en-US" altLang="zh-CN" i="1" dirty="0" smtClean="0">
                        <a:latin typeface="Cambria Math" panose="02040503050406030204" pitchFamily="18" charset="0"/>
                      </a:rPr>
                      <m:t>𝑛</m:t>
                    </m:r>
                  </m:oMath>
                </a14:m>
                <a:r>
                  <a:rPr lang="zh-CN" altLang="en-US" dirty="0"/>
                  <a:t>的全排列，现在对这个全排列序列进行</a:t>
                </a:r>
                <a14:m>
                  <m:oMath xmlns:m="http://schemas.openxmlformats.org/officeDocument/2006/math">
                    <m:r>
                      <a:rPr lang="en-US" altLang="zh-CN" i="1" dirty="0" smtClean="0">
                        <a:latin typeface="Cambria Math" panose="02040503050406030204" pitchFamily="18" charset="0"/>
                      </a:rPr>
                      <m:t>𝑚</m:t>
                    </m:r>
                  </m:oMath>
                </a14:m>
                <a:r>
                  <a:rPr lang="zh-CN" altLang="en-US" dirty="0"/>
                  <a:t>次局部排序，排序分为两种：</a:t>
                </a:r>
                <a:r>
                  <a:rPr lang="en-US" altLang="zh-CN" dirty="0"/>
                  <a:t>1</a:t>
                </a:r>
                <a:r>
                  <a:rPr lang="zh-CN" altLang="en-US" dirty="0"/>
                  <a:t>：</a:t>
                </a:r>
                <a14:m>
                  <m:oMath xmlns:m="http://schemas.openxmlformats.org/officeDocument/2006/math">
                    <m:r>
                      <a:rPr lang="en-US" altLang="zh-CN" i="1" dirty="0" smtClean="0">
                        <a:latin typeface="Cambria Math" panose="02040503050406030204" pitchFamily="18" charset="0"/>
                      </a:rPr>
                      <m:t>(0</m:t>
                    </m:r>
                    <m:r>
                      <a:rPr lang="en-US" altLang="zh-CN" i="1" dirty="0">
                        <a:latin typeface="Cambria Math" panose="02040503050406030204" pitchFamily="18" charset="0"/>
                      </a:rPr>
                      <m:t>,</m:t>
                    </m:r>
                    <m:r>
                      <a:rPr lang="en-US" altLang="zh-CN" i="1" dirty="0">
                        <a:latin typeface="Cambria Math" panose="02040503050406030204" pitchFamily="18" charset="0"/>
                      </a:rPr>
                      <m:t>𝑙</m:t>
                    </m:r>
                    <m:r>
                      <a:rPr lang="en-US" altLang="zh-CN" i="1" dirty="0">
                        <a:latin typeface="Cambria Math" panose="02040503050406030204" pitchFamily="18" charset="0"/>
                      </a:rPr>
                      <m:t>,</m:t>
                    </m:r>
                    <m:r>
                      <a:rPr lang="en-US" altLang="zh-CN" i="1" dirty="0">
                        <a:latin typeface="Cambria Math" panose="02040503050406030204" pitchFamily="18" charset="0"/>
                      </a:rPr>
                      <m:t>𝑟</m:t>
                    </m:r>
                    <m:r>
                      <a:rPr lang="en-US" altLang="zh-CN" i="1" dirty="0">
                        <a:latin typeface="Cambria Math" panose="02040503050406030204" pitchFamily="18" charset="0"/>
                      </a:rPr>
                      <m:t>)</m:t>
                    </m:r>
                  </m:oMath>
                </a14:m>
                <a:r>
                  <a:rPr lang="zh-CN" altLang="en-US" dirty="0"/>
                  <a:t>表示将区间</a:t>
                </a:r>
                <a14:m>
                  <m:oMath xmlns:m="http://schemas.openxmlformats.org/officeDocument/2006/math">
                    <m:r>
                      <a:rPr lang="en-US" altLang="zh-CN" i="1" dirty="0" smtClean="0">
                        <a:latin typeface="Cambria Math" panose="02040503050406030204" pitchFamily="18" charset="0"/>
                      </a:rPr>
                      <m:t>[</m:t>
                    </m:r>
                    <m:r>
                      <a:rPr lang="en-US" altLang="zh-CN" i="1" dirty="0" err="1">
                        <a:latin typeface="Cambria Math" panose="02040503050406030204" pitchFamily="18" charset="0"/>
                      </a:rPr>
                      <m:t>𝑙</m:t>
                    </m:r>
                    <m:r>
                      <a:rPr lang="en-US" altLang="zh-CN" i="1" dirty="0" err="1">
                        <a:latin typeface="Cambria Math" panose="02040503050406030204" pitchFamily="18" charset="0"/>
                      </a:rPr>
                      <m:t>,</m:t>
                    </m:r>
                    <m:r>
                      <a:rPr lang="en-US" altLang="zh-CN" i="1" dirty="0" err="1">
                        <a:latin typeface="Cambria Math" panose="02040503050406030204" pitchFamily="18" charset="0"/>
                      </a:rPr>
                      <m:t>𝑟</m:t>
                    </m:r>
                    <m:r>
                      <a:rPr lang="en-US" altLang="zh-CN" i="1" dirty="0">
                        <a:latin typeface="Cambria Math" panose="02040503050406030204" pitchFamily="18" charset="0"/>
                      </a:rPr>
                      <m:t>]</m:t>
                    </m:r>
                  </m:oMath>
                </a14:m>
                <a:r>
                  <a:rPr lang="zh-CN" altLang="en-US" dirty="0"/>
                  <a:t>的数字升序排序。</a:t>
                </a:r>
                <a:r>
                  <a:rPr lang="en-US" altLang="zh-CN" dirty="0"/>
                  <a:t>2</a:t>
                </a:r>
                <a:r>
                  <a:rPr lang="zh-CN" altLang="en-US" dirty="0"/>
                  <a:t>：</a:t>
                </a:r>
                <a14:m>
                  <m:oMath xmlns:m="http://schemas.openxmlformats.org/officeDocument/2006/math">
                    <m:r>
                      <a:rPr lang="en-US" altLang="zh-CN" i="1" dirty="0" smtClean="0">
                        <a:latin typeface="Cambria Math" panose="02040503050406030204" pitchFamily="18" charset="0"/>
                      </a:rPr>
                      <m:t>(1</m:t>
                    </m:r>
                    <m:r>
                      <a:rPr lang="en-US" altLang="zh-CN" i="1" dirty="0">
                        <a:latin typeface="Cambria Math" panose="02040503050406030204" pitchFamily="18" charset="0"/>
                      </a:rPr>
                      <m:t>,</m:t>
                    </m:r>
                    <m:r>
                      <a:rPr lang="en-US" altLang="zh-CN" i="1" dirty="0">
                        <a:latin typeface="Cambria Math" panose="02040503050406030204" pitchFamily="18" charset="0"/>
                      </a:rPr>
                      <m:t>𝑙</m:t>
                    </m:r>
                    <m:r>
                      <a:rPr lang="en-US" altLang="zh-CN" i="1" dirty="0">
                        <a:latin typeface="Cambria Math" panose="02040503050406030204" pitchFamily="18" charset="0"/>
                      </a:rPr>
                      <m:t>,</m:t>
                    </m:r>
                    <m:r>
                      <a:rPr lang="en-US" altLang="zh-CN" i="1" dirty="0">
                        <a:latin typeface="Cambria Math" panose="02040503050406030204" pitchFamily="18" charset="0"/>
                      </a:rPr>
                      <m:t>𝑟</m:t>
                    </m:r>
                    <m:r>
                      <a:rPr lang="en-US" altLang="zh-CN" i="1" dirty="0">
                        <a:latin typeface="Cambria Math" panose="02040503050406030204" pitchFamily="18" charset="0"/>
                      </a:rPr>
                      <m:t>)</m:t>
                    </m:r>
                  </m:oMath>
                </a14:m>
                <a:r>
                  <a:rPr lang="zh-CN" altLang="en-US" dirty="0"/>
                  <a:t>表示将区间</a:t>
                </a:r>
                <a14:m>
                  <m:oMath xmlns:m="http://schemas.openxmlformats.org/officeDocument/2006/math">
                    <m:r>
                      <a:rPr lang="en-US" altLang="zh-CN" i="1" dirty="0" smtClean="0">
                        <a:latin typeface="Cambria Math" panose="02040503050406030204" pitchFamily="18" charset="0"/>
                      </a:rPr>
                      <m:t>[</m:t>
                    </m:r>
                    <m:r>
                      <a:rPr lang="en-US" altLang="zh-CN" i="1" dirty="0" err="1">
                        <a:latin typeface="Cambria Math" panose="02040503050406030204" pitchFamily="18" charset="0"/>
                      </a:rPr>
                      <m:t>𝑙</m:t>
                    </m:r>
                    <m:r>
                      <a:rPr lang="en-US" altLang="zh-CN" i="1" dirty="0" err="1">
                        <a:latin typeface="Cambria Math" panose="02040503050406030204" pitchFamily="18" charset="0"/>
                      </a:rPr>
                      <m:t>,</m:t>
                    </m:r>
                    <m:r>
                      <a:rPr lang="en-US" altLang="zh-CN" i="1" dirty="0" err="1">
                        <a:latin typeface="Cambria Math" panose="02040503050406030204" pitchFamily="18" charset="0"/>
                      </a:rPr>
                      <m:t>𝑟</m:t>
                    </m:r>
                    <m:r>
                      <a:rPr lang="en-US" altLang="zh-CN" i="1" dirty="0">
                        <a:latin typeface="Cambria Math" panose="02040503050406030204" pitchFamily="18" charset="0"/>
                      </a:rPr>
                      <m:t>]</m:t>
                    </m:r>
                  </m:oMath>
                </a14:m>
                <a:r>
                  <a:rPr lang="zh-CN" altLang="en-US" dirty="0"/>
                  <a:t>的数字降序排序。最后询问第</a:t>
                </a:r>
                <a14:m>
                  <m:oMath xmlns:m="http://schemas.openxmlformats.org/officeDocument/2006/math">
                    <m:r>
                      <a:rPr lang="en-US" altLang="zh-CN" i="1" dirty="0" smtClean="0">
                        <a:latin typeface="Cambria Math" panose="02040503050406030204" pitchFamily="18" charset="0"/>
                      </a:rPr>
                      <m:t>𝑞</m:t>
                    </m:r>
                  </m:oMath>
                </a14:m>
                <a:r>
                  <a:rPr lang="zh-CN" altLang="en-US" dirty="0"/>
                  <a:t>位置上的数字。</a:t>
                </a:r>
                <a:endParaRPr lang="en-US" altLang="zh-CN" dirty="0"/>
              </a:p>
              <a:p>
                <a:endParaRPr lang="en-US" altLang="zh-CN" dirty="0"/>
              </a:p>
              <a:p>
                <a:r>
                  <a:rPr lang="zh-CN" altLang="en-US" dirty="0"/>
                  <a:t>考虑二分答案，二分出一个</a:t>
                </a:r>
                <a14:m>
                  <m:oMath xmlns:m="http://schemas.openxmlformats.org/officeDocument/2006/math">
                    <m:r>
                      <a:rPr lang="en-US" altLang="zh-CN" b="0" i="1" smtClean="0">
                        <a:latin typeface="Cambria Math" panose="02040503050406030204" pitchFamily="18" charset="0"/>
                      </a:rPr>
                      <m:t>𝑚𝑖𝑑</m:t>
                    </m:r>
                  </m:oMath>
                </a14:m>
                <a:r>
                  <a:rPr lang="zh-CN" altLang="en-US" dirty="0"/>
                  <a:t>的时候，把小于</a:t>
                </a:r>
                <a14:m>
                  <m:oMath xmlns:m="http://schemas.openxmlformats.org/officeDocument/2006/math">
                    <m:r>
                      <a:rPr lang="en-US" altLang="zh-CN" b="0" i="1" smtClean="0">
                        <a:latin typeface="Cambria Math" panose="02040503050406030204" pitchFamily="18" charset="0"/>
                      </a:rPr>
                      <m:t>𝑚𝑖𝑑</m:t>
                    </m:r>
                  </m:oMath>
                </a14:m>
                <a:r>
                  <a:rPr lang="zh-CN" altLang="en-US" dirty="0"/>
                  <a:t>的数记为</a:t>
                </a:r>
                <a14:m>
                  <m:oMath xmlns:m="http://schemas.openxmlformats.org/officeDocument/2006/math">
                    <m:r>
                      <a:rPr lang="en-US" altLang="zh-CN" i="1" dirty="0" smtClean="0">
                        <a:latin typeface="Cambria Math" panose="02040503050406030204" pitchFamily="18" charset="0"/>
                      </a:rPr>
                      <m:t>0</m:t>
                    </m:r>
                    <m:r>
                      <a:rPr lang="zh-CN" altLang="en-US" i="1" dirty="0">
                        <a:latin typeface="Cambria Math" panose="02040503050406030204" pitchFamily="18" charset="0"/>
                      </a:rPr>
                      <m:t>，</m:t>
                    </m:r>
                  </m:oMath>
                </a14:m>
                <a:r>
                  <a:rPr lang="zh-CN" altLang="en-US" dirty="0"/>
                  <a:t>大于等于</a:t>
                </a:r>
                <a14:m>
                  <m:oMath xmlns:m="http://schemas.openxmlformats.org/officeDocument/2006/math">
                    <m:r>
                      <m:rPr>
                        <m:sty m:val="p"/>
                      </m:rPr>
                      <a:rPr lang="en-US" altLang="zh-CN" i="1" dirty="0">
                        <a:latin typeface="Cambria Math" panose="02040503050406030204" pitchFamily="18" charset="0"/>
                      </a:rPr>
                      <m:t>mid</m:t>
                    </m:r>
                  </m:oMath>
                </a14:m>
                <a:r>
                  <a:rPr lang="zh-CN" altLang="en-US" dirty="0"/>
                  <a:t>的数记为</a:t>
                </a:r>
                <a:r>
                  <a:rPr lang="en-US" altLang="zh-CN" dirty="0"/>
                  <a:t>1</a:t>
                </a:r>
                <a:r>
                  <a:rPr lang="zh-CN" altLang="en-US" dirty="0"/>
                  <a:t>。局部排序对应着线段树的区间修改。最后查询</a:t>
                </a:r>
                <a14:m>
                  <m:oMath xmlns:m="http://schemas.openxmlformats.org/officeDocument/2006/math">
                    <m:r>
                      <m:rPr>
                        <m:sty m:val="p"/>
                      </m:rPr>
                      <a:rPr lang="en-US" altLang="zh-CN" i="1" dirty="0">
                        <a:latin typeface="Cambria Math" panose="02040503050406030204" pitchFamily="18" charset="0"/>
                      </a:rPr>
                      <m:t>q</m:t>
                    </m:r>
                  </m:oMath>
                </a14:m>
                <a:r>
                  <a:rPr lang="zh-CN" altLang="en-US" dirty="0"/>
                  <a:t>位置上的数是多少，如果是</a:t>
                </a:r>
                <a14:m>
                  <m:oMath xmlns:m="http://schemas.openxmlformats.org/officeDocument/2006/math">
                    <m:r>
                      <a:rPr lang="en-US" altLang="zh-CN" b="0" i="1" smtClean="0">
                        <a:latin typeface="Cambria Math" panose="02040503050406030204" pitchFamily="18" charset="0"/>
                      </a:rPr>
                      <m:t>0</m:t>
                    </m:r>
                  </m:oMath>
                </a14:m>
                <a:r>
                  <a:rPr lang="zh-CN" altLang="en-US" dirty="0"/>
                  <a:t>说明答案比</a:t>
                </a:r>
                <a14:m>
                  <m:oMath xmlns:m="http://schemas.openxmlformats.org/officeDocument/2006/math">
                    <m:r>
                      <a:rPr lang="en-US" altLang="zh-CN" b="0" i="1" smtClean="0">
                        <a:latin typeface="Cambria Math" panose="02040503050406030204" pitchFamily="18" charset="0"/>
                      </a:rPr>
                      <m:t>𝑚𝑖𝑑</m:t>
                    </m:r>
                  </m:oMath>
                </a14:m>
                <a:r>
                  <a:rPr lang="zh-CN" altLang="en-US" dirty="0"/>
                  <a:t>小，否则比</a:t>
                </a:r>
                <a14:m>
                  <m:oMath xmlns:m="http://schemas.openxmlformats.org/officeDocument/2006/math">
                    <m:r>
                      <a:rPr lang="en-US" altLang="zh-CN" b="0" i="1" smtClean="0">
                        <a:latin typeface="Cambria Math" panose="02040503050406030204" pitchFamily="18" charset="0"/>
                      </a:rPr>
                      <m:t>𝑚𝑖𝑑</m:t>
                    </m:r>
                  </m:oMath>
                </a14:m>
                <a:r>
                  <a:rPr lang="zh-CN" altLang="en-US" dirty="0"/>
                  <a:t>大。</a:t>
                </a:r>
                <a:endParaRPr lang="en-US" altLang="zh-CN" dirty="0"/>
              </a:p>
            </p:txBody>
          </p:sp>
        </mc:Choice>
        <mc:Fallback xmlns="">
          <p:sp>
            <p:nvSpPr>
              <p:cNvPr id="3" name="内容占位符 2">
                <a:extLst>
                  <a:ext uri="{FF2B5EF4-FFF2-40B4-BE49-F238E27FC236}">
                    <a16:creationId xmlns:a16="http://schemas.microsoft.com/office/drawing/2014/main" id="{D35EA8FC-2FC0-468A-ACE4-386F8BAAF440}"/>
                  </a:ext>
                </a:extLst>
              </p:cNvPr>
              <p:cNvSpPr>
                <a:spLocks noGrp="1" noRot="1" noChangeAspect="1" noMove="1" noResize="1" noEditPoints="1" noAdjustHandles="1" noChangeArrowheads="1" noChangeShapeType="1" noTextEdit="1"/>
              </p:cNvSpPr>
              <p:nvPr>
                <p:ph idx="1"/>
              </p:nvPr>
            </p:nvSpPr>
            <p:spPr>
              <a:blipFill>
                <a:blip r:embed="rId2"/>
                <a:stretch>
                  <a:fillRect l="-341" t="-1163" r="-47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33196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826A8406-0B15-4818-8D45-934C14927FCE}"/>
              </a:ext>
            </a:extLst>
          </p:cNvPr>
          <p:cNvSpPr>
            <a:spLocks noGrp="1"/>
          </p:cNvSpPr>
          <p:nvPr>
            <p:ph type="title"/>
          </p:nvPr>
        </p:nvSpPr>
        <p:spPr/>
        <p:txBody>
          <a:bodyPr/>
          <a:lstStyle/>
          <a:p>
            <a:r>
              <a:rPr lang="zh-CN" altLang="en-US" dirty="0"/>
              <a:t>主席树</a:t>
            </a:r>
          </a:p>
        </p:txBody>
      </p:sp>
      <p:sp>
        <p:nvSpPr>
          <p:cNvPr id="3" name="内容占位符 2">
            <a:extLst>
              <a:ext uri="{FF2B5EF4-FFF2-40B4-BE49-F238E27FC236}">
                <a16:creationId xmlns:a16="http://schemas.microsoft.com/office/drawing/2014/main" xmlns="" id="{2C357A26-073C-4515-9AEE-5F60691CB69B}"/>
              </a:ext>
            </a:extLst>
          </p:cNvPr>
          <p:cNvSpPr>
            <a:spLocks noGrp="1"/>
          </p:cNvSpPr>
          <p:nvPr>
            <p:ph idx="1"/>
          </p:nvPr>
        </p:nvSpPr>
        <p:spPr>
          <a:xfrm>
            <a:off x="1103312" y="1753386"/>
            <a:ext cx="8946541" cy="4495013"/>
          </a:xfrm>
        </p:spPr>
        <p:txBody>
          <a:bodyPr>
            <a:normAutofit/>
          </a:bodyPr>
          <a:lstStyle/>
          <a:p>
            <a:r>
              <a:rPr lang="zh-CN" altLang="en-US" dirty="0"/>
              <a:t>求区间第</a:t>
            </a:r>
            <a:r>
              <a:rPr lang="en-US" altLang="zh-CN" dirty="0"/>
              <a:t>k</a:t>
            </a:r>
            <a:r>
              <a:rPr lang="zh-CN" altLang="en-US" dirty="0"/>
              <a:t>小。</a:t>
            </a:r>
            <a:endParaRPr lang="en-US" altLang="zh-CN" dirty="0"/>
          </a:p>
          <a:p>
            <a:r>
              <a:rPr lang="zh-CN" altLang="en-US" dirty="0"/>
              <a:t>考虑在一棵线段树上修改。如果我们既要用修改后的版本，又要用修改前的版本，应该怎么办呢？</a:t>
            </a:r>
          </a:p>
          <a:p>
            <a:r>
              <a:rPr lang="zh-CN" altLang="en-US" dirty="0"/>
              <a:t>最朴素的想法就是每次修改都复制一遍线段树，再单点修改，但是这样做，时间和空间都是无法忍受的。</a:t>
            </a:r>
          </a:p>
          <a:p>
            <a:r>
              <a:rPr lang="zh-CN" altLang="en-US" dirty="0"/>
              <a:t>注意到我们线段树单点修改的时候，每次只修改了一条链，所以我们可以每次只加一条链，而这条链与原来的树的其他结点的父子关系不变。如图所示</a:t>
            </a:r>
            <a:r>
              <a:rPr lang="en-US" altLang="zh-CN" dirty="0"/>
              <a:t>(</a:t>
            </a:r>
            <a:r>
              <a:rPr lang="zh-CN" altLang="en-US" dirty="0"/>
              <a:t>黑板上的图</a:t>
            </a:r>
            <a:r>
              <a:rPr lang="en-US" altLang="zh-CN" dirty="0"/>
              <a:t>)</a:t>
            </a:r>
            <a:r>
              <a:rPr lang="zh-CN" altLang="en-US" dirty="0"/>
              <a:t>。</a:t>
            </a:r>
          </a:p>
          <a:p>
            <a:r>
              <a:rPr lang="zh-CN" altLang="en-US" dirty="0"/>
              <a:t>每次修改，需要空间为</a:t>
            </a:r>
            <a:r>
              <a:rPr lang="en-US" altLang="zh-CN" dirty="0" err="1"/>
              <a:t>logn</a:t>
            </a:r>
            <a:r>
              <a:rPr lang="zh-CN" altLang="en-US" dirty="0"/>
              <a:t>，所以总空间为</a:t>
            </a:r>
            <a:r>
              <a:rPr lang="en-US" altLang="zh-CN" dirty="0"/>
              <a:t>O(</a:t>
            </a:r>
            <a:r>
              <a:rPr lang="en-US" altLang="zh-CN" dirty="0" err="1"/>
              <a:t>nlogn</a:t>
            </a:r>
            <a:r>
              <a:rPr lang="en-US" altLang="zh-CN" dirty="0"/>
              <a:t>)</a:t>
            </a:r>
            <a:r>
              <a:rPr lang="zh-CN" altLang="en-US" dirty="0"/>
              <a:t>。</a:t>
            </a:r>
          </a:p>
          <a:p>
            <a:r>
              <a:rPr lang="zh-CN" altLang="en-US" dirty="0"/>
              <a:t>这道题，我们只要从前往后开一个值域主席树就行了。这棵树支持前缀和，于是我们区间查询时就是查这一段区间的值域线段树，线段树上二分找就好。</a:t>
            </a:r>
          </a:p>
        </p:txBody>
      </p:sp>
    </p:spTree>
    <p:extLst>
      <p:ext uri="{BB962C8B-B14F-4D97-AF65-F5344CB8AC3E}">
        <p14:creationId xmlns:p14="http://schemas.microsoft.com/office/powerpoint/2010/main" val="4029449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FF30131B-C925-48C9-9781-634D254F6351}"/>
              </a:ext>
            </a:extLst>
          </p:cNvPr>
          <p:cNvSpPr>
            <a:spLocks noGrp="1"/>
          </p:cNvSpPr>
          <p:nvPr>
            <p:ph type="title"/>
          </p:nvPr>
        </p:nvSpPr>
        <p:spPr/>
        <p:txBody>
          <a:bodyPr/>
          <a:lstStyle/>
          <a:p>
            <a:r>
              <a:rPr lang="zh-CN" altLang="en-US" dirty="0"/>
              <a:t>主席树</a:t>
            </a:r>
          </a:p>
        </p:txBody>
      </p:sp>
      <p:sp>
        <p:nvSpPr>
          <p:cNvPr id="3" name="内容占位符 2">
            <a:extLst>
              <a:ext uri="{FF2B5EF4-FFF2-40B4-BE49-F238E27FC236}">
                <a16:creationId xmlns:a16="http://schemas.microsoft.com/office/drawing/2014/main" xmlns="" id="{5366E181-9307-4B86-B574-636786BBD3FE}"/>
              </a:ext>
            </a:extLst>
          </p:cNvPr>
          <p:cNvSpPr>
            <a:spLocks noGrp="1"/>
          </p:cNvSpPr>
          <p:nvPr>
            <p:ph idx="1"/>
          </p:nvPr>
        </p:nvSpPr>
        <p:spPr/>
        <p:txBody>
          <a:bodyPr/>
          <a:lstStyle/>
          <a:p>
            <a:r>
              <a:rPr lang="zh-CN" altLang="en-US" dirty="0"/>
              <a:t>带修改的区间</a:t>
            </a:r>
            <a:r>
              <a:rPr lang="en-US" altLang="zh-CN" dirty="0"/>
              <a:t>k</a:t>
            </a:r>
            <a:r>
              <a:rPr lang="zh-CN" altLang="en-US" dirty="0"/>
              <a:t>小：使用树套树可以解决</a:t>
            </a:r>
            <a:r>
              <a:rPr lang="en-US" altLang="zh-CN" dirty="0"/>
              <a:t>(</a:t>
            </a:r>
            <a:r>
              <a:rPr lang="zh-CN" altLang="en-US" dirty="0"/>
              <a:t>最好是树状数组套主席树</a:t>
            </a:r>
            <a:r>
              <a:rPr lang="en-US" altLang="zh-CN" dirty="0"/>
              <a:t>)</a:t>
            </a:r>
            <a:r>
              <a:rPr lang="zh-CN" altLang="en-US" dirty="0"/>
              <a:t>。</a:t>
            </a:r>
          </a:p>
          <a:p>
            <a:endParaRPr lang="en-US" altLang="zh-CN" dirty="0"/>
          </a:p>
          <a:p>
            <a:r>
              <a:rPr lang="zh-CN" altLang="en-US" dirty="0"/>
              <a:t>区间修改：标记永久化</a:t>
            </a:r>
            <a:r>
              <a:rPr lang="en-US" altLang="zh-CN" dirty="0"/>
              <a:t>——lazy</a:t>
            </a:r>
            <a:r>
              <a:rPr lang="zh-CN" altLang="en-US" dirty="0"/>
              <a:t>标记不下放。</a:t>
            </a:r>
          </a:p>
          <a:p>
            <a:endParaRPr lang="zh-CN" altLang="en-US" dirty="0"/>
          </a:p>
        </p:txBody>
      </p:sp>
    </p:spTree>
    <p:extLst>
      <p:ext uri="{BB962C8B-B14F-4D97-AF65-F5344CB8AC3E}">
        <p14:creationId xmlns:p14="http://schemas.microsoft.com/office/powerpoint/2010/main" val="1483963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C92C7EC2-CC97-4279-A4AA-98E1FAAE0E20}"/>
              </a:ext>
            </a:extLst>
          </p:cNvPr>
          <p:cNvSpPr>
            <a:spLocks noGrp="1"/>
          </p:cNvSpPr>
          <p:nvPr>
            <p:ph type="title"/>
          </p:nvPr>
        </p:nvSpPr>
        <p:spPr/>
        <p:txBody>
          <a:bodyPr/>
          <a:lstStyle/>
          <a:p>
            <a:r>
              <a:rPr lang="en-US" altLang="zh-CN" dirty="0"/>
              <a:t>HNOI2017 </a:t>
            </a:r>
            <a:r>
              <a:rPr lang="zh-CN" altLang="en-US" dirty="0"/>
              <a:t>影魔</a:t>
            </a:r>
          </a:p>
        </p:txBody>
      </p:sp>
      <p:sp>
        <p:nvSpPr>
          <p:cNvPr id="3" name="内容占位符 2">
            <a:extLst>
              <a:ext uri="{FF2B5EF4-FFF2-40B4-BE49-F238E27FC236}">
                <a16:creationId xmlns:a16="http://schemas.microsoft.com/office/drawing/2014/main" xmlns="" id="{800EEAC3-F7AC-42FA-BAA5-996ABD38A50A}"/>
              </a:ext>
            </a:extLst>
          </p:cNvPr>
          <p:cNvSpPr>
            <a:spLocks noGrp="1"/>
          </p:cNvSpPr>
          <p:nvPr>
            <p:ph idx="1"/>
          </p:nvPr>
        </p:nvSpPr>
        <p:spPr/>
        <p:txBody>
          <a:bodyPr>
            <a:normAutofit fontScale="92500" lnSpcReduction="10000"/>
          </a:bodyPr>
          <a:lstStyle/>
          <a:p>
            <a:r>
              <a:rPr lang="zh-CN" altLang="en-US" dirty="0"/>
              <a:t>给定一个长度为</a:t>
            </a:r>
            <a:r>
              <a:rPr lang="en-US" altLang="zh-CN" dirty="0"/>
              <a:t>n</a:t>
            </a:r>
            <a:r>
              <a:rPr lang="zh-CN" altLang="en-US" dirty="0"/>
              <a:t>的排列，对于一个区间，如果两个端点分别是这个区间的最大值和次大值，有</a:t>
            </a:r>
            <a:r>
              <a:rPr lang="en-US" altLang="zh-CN" dirty="0"/>
              <a:t>p1</a:t>
            </a:r>
            <a:r>
              <a:rPr lang="zh-CN" altLang="en-US" dirty="0"/>
              <a:t>的贡献，否则如果其中一个端点是这个区间的最大值，有</a:t>
            </a:r>
            <a:r>
              <a:rPr lang="en-US" altLang="zh-CN" dirty="0"/>
              <a:t>p2</a:t>
            </a:r>
            <a:r>
              <a:rPr lang="zh-CN" altLang="en-US" dirty="0"/>
              <a:t>的贡献。 现在给你</a:t>
            </a:r>
            <a:r>
              <a:rPr lang="en-US" altLang="zh-CN" dirty="0"/>
              <a:t>q</a:t>
            </a:r>
            <a:r>
              <a:rPr lang="zh-CN" altLang="en-US" dirty="0"/>
              <a:t>个询问，每次询问一个区间</a:t>
            </a:r>
            <a:r>
              <a:rPr lang="en-US" altLang="zh-CN" dirty="0"/>
              <a:t>[L,R]</a:t>
            </a:r>
            <a:r>
              <a:rPr lang="zh-CN" altLang="en-US" dirty="0"/>
              <a:t>，问所有被区间完全包含的区间的贡献和。</a:t>
            </a:r>
          </a:p>
          <a:p>
            <a:r>
              <a:rPr lang="zh-CN" altLang="en-US" dirty="0"/>
              <a:t>考虑每个点为最大值时能产生的贡献。设当前点为</a:t>
            </a:r>
            <a:r>
              <a:rPr lang="en-US" altLang="zh-CN" dirty="0"/>
              <a:t>p</a:t>
            </a:r>
            <a:r>
              <a:rPr lang="zh-CN" altLang="en-US" dirty="0"/>
              <a:t>，左边比</a:t>
            </a:r>
            <a:r>
              <a:rPr lang="en-US" altLang="zh-CN" dirty="0"/>
              <a:t>p</a:t>
            </a:r>
            <a:r>
              <a:rPr lang="zh-CN" altLang="en-US" dirty="0"/>
              <a:t>大的第一个点为</a:t>
            </a:r>
            <a:r>
              <a:rPr lang="en-US" altLang="zh-CN" dirty="0"/>
              <a:t>x</a:t>
            </a:r>
            <a:r>
              <a:rPr lang="zh-CN" altLang="en-US" dirty="0"/>
              <a:t>，右边比</a:t>
            </a:r>
            <a:r>
              <a:rPr lang="en-US" altLang="zh-CN" dirty="0"/>
              <a:t>p</a:t>
            </a:r>
            <a:r>
              <a:rPr lang="zh-CN" altLang="en-US" dirty="0"/>
              <a:t>大的第一个点为</a:t>
            </a:r>
            <a:r>
              <a:rPr lang="en-US" altLang="zh-CN" dirty="0"/>
              <a:t>y</a:t>
            </a:r>
            <a:r>
              <a:rPr lang="zh-CN" altLang="en-US" dirty="0"/>
              <a:t>，</a:t>
            </a:r>
            <a:r>
              <a:rPr lang="en-US" altLang="zh-CN" dirty="0"/>
              <a:t>x</a:t>
            </a:r>
            <a:r>
              <a:rPr lang="zh-CN" altLang="en-US" dirty="0"/>
              <a:t>和</a:t>
            </a:r>
            <a:r>
              <a:rPr lang="en-US" altLang="zh-CN" dirty="0"/>
              <a:t>y</a:t>
            </a:r>
            <a:r>
              <a:rPr lang="zh-CN" altLang="en-US" dirty="0"/>
              <a:t>可以用单调栈求出。</a:t>
            </a:r>
          </a:p>
          <a:p>
            <a:r>
              <a:rPr lang="zh-CN" altLang="en-US" dirty="0"/>
              <a:t>那么只有</a:t>
            </a:r>
            <a:r>
              <a:rPr lang="en-US" altLang="zh-CN" dirty="0"/>
              <a:t>(</a:t>
            </a:r>
            <a:r>
              <a:rPr lang="en-US" altLang="zh-CN" dirty="0" err="1"/>
              <a:t>x,y</a:t>
            </a:r>
            <a:r>
              <a:rPr lang="en-US" altLang="zh-CN" dirty="0"/>
              <a:t>)</a:t>
            </a:r>
            <a:r>
              <a:rPr lang="zh-CN" altLang="en-US" dirty="0"/>
              <a:t>能产生</a:t>
            </a:r>
            <a:r>
              <a:rPr lang="en-US" altLang="zh-CN" dirty="0"/>
              <a:t>p1</a:t>
            </a:r>
            <a:r>
              <a:rPr lang="zh-CN" altLang="en-US" dirty="0"/>
              <a:t>的贡献，</a:t>
            </a:r>
            <a:r>
              <a:rPr lang="en-US" altLang="zh-CN" dirty="0"/>
              <a:t>(x,[p+1,y−1])</a:t>
            </a:r>
            <a:r>
              <a:rPr lang="zh-CN" altLang="en-US" dirty="0"/>
              <a:t>和</a:t>
            </a:r>
            <a:r>
              <a:rPr lang="en-US" altLang="zh-CN" dirty="0"/>
              <a:t>(y,[x+1,p−1])</a:t>
            </a:r>
            <a:r>
              <a:rPr lang="zh-CN" altLang="en-US" dirty="0"/>
              <a:t>能产生</a:t>
            </a:r>
            <a:r>
              <a:rPr lang="en-US" altLang="zh-CN" dirty="0"/>
              <a:t>p2</a:t>
            </a:r>
            <a:r>
              <a:rPr lang="zh-CN" altLang="en-US" dirty="0"/>
              <a:t>的贡献，这可以看成很多点对。</a:t>
            </a:r>
          </a:p>
          <a:p>
            <a:r>
              <a:rPr lang="zh-CN" altLang="en-US" dirty="0"/>
              <a:t>于是我们找出所有这些点对，把这些点对按照横坐标排序。</a:t>
            </a:r>
          </a:p>
          <a:p>
            <a:r>
              <a:rPr lang="zh-CN" altLang="en-US" dirty="0"/>
              <a:t>然后从前往后建主席树，区间修改</a:t>
            </a:r>
            <a:r>
              <a:rPr lang="en-US" altLang="zh-CN" dirty="0"/>
              <a:t>+</a:t>
            </a:r>
            <a:r>
              <a:rPr lang="zh-CN" altLang="en-US" dirty="0"/>
              <a:t>标记永久化即可。</a:t>
            </a:r>
          </a:p>
          <a:p>
            <a:r>
              <a:rPr lang="zh-CN" altLang="en-US" dirty="0"/>
              <a:t>查询的时候直接查询对应区间，即</a:t>
            </a:r>
            <a:r>
              <a:rPr lang="en-US" altLang="zh-CN" dirty="0"/>
              <a:t>[</a:t>
            </a:r>
            <a:r>
              <a:rPr lang="en-US" altLang="zh-CN" dirty="0" err="1"/>
              <a:t>a,b</a:t>
            </a:r>
            <a:r>
              <a:rPr lang="en-US" altLang="zh-CN" dirty="0"/>
              <a:t>]</a:t>
            </a:r>
            <a:r>
              <a:rPr lang="zh-CN" altLang="en-US" dirty="0"/>
              <a:t>线段树中的</a:t>
            </a:r>
            <a:r>
              <a:rPr lang="en-US" altLang="zh-CN" dirty="0"/>
              <a:t>[</a:t>
            </a:r>
            <a:r>
              <a:rPr lang="en-US" altLang="zh-CN" dirty="0" err="1"/>
              <a:t>a,b</a:t>
            </a:r>
            <a:r>
              <a:rPr lang="en-US" altLang="zh-CN" dirty="0"/>
              <a:t>]</a:t>
            </a:r>
            <a:r>
              <a:rPr lang="zh-CN" altLang="en-US" dirty="0"/>
              <a:t>之和，然后再加上</a:t>
            </a:r>
            <a:r>
              <a:rPr lang="en-US" altLang="zh-CN" dirty="0"/>
              <a:t>(b−a)</a:t>
            </a:r>
            <a:r>
              <a:rPr lang="zh-CN" altLang="en-US" dirty="0"/>
              <a:t>*</a:t>
            </a:r>
            <a:r>
              <a:rPr lang="en-US" altLang="zh-CN" dirty="0"/>
              <a:t>p1</a:t>
            </a:r>
            <a:r>
              <a:rPr lang="zh-CN" altLang="en-US" dirty="0"/>
              <a:t>。</a:t>
            </a:r>
          </a:p>
        </p:txBody>
      </p:sp>
    </p:spTree>
    <p:extLst>
      <p:ext uri="{BB962C8B-B14F-4D97-AF65-F5344CB8AC3E}">
        <p14:creationId xmlns:p14="http://schemas.microsoft.com/office/powerpoint/2010/main" val="2607038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4245A956-533E-442E-AEB4-AD6AFF286210}"/>
              </a:ext>
            </a:extLst>
          </p:cNvPr>
          <p:cNvSpPr>
            <a:spLocks noGrp="1"/>
          </p:cNvSpPr>
          <p:nvPr>
            <p:ph type="title"/>
          </p:nvPr>
        </p:nvSpPr>
        <p:spPr/>
        <p:txBody>
          <a:bodyPr/>
          <a:lstStyle/>
          <a:p>
            <a:r>
              <a:rPr lang="en-US" altLang="zh-CN" dirty="0"/>
              <a:t>LNOI2014 LCA</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xmlns="" id="{4128D36F-BFDD-45F7-B475-3379FCFF332F}"/>
                  </a:ext>
                </a:extLst>
              </p:cNvPr>
              <p:cNvSpPr>
                <a:spLocks noGrp="1"/>
              </p:cNvSpPr>
              <p:nvPr>
                <p:ph idx="1"/>
              </p:nvPr>
            </p:nvSpPr>
            <p:spPr/>
            <p:txBody>
              <a:bodyPr/>
              <a:lstStyle/>
              <a:p>
                <a:r>
                  <a:rPr lang="zh-CN" altLang="en-US" dirty="0"/>
                  <a:t>给出一个</a:t>
                </a:r>
                <a14:m>
                  <m:oMath xmlns:m="http://schemas.openxmlformats.org/officeDocument/2006/math">
                    <m:r>
                      <a:rPr lang="en-US" altLang="zh-CN" i="1" dirty="0" smtClean="0">
                        <a:latin typeface="Cambria Math" panose="02040503050406030204" pitchFamily="18" charset="0"/>
                      </a:rPr>
                      <m:t>𝑛</m:t>
                    </m:r>
                  </m:oMath>
                </a14:m>
                <a:r>
                  <a:rPr lang="zh-CN" altLang="en-US" dirty="0"/>
                  <a:t>个节点的有根树。一个点的深度定义为这个节点到根的距离</a:t>
                </a:r>
                <a14:m>
                  <m:oMath xmlns:m="http://schemas.openxmlformats.org/officeDocument/2006/math">
                    <m:r>
                      <a:rPr lang="en-US" altLang="zh-CN" i="1" dirty="0" smtClean="0">
                        <a:latin typeface="Cambria Math" panose="02040503050406030204" pitchFamily="18" charset="0"/>
                      </a:rPr>
                      <m:t>+1</m:t>
                    </m:r>
                  </m:oMath>
                </a14:m>
                <a:r>
                  <a:rPr lang="zh-CN" altLang="en-US" dirty="0"/>
                  <a:t>。设</a:t>
                </a:r>
                <a14:m>
                  <m:oMath xmlns:m="http://schemas.openxmlformats.org/officeDocument/2006/math">
                    <m:r>
                      <a:rPr lang="en-US" altLang="zh-CN" i="1" dirty="0" smtClean="0">
                        <a:latin typeface="Cambria Math" panose="02040503050406030204" pitchFamily="18" charset="0"/>
                      </a:rPr>
                      <m:t>𝑑𝑒𝑝</m:t>
                    </m:r>
                    <m:r>
                      <a:rPr lang="en-US" altLang="zh-CN" i="1" dirty="0" smtClean="0">
                        <a:latin typeface="Cambria Math" panose="02040503050406030204" pitchFamily="18" charset="0"/>
                      </a:rPr>
                      <m:t>[</m:t>
                    </m:r>
                    <m:r>
                      <a:rPr lang="en-US" altLang="zh-CN" i="1" dirty="0" err="1">
                        <a:latin typeface="Cambria Math" panose="02040503050406030204" pitchFamily="18" charset="0"/>
                      </a:rPr>
                      <m:t>𝑖</m:t>
                    </m:r>
                    <m:r>
                      <a:rPr lang="en-US" altLang="zh-CN" i="1" dirty="0">
                        <a:latin typeface="Cambria Math" panose="02040503050406030204" pitchFamily="18" charset="0"/>
                      </a:rPr>
                      <m:t>]</m:t>
                    </m:r>
                  </m:oMath>
                </a14:m>
                <a:r>
                  <a:rPr lang="zh-CN" altLang="en-US" dirty="0"/>
                  <a:t>表示点</a:t>
                </a:r>
                <a:r>
                  <a:rPr lang="en-US" altLang="zh-CN" dirty="0" err="1"/>
                  <a:t>i</a:t>
                </a:r>
                <a:r>
                  <a:rPr lang="zh-CN" altLang="en-US" dirty="0"/>
                  <a:t>的深度，</a:t>
                </a:r>
                <a14:m>
                  <m:oMath xmlns:m="http://schemas.openxmlformats.org/officeDocument/2006/math">
                    <m:r>
                      <a:rPr lang="en-US" altLang="zh-CN" i="1" dirty="0" smtClean="0">
                        <a:latin typeface="Cambria Math" panose="02040503050406030204" pitchFamily="18" charset="0"/>
                      </a:rPr>
                      <m:t>𝑙𝑐𝑎</m:t>
                    </m:r>
                    <m:r>
                      <a:rPr lang="en-US" altLang="zh-CN" i="1" dirty="0" smtClean="0">
                        <a:latin typeface="Cambria Math" panose="02040503050406030204" pitchFamily="18" charset="0"/>
                      </a:rPr>
                      <m:t>(</m:t>
                    </m:r>
                    <m:r>
                      <a:rPr lang="en-US" altLang="zh-CN" i="1" dirty="0" err="1">
                        <a:latin typeface="Cambria Math" panose="02040503050406030204" pitchFamily="18" charset="0"/>
                      </a:rPr>
                      <m:t>𝑖</m:t>
                    </m:r>
                    <m:r>
                      <a:rPr lang="en-US" altLang="zh-CN" i="1" dirty="0" err="1">
                        <a:latin typeface="Cambria Math" panose="02040503050406030204" pitchFamily="18" charset="0"/>
                      </a:rPr>
                      <m:t>,</m:t>
                    </m:r>
                    <m:r>
                      <a:rPr lang="en-US" altLang="zh-CN" i="1" dirty="0" err="1">
                        <a:latin typeface="Cambria Math" panose="02040503050406030204" pitchFamily="18" charset="0"/>
                      </a:rPr>
                      <m:t>𝑗</m:t>
                    </m:r>
                    <m:r>
                      <a:rPr lang="en-US" altLang="zh-CN" i="1" dirty="0">
                        <a:latin typeface="Cambria Math" panose="02040503050406030204" pitchFamily="18" charset="0"/>
                      </a:rPr>
                      <m:t>)</m:t>
                    </m:r>
                  </m:oMath>
                </a14:m>
                <a:r>
                  <a:rPr lang="zh-CN" altLang="en-US" dirty="0"/>
                  <a:t>表示</a:t>
                </a:r>
                <a14:m>
                  <m:oMath xmlns:m="http://schemas.openxmlformats.org/officeDocument/2006/math">
                    <m:r>
                      <a:rPr lang="en-US" altLang="zh-CN" i="1" dirty="0" smtClean="0">
                        <a:latin typeface="Cambria Math" panose="02040503050406030204" pitchFamily="18" charset="0"/>
                      </a:rPr>
                      <m:t>𝑖</m:t>
                    </m:r>
                  </m:oMath>
                </a14:m>
                <a:r>
                  <a:rPr lang="zh-CN" altLang="en-US" dirty="0"/>
                  <a:t>与</a:t>
                </a:r>
                <a14:m>
                  <m:oMath xmlns:m="http://schemas.openxmlformats.org/officeDocument/2006/math">
                    <m:r>
                      <a:rPr lang="en-US" altLang="zh-CN" i="1" dirty="0" smtClean="0">
                        <a:latin typeface="Cambria Math" panose="02040503050406030204" pitchFamily="18" charset="0"/>
                      </a:rPr>
                      <m:t>𝑗</m:t>
                    </m:r>
                  </m:oMath>
                </a14:m>
                <a:r>
                  <a:rPr lang="zh-CN" altLang="en-US" dirty="0"/>
                  <a:t>的最近公共祖先。有</a:t>
                </a:r>
                <a14:m>
                  <m:oMath xmlns:m="http://schemas.openxmlformats.org/officeDocument/2006/math">
                    <m:r>
                      <a:rPr lang="en-US" altLang="zh-CN" i="1" dirty="0" smtClean="0">
                        <a:latin typeface="Cambria Math" panose="02040503050406030204" pitchFamily="18" charset="0"/>
                      </a:rPr>
                      <m:t>𝑞</m:t>
                    </m:r>
                  </m:oMath>
                </a14:m>
                <a:r>
                  <a:rPr lang="zh-CN" altLang="en-US" dirty="0"/>
                  <a:t>次询问，每次询问给出</a:t>
                </a:r>
                <a14:m>
                  <m:oMath xmlns:m="http://schemas.openxmlformats.org/officeDocument/2006/math">
                    <m:r>
                      <a:rPr lang="en-US" altLang="zh-CN" i="1" dirty="0" smtClean="0">
                        <a:latin typeface="Cambria Math" panose="02040503050406030204" pitchFamily="18" charset="0"/>
                      </a:rPr>
                      <m:t>𝑙</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𝑟</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𝑧</m:t>
                    </m:r>
                  </m:oMath>
                </a14:m>
                <a:r>
                  <a:rPr lang="zh-CN" altLang="en-US" dirty="0"/>
                  <a:t>，求在</a:t>
                </a:r>
                <a14:m>
                  <m:oMath xmlns:m="http://schemas.openxmlformats.org/officeDocument/2006/math">
                    <m:r>
                      <a:rPr lang="en-US" altLang="zh-CN" i="1" dirty="0" smtClean="0">
                        <a:latin typeface="Cambria Math" panose="02040503050406030204" pitchFamily="18" charset="0"/>
                      </a:rPr>
                      <m:t>[</m:t>
                    </m:r>
                    <m:r>
                      <a:rPr lang="en-US" altLang="zh-CN" i="1" dirty="0" err="1">
                        <a:latin typeface="Cambria Math" panose="02040503050406030204" pitchFamily="18" charset="0"/>
                      </a:rPr>
                      <m:t>𝑙</m:t>
                    </m:r>
                    <m:r>
                      <a:rPr lang="en-US" altLang="zh-CN" i="1" dirty="0" err="1">
                        <a:latin typeface="Cambria Math" panose="02040503050406030204" pitchFamily="18" charset="0"/>
                      </a:rPr>
                      <m:t>,</m:t>
                    </m:r>
                    <m:r>
                      <a:rPr lang="en-US" altLang="zh-CN" i="1" dirty="0" err="1">
                        <a:latin typeface="Cambria Math" panose="02040503050406030204" pitchFamily="18" charset="0"/>
                      </a:rPr>
                      <m:t>𝑟</m:t>
                    </m:r>
                    <m:r>
                      <a:rPr lang="en-US" altLang="zh-CN" i="1" dirty="0">
                        <a:latin typeface="Cambria Math" panose="02040503050406030204" pitchFamily="18" charset="0"/>
                      </a:rPr>
                      <m:t>]</m:t>
                    </m:r>
                  </m:oMath>
                </a14:m>
                <a:r>
                  <a:rPr lang="zh-CN" altLang="en-US" dirty="0"/>
                  <a:t>区间内的每个节点</a:t>
                </a:r>
                <a14:m>
                  <m:oMath xmlns:m="http://schemas.openxmlformats.org/officeDocument/2006/math">
                    <m:r>
                      <a:rPr lang="en-US" altLang="zh-CN" i="1" dirty="0" smtClean="0">
                        <a:latin typeface="Cambria Math" panose="02040503050406030204" pitchFamily="18" charset="0"/>
                      </a:rPr>
                      <m:t>𝑖</m:t>
                    </m:r>
                  </m:oMath>
                </a14:m>
                <a:r>
                  <a:rPr lang="zh-CN" altLang="en-US" dirty="0"/>
                  <a:t>与</a:t>
                </a:r>
                <a14:m>
                  <m:oMath xmlns:m="http://schemas.openxmlformats.org/officeDocument/2006/math">
                    <m:r>
                      <a:rPr lang="en-US" altLang="zh-CN" i="1" dirty="0" smtClean="0">
                        <a:latin typeface="Cambria Math" panose="02040503050406030204" pitchFamily="18" charset="0"/>
                      </a:rPr>
                      <m:t>𝑧</m:t>
                    </m:r>
                  </m:oMath>
                </a14:m>
                <a:r>
                  <a:rPr lang="zh-CN" altLang="en-US" dirty="0"/>
                  <a:t>的最近公共祖先的深度之和。</a:t>
                </a:r>
                <a:endParaRPr lang="en-US" altLang="zh-CN" dirty="0"/>
              </a:p>
              <a:p>
                <a:endParaRPr lang="en-US" altLang="zh-CN" dirty="0"/>
              </a:p>
              <a:p>
                <a:r>
                  <a:rPr lang="zh-CN" altLang="en-US" dirty="0"/>
                  <a:t>可以使用主席树</a:t>
                </a:r>
                <a:r>
                  <a:rPr lang="en-US" altLang="zh-CN" dirty="0"/>
                  <a:t>+</a:t>
                </a:r>
                <a:r>
                  <a:rPr lang="zh-CN" altLang="en-US" dirty="0"/>
                  <a:t>树链剖分强行解决这个问题。</a:t>
                </a:r>
                <a:endParaRPr lang="en-US" altLang="zh-CN" dirty="0"/>
              </a:p>
              <a:p>
                <a14:m>
                  <m:oMath xmlns:m="http://schemas.openxmlformats.org/officeDocument/2006/math">
                    <m:r>
                      <a:rPr lang="en-US" altLang="zh-CN" i="1" dirty="0" smtClean="0">
                        <a:latin typeface="Cambria Math" panose="02040503050406030204" pitchFamily="18" charset="0"/>
                      </a:rPr>
                      <m:t>𝑧</m:t>
                    </m:r>
                  </m:oMath>
                </a14:m>
                <a:r>
                  <a:rPr lang="zh-CN" altLang="en-US" dirty="0"/>
                  <a:t>与任意一个结点</a:t>
                </a:r>
                <a14:m>
                  <m:oMath xmlns:m="http://schemas.openxmlformats.org/officeDocument/2006/math">
                    <m:r>
                      <a:rPr lang="en-US" altLang="zh-CN" i="1" dirty="0" smtClean="0">
                        <a:latin typeface="Cambria Math" panose="02040503050406030204" pitchFamily="18" charset="0"/>
                      </a:rPr>
                      <m:t>𝑖</m:t>
                    </m:r>
                  </m:oMath>
                </a14:m>
                <a:r>
                  <a:rPr lang="zh-CN" altLang="en-US" dirty="0"/>
                  <a:t>的</a:t>
                </a:r>
                <a14:m>
                  <m:oMath xmlns:m="http://schemas.openxmlformats.org/officeDocument/2006/math">
                    <m:r>
                      <a:rPr lang="en-US" altLang="zh-CN" i="1" dirty="0" smtClean="0">
                        <a:latin typeface="Cambria Math" panose="02040503050406030204" pitchFamily="18" charset="0"/>
                      </a:rPr>
                      <m:t>𝑙𝑐𝑎</m:t>
                    </m:r>
                  </m:oMath>
                </a14:m>
                <a:r>
                  <a:rPr lang="zh-CN" altLang="en-US" dirty="0"/>
                  <a:t>深度之和就是两点链交的长度。所以每次查询</a:t>
                </a:r>
                <a14:m>
                  <m:oMath xmlns:m="http://schemas.openxmlformats.org/officeDocument/2006/math">
                    <m:r>
                      <a:rPr lang="en-US" altLang="zh-CN" i="1" dirty="0" smtClean="0">
                        <a:latin typeface="Cambria Math" panose="02040503050406030204" pitchFamily="18" charset="0"/>
                      </a:rPr>
                      <m:t>[</m:t>
                    </m:r>
                    <m:r>
                      <a:rPr lang="en-US" altLang="zh-CN" i="1" dirty="0" err="1" smtClean="0">
                        <a:latin typeface="Cambria Math" panose="02040503050406030204" pitchFamily="18" charset="0"/>
                      </a:rPr>
                      <m:t>𝑙</m:t>
                    </m:r>
                    <m:r>
                      <a:rPr lang="en-US" altLang="zh-CN" i="1" dirty="0" err="1" smtClean="0">
                        <a:latin typeface="Cambria Math" panose="02040503050406030204" pitchFamily="18" charset="0"/>
                      </a:rPr>
                      <m:t>,</m:t>
                    </m:r>
                    <m:r>
                      <a:rPr lang="en-US" altLang="zh-CN" i="1" dirty="0" err="1" smtClean="0">
                        <a:latin typeface="Cambria Math" panose="02040503050406030204" pitchFamily="18" charset="0"/>
                      </a:rPr>
                      <m:t>𝑟</m:t>
                    </m:r>
                    <m:r>
                      <a:rPr lang="en-US" altLang="zh-CN" i="1" dirty="0" smtClean="0">
                        <a:latin typeface="Cambria Math" panose="02040503050406030204" pitchFamily="18" charset="0"/>
                      </a:rPr>
                      <m:t>]</m:t>
                    </m:r>
                  </m:oMath>
                </a14:m>
                <a:r>
                  <a:rPr lang="zh-CN" altLang="en-US" dirty="0"/>
                  <a:t>区间时只需要将这段区间中每个点到根结点的路径</a:t>
                </a:r>
                <a14:m>
                  <m:oMath xmlns:m="http://schemas.openxmlformats.org/officeDocument/2006/math">
                    <m:r>
                      <a:rPr lang="en-US" altLang="zh-CN" i="1" dirty="0" smtClean="0">
                        <a:latin typeface="Cambria Math" panose="02040503050406030204" pitchFamily="18" charset="0"/>
                      </a:rPr>
                      <m:t>+1</m:t>
                    </m:r>
                  </m:oMath>
                </a14:m>
                <a:r>
                  <a:rPr lang="zh-CN" altLang="en-US" dirty="0"/>
                  <a:t>，然后查询</a:t>
                </a:r>
                <a14:m>
                  <m:oMath xmlns:m="http://schemas.openxmlformats.org/officeDocument/2006/math">
                    <m:r>
                      <a:rPr lang="en-US" altLang="zh-CN" i="1" dirty="0" smtClean="0">
                        <a:latin typeface="Cambria Math" panose="02040503050406030204" pitchFamily="18" charset="0"/>
                      </a:rPr>
                      <m:t>𝑧</m:t>
                    </m:r>
                  </m:oMath>
                </a14:m>
                <a:r>
                  <a:rPr lang="zh-CN" altLang="en-US" dirty="0"/>
                  <a:t>到根结点的路径标记和。</a:t>
                </a:r>
                <a:endParaRPr lang="en-US" altLang="zh-CN" dirty="0"/>
              </a:p>
              <a:p>
                <a:r>
                  <a:rPr lang="zh-CN" altLang="en-US" dirty="0"/>
                  <a:t>按照编号顺序建主席树，进行链修改和链查询，使用树链剖分和标记永久化的方法即可。</a:t>
                </a:r>
              </a:p>
            </p:txBody>
          </p:sp>
        </mc:Choice>
        <mc:Fallback xmlns="">
          <p:sp>
            <p:nvSpPr>
              <p:cNvPr id="3" name="内容占位符 2">
                <a:extLst>
                  <a:ext uri="{FF2B5EF4-FFF2-40B4-BE49-F238E27FC236}">
                    <a16:creationId xmlns:a16="http://schemas.microsoft.com/office/drawing/2014/main" id="{4128D36F-BFDD-45F7-B475-3379FCFF332F}"/>
                  </a:ext>
                </a:extLst>
              </p:cNvPr>
              <p:cNvSpPr>
                <a:spLocks noGrp="1" noRot="1" noChangeAspect="1" noMove="1" noResize="1" noEditPoints="1" noAdjustHandles="1" noChangeArrowheads="1" noChangeShapeType="1" noTextEdit="1"/>
              </p:cNvSpPr>
              <p:nvPr>
                <p:ph idx="1"/>
              </p:nvPr>
            </p:nvSpPr>
            <p:spPr>
              <a:blipFill>
                <a:blip r:embed="rId2"/>
                <a:stretch>
                  <a:fillRect l="-341" t="-1163" r="-68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582329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901CB1F3-208E-4837-82CE-779643BD1B17}"/>
              </a:ext>
            </a:extLst>
          </p:cNvPr>
          <p:cNvSpPr>
            <a:spLocks noGrp="1"/>
          </p:cNvSpPr>
          <p:nvPr>
            <p:ph type="title"/>
          </p:nvPr>
        </p:nvSpPr>
        <p:spPr/>
        <p:txBody>
          <a:bodyPr/>
          <a:lstStyle/>
          <a:p>
            <a:r>
              <a:rPr lang="zh-CN" altLang="en-US" dirty="0"/>
              <a:t>分块</a:t>
            </a:r>
          </a:p>
        </p:txBody>
      </p:sp>
      <p:sp>
        <p:nvSpPr>
          <p:cNvPr id="3" name="内容占位符 2">
            <a:extLst>
              <a:ext uri="{FF2B5EF4-FFF2-40B4-BE49-F238E27FC236}">
                <a16:creationId xmlns:a16="http://schemas.microsoft.com/office/drawing/2014/main" xmlns="" id="{D268F33F-3048-4E5E-A1F6-53DED4274676}"/>
              </a:ext>
            </a:extLst>
          </p:cNvPr>
          <p:cNvSpPr>
            <a:spLocks noGrp="1"/>
          </p:cNvSpPr>
          <p:nvPr>
            <p:ph idx="1"/>
          </p:nvPr>
        </p:nvSpPr>
        <p:spPr/>
        <p:txBody>
          <a:bodyPr/>
          <a:lstStyle/>
          <a:p>
            <a:r>
              <a:rPr lang="zh-CN" altLang="en-US" dirty="0"/>
              <a:t>一般是按照块大小为根号级别来分块。</a:t>
            </a:r>
            <a:endParaRPr lang="en-US" altLang="zh-CN" dirty="0"/>
          </a:p>
          <a:p>
            <a:r>
              <a:rPr lang="zh-CN" altLang="en-US" dirty="0"/>
              <a:t>重点是要保证一次修改和查询的复杂度都在根号级别。</a:t>
            </a:r>
          </a:p>
        </p:txBody>
      </p:sp>
    </p:spTree>
    <p:extLst>
      <p:ext uri="{BB962C8B-B14F-4D97-AF65-F5344CB8AC3E}">
        <p14:creationId xmlns:p14="http://schemas.microsoft.com/office/powerpoint/2010/main" val="22112187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2D6CF999-98FA-4674-858F-267528562114}"/>
              </a:ext>
            </a:extLst>
          </p:cNvPr>
          <p:cNvSpPr>
            <a:spLocks noGrp="1"/>
          </p:cNvSpPr>
          <p:nvPr>
            <p:ph type="title"/>
          </p:nvPr>
        </p:nvSpPr>
        <p:spPr/>
        <p:txBody>
          <a:bodyPr/>
          <a:lstStyle/>
          <a:p>
            <a:r>
              <a:rPr lang="en-US" altLang="zh-CN" dirty="0"/>
              <a:t>bzoj4241 </a:t>
            </a:r>
            <a:r>
              <a:rPr lang="zh-CN" altLang="en-US" dirty="0"/>
              <a:t>历史研究</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xmlns="" id="{E4D150D0-ABEE-43E8-AE59-FB087CDA123A}"/>
                  </a:ext>
                </a:extLst>
              </p:cNvPr>
              <p:cNvSpPr>
                <a:spLocks noGrp="1"/>
              </p:cNvSpPr>
              <p:nvPr>
                <p:ph idx="1"/>
              </p:nvPr>
            </p:nvSpPr>
            <p:spPr/>
            <p:txBody>
              <a:bodyPr>
                <a:normAutofit/>
              </a:bodyPr>
              <a:lstStyle/>
              <a:p>
                <a:r>
                  <a:rPr lang="zh-CN" altLang="en-US" dirty="0"/>
                  <a:t>多次询问区间加权众数（每个数有一个权值，求最大的权值*个数）。</a:t>
                </a:r>
                <a:endParaRPr lang="en-US" altLang="zh-CN" dirty="0"/>
              </a:p>
              <a:p>
                <a:endParaRPr lang="en-US" altLang="zh-CN" dirty="0"/>
              </a:p>
              <a:p>
                <a:r>
                  <a:rPr lang="zh-CN" altLang="en-US" dirty="0"/>
                  <a:t>我们记录两个东西，</a:t>
                </a:r>
                <a14:m>
                  <m:oMath xmlns:m="http://schemas.openxmlformats.org/officeDocument/2006/math">
                    <m:r>
                      <a:rPr lang="en-US" altLang="zh-CN" i="1" dirty="0" smtClean="0">
                        <a:latin typeface="Cambria Math" panose="02040503050406030204" pitchFamily="18" charset="0"/>
                      </a:rPr>
                      <m:t>𝑤</m:t>
                    </m:r>
                    <m:r>
                      <a:rPr lang="en-US" altLang="zh-CN" i="1" dirty="0" smtClean="0">
                        <a:latin typeface="Cambria Math" panose="02040503050406030204" pitchFamily="18" charset="0"/>
                      </a:rPr>
                      <m:t>[</m:t>
                    </m:r>
                    <m:r>
                      <a:rPr lang="en-US" altLang="zh-CN" i="1" dirty="0" err="1" smtClean="0">
                        <a:latin typeface="Cambria Math" panose="02040503050406030204" pitchFamily="18" charset="0"/>
                      </a:rPr>
                      <m:t>𝑖</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𝑗</m:t>
                    </m:r>
                    <m:r>
                      <a:rPr lang="en-US" altLang="zh-CN" i="1" dirty="0" smtClean="0">
                        <a:latin typeface="Cambria Math" panose="02040503050406030204" pitchFamily="18" charset="0"/>
                      </a:rPr>
                      <m:t>]</m:t>
                    </m:r>
                  </m:oMath>
                </a14:m>
                <a:r>
                  <a:rPr lang="zh-CN" altLang="en-US" dirty="0"/>
                  <a:t>表示前</a:t>
                </a:r>
                <a14:m>
                  <m:oMath xmlns:m="http://schemas.openxmlformats.org/officeDocument/2006/math">
                    <m:r>
                      <a:rPr lang="en-US" altLang="zh-CN" i="1" dirty="0" smtClean="0">
                        <a:latin typeface="Cambria Math" panose="02040503050406030204" pitchFamily="18" charset="0"/>
                      </a:rPr>
                      <m:t>𝑖</m:t>
                    </m:r>
                  </m:oMath>
                </a14:m>
                <a:r>
                  <a:rPr lang="zh-CN" altLang="en-US" dirty="0"/>
                  <a:t>个块中</a:t>
                </a:r>
                <a14:m>
                  <m:oMath xmlns:m="http://schemas.openxmlformats.org/officeDocument/2006/math">
                    <m:r>
                      <a:rPr lang="en-US" altLang="zh-CN" i="1" dirty="0" smtClean="0">
                        <a:latin typeface="Cambria Math" panose="02040503050406030204" pitchFamily="18" charset="0"/>
                      </a:rPr>
                      <m:t>𝑗</m:t>
                    </m:r>
                  </m:oMath>
                </a14:m>
                <a:r>
                  <a:rPr lang="zh-CN" altLang="en-US" dirty="0"/>
                  <a:t>出现的次数</a:t>
                </a:r>
                <a:r>
                  <a:rPr lang="en-US" altLang="zh-CN" dirty="0"/>
                  <a:t>	</a:t>
                </a:r>
                <a:r>
                  <a:rPr lang="zh-CN" altLang="en-US" dirty="0"/>
                  <a:t>，这个可以在</a:t>
                </a:r>
                <a14:m>
                  <m:oMath xmlns:m="http://schemas.openxmlformats.org/officeDocument/2006/math">
                    <m:r>
                      <a:rPr lang="en-US" altLang="zh-CN" i="1" dirty="0" smtClean="0">
                        <a:latin typeface="Cambria Math" panose="02040503050406030204" pitchFamily="18" charset="0"/>
                      </a:rPr>
                      <m:t>𝑂</m:t>
                    </m:r>
                    <m:r>
                      <a:rPr lang="en-US" altLang="zh-CN" i="1" dirty="0" smtClean="0">
                        <a:latin typeface="Cambria Math" panose="02040503050406030204" pitchFamily="18" charset="0"/>
                      </a:rPr>
                      <m:t>(</m:t>
                    </m:r>
                    <m:r>
                      <a:rPr lang="en-US" altLang="zh-CN" b="0" i="1" dirty="0" smtClean="0">
                        <a:latin typeface="Cambria Math" panose="02040503050406030204" pitchFamily="18" charset="0"/>
                      </a:rPr>
                      <m:t>𝑛</m:t>
                    </m:r>
                    <m:rad>
                      <m:radPr>
                        <m:degHide m:val="on"/>
                        <m:ctrlPr>
                          <a:rPr lang="en-US" altLang="zh-CN" b="0" i="1" dirty="0" smtClean="0">
                            <a:latin typeface="Cambria Math"/>
                          </a:rPr>
                        </m:ctrlPr>
                      </m:radPr>
                      <m:deg/>
                      <m:e>
                        <m:r>
                          <a:rPr lang="en-US" altLang="zh-CN" b="0" i="1" dirty="0" smtClean="0">
                            <a:latin typeface="Cambria Math" panose="02040503050406030204" pitchFamily="18" charset="0"/>
                          </a:rPr>
                          <m:t>𝑛</m:t>
                        </m:r>
                      </m:e>
                    </m:rad>
                    <m:r>
                      <a:rPr lang="en-US" altLang="zh-CN" i="1" dirty="0" smtClean="0">
                        <a:latin typeface="Cambria Math" panose="02040503050406030204" pitchFamily="18" charset="0"/>
                      </a:rPr>
                      <m:t>)</m:t>
                    </m:r>
                  </m:oMath>
                </a14:m>
                <a:r>
                  <a:rPr lang="zh-CN" altLang="en-US" dirty="0"/>
                  <a:t>的时间内用前缀和解决。</a:t>
                </a:r>
                <a14:m>
                  <m:oMath xmlns:m="http://schemas.openxmlformats.org/officeDocument/2006/math">
                    <m:r>
                      <a:rPr lang="en-US" altLang="zh-CN" i="1" dirty="0" smtClean="0">
                        <a:latin typeface="Cambria Math" panose="02040503050406030204" pitchFamily="18" charset="0"/>
                      </a:rPr>
                      <m:t>𝑓</m:t>
                    </m:r>
                    <m:r>
                      <a:rPr lang="en-US" altLang="zh-CN" i="1" dirty="0" smtClean="0">
                        <a:latin typeface="Cambria Math" panose="02040503050406030204" pitchFamily="18" charset="0"/>
                      </a:rPr>
                      <m:t>[</m:t>
                    </m:r>
                    <m:r>
                      <a:rPr lang="en-US" altLang="zh-CN" i="1" dirty="0" err="1" smtClean="0">
                        <a:latin typeface="Cambria Math" panose="02040503050406030204" pitchFamily="18" charset="0"/>
                      </a:rPr>
                      <m:t>𝑖</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𝑗</m:t>
                    </m:r>
                    <m:r>
                      <a:rPr lang="en-US" altLang="zh-CN" i="1" dirty="0" smtClean="0">
                        <a:latin typeface="Cambria Math" panose="02040503050406030204" pitchFamily="18" charset="0"/>
                      </a:rPr>
                      <m:t>]</m:t>
                    </m:r>
                  </m:oMath>
                </a14:m>
                <a:r>
                  <a:rPr lang="zh-CN" altLang="en-US" dirty="0"/>
                  <a:t>表示第</a:t>
                </a:r>
                <a14:m>
                  <m:oMath xmlns:m="http://schemas.openxmlformats.org/officeDocument/2006/math">
                    <m:r>
                      <a:rPr lang="en-US" altLang="zh-CN" i="1" dirty="0" smtClean="0">
                        <a:latin typeface="Cambria Math" panose="02040503050406030204" pitchFamily="18" charset="0"/>
                      </a:rPr>
                      <m:t>𝑖</m:t>
                    </m:r>
                  </m:oMath>
                </a14:m>
                <a:r>
                  <a:rPr lang="zh-CN" altLang="en-US" dirty="0"/>
                  <a:t>个块到第</a:t>
                </a:r>
                <a14:m>
                  <m:oMath xmlns:m="http://schemas.openxmlformats.org/officeDocument/2006/math">
                    <m:r>
                      <a:rPr lang="en-US" altLang="zh-CN" i="1" dirty="0" smtClean="0">
                        <a:latin typeface="Cambria Math" panose="02040503050406030204" pitchFamily="18" charset="0"/>
                      </a:rPr>
                      <m:t>𝑗</m:t>
                    </m:r>
                  </m:oMath>
                </a14:m>
                <a:r>
                  <a:rPr lang="zh-CN" altLang="en-US" dirty="0"/>
                  <a:t>个块的重要度最大值，因为指针移动时，最大值只会变大，所以这个也可以在</a:t>
                </a:r>
                <a14:m>
                  <m:oMath xmlns:m="http://schemas.openxmlformats.org/officeDocument/2006/math">
                    <m:r>
                      <a:rPr lang="en-US" altLang="zh-CN" i="1" dirty="0" smtClean="0">
                        <a:latin typeface="Cambria Math" panose="02040503050406030204" pitchFamily="18" charset="0"/>
                      </a:rPr>
                      <m:t>𝑂</m:t>
                    </m:r>
                    <m:r>
                      <a:rPr lang="en-US" altLang="zh-CN" i="1" dirty="0" smtClean="0">
                        <a:latin typeface="Cambria Math" panose="02040503050406030204" pitchFamily="18" charset="0"/>
                      </a:rPr>
                      <m:t>(</m:t>
                    </m:r>
                    <m:r>
                      <a:rPr lang="en-US" altLang="zh-CN" b="0" i="1" dirty="0" smtClean="0">
                        <a:latin typeface="Cambria Math" panose="02040503050406030204" pitchFamily="18" charset="0"/>
                      </a:rPr>
                      <m:t>𝑛</m:t>
                    </m:r>
                    <m:rad>
                      <m:radPr>
                        <m:degHide m:val="on"/>
                        <m:ctrlPr>
                          <a:rPr lang="en-US" altLang="zh-CN" b="0" i="1" dirty="0" smtClean="0">
                            <a:latin typeface="Cambria Math"/>
                          </a:rPr>
                        </m:ctrlPr>
                      </m:radPr>
                      <m:deg/>
                      <m:e>
                        <m:r>
                          <a:rPr lang="en-US" altLang="zh-CN" b="0" i="1" dirty="0" smtClean="0">
                            <a:latin typeface="Cambria Math" panose="02040503050406030204" pitchFamily="18" charset="0"/>
                          </a:rPr>
                          <m:t>𝑛</m:t>
                        </m:r>
                      </m:e>
                    </m:rad>
                    <m:r>
                      <a:rPr lang="en-US" altLang="zh-CN" i="1" dirty="0" smtClean="0">
                        <a:latin typeface="Cambria Math" panose="02040503050406030204" pitchFamily="18" charset="0"/>
                      </a:rPr>
                      <m:t>)</m:t>
                    </m:r>
                  </m:oMath>
                </a14:m>
                <a:r>
                  <a:rPr lang="zh-CN" altLang="en-US" dirty="0"/>
                  <a:t>的时间内解决。</a:t>
                </a:r>
                <a:endParaRPr lang="en-US" altLang="zh-CN" dirty="0"/>
              </a:p>
              <a:p>
                <a:r>
                  <a:rPr lang="zh-CN" altLang="en-US" dirty="0"/>
                  <a:t>查询时如果</a:t>
                </a:r>
                <a14:m>
                  <m:oMath xmlns:m="http://schemas.openxmlformats.org/officeDocument/2006/math">
                    <m:r>
                      <a:rPr lang="en-US" altLang="zh-CN" i="1" dirty="0" smtClean="0">
                        <a:latin typeface="Cambria Math" panose="02040503050406030204" pitchFamily="18" charset="0"/>
                      </a:rPr>
                      <m:t>𝑙</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𝑟</m:t>
                    </m:r>
                  </m:oMath>
                </a14:m>
                <a:r>
                  <a:rPr lang="zh-CN" altLang="en-US" dirty="0"/>
                  <a:t>在一个块内，暴力搞。如果不在一个块，就先把</a:t>
                </a:r>
                <a14:m>
                  <m:oMath xmlns:m="http://schemas.openxmlformats.org/officeDocument/2006/math">
                    <m:r>
                      <a:rPr lang="en-US" altLang="zh-CN" i="1" dirty="0" smtClean="0">
                        <a:latin typeface="Cambria Math" panose="02040503050406030204" pitchFamily="18" charset="0"/>
                      </a:rPr>
                      <m:t>𝑙</m:t>
                    </m:r>
                  </m:oMath>
                </a14:m>
                <a:r>
                  <a:rPr lang="zh-CN" altLang="en-US" dirty="0"/>
                  <a:t>的后一个块和</a:t>
                </a:r>
                <a14:m>
                  <m:oMath xmlns:m="http://schemas.openxmlformats.org/officeDocument/2006/math">
                    <m:r>
                      <a:rPr lang="en-US" altLang="zh-CN" i="1" dirty="0" smtClean="0">
                        <a:latin typeface="Cambria Math" panose="02040503050406030204" pitchFamily="18" charset="0"/>
                      </a:rPr>
                      <m:t>𝑟</m:t>
                    </m:r>
                  </m:oMath>
                </a14:m>
                <a:r>
                  <a:rPr lang="zh-CN" altLang="en-US" dirty="0"/>
                  <a:t>的前一个块的最大值取出来，然后移动两边的指针算答案。因为维护了</a:t>
                </a:r>
                <a14:m>
                  <m:oMath xmlns:m="http://schemas.openxmlformats.org/officeDocument/2006/math">
                    <m:r>
                      <a:rPr lang="en-US" altLang="zh-CN" i="1" dirty="0" smtClean="0">
                        <a:latin typeface="Cambria Math" panose="02040503050406030204" pitchFamily="18" charset="0"/>
                      </a:rPr>
                      <m:t>𝑤</m:t>
                    </m:r>
                  </m:oMath>
                </a14:m>
                <a:r>
                  <a:rPr lang="zh-CN" altLang="en-US" dirty="0"/>
                  <a:t>数组（相当于是块的前缀和），我们移动指针时将遇到的数加入桶中，可以</a:t>
                </a:r>
                <a14:m>
                  <m:oMath xmlns:m="http://schemas.openxmlformats.org/officeDocument/2006/math">
                    <m:r>
                      <a:rPr lang="en-US" altLang="zh-CN" i="1" dirty="0" smtClean="0">
                        <a:latin typeface="Cambria Math" panose="02040503050406030204" pitchFamily="18" charset="0"/>
                      </a:rPr>
                      <m:t>𝑂</m:t>
                    </m:r>
                    <m:r>
                      <a:rPr lang="en-US" altLang="zh-CN" i="1" dirty="0" smtClean="0">
                        <a:latin typeface="Cambria Math" panose="02040503050406030204" pitchFamily="18" charset="0"/>
                      </a:rPr>
                      <m:t>(1)</m:t>
                    </m:r>
                  </m:oMath>
                </a14:m>
                <a:r>
                  <a:rPr lang="zh-CN" altLang="en-US" dirty="0"/>
                  <a:t>得到每个数的出现次数，即时更新最大值就好了。</a:t>
                </a:r>
              </a:p>
            </p:txBody>
          </p:sp>
        </mc:Choice>
        <mc:Fallback xmlns="">
          <p:sp>
            <p:nvSpPr>
              <p:cNvPr id="3" name="内容占位符 2">
                <a:extLst>
                  <a:ext uri="{FF2B5EF4-FFF2-40B4-BE49-F238E27FC236}">
                    <a16:creationId xmlns:a16="http://schemas.microsoft.com/office/drawing/2014/main" id="{E4D150D0-ABEE-43E8-AE59-FB087CDA123A}"/>
                  </a:ext>
                </a:extLst>
              </p:cNvPr>
              <p:cNvSpPr>
                <a:spLocks noGrp="1" noRot="1" noChangeAspect="1" noMove="1" noResize="1" noEditPoints="1" noAdjustHandles="1" noChangeArrowheads="1" noChangeShapeType="1" noTextEdit="1"/>
              </p:cNvSpPr>
              <p:nvPr>
                <p:ph idx="1"/>
              </p:nvPr>
            </p:nvSpPr>
            <p:spPr>
              <a:blipFill>
                <a:blip r:embed="rId2"/>
                <a:stretch>
                  <a:fillRect l="-341" t="-116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15214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31BE08F9-7D08-42D9-9933-C642F7C0D9C7}"/>
              </a:ext>
            </a:extLst>
          </p:cNvPr>
          <p:cNvSpPr>
            <a:spLocks noGrp="1"/>
          </p:cNvSpPr>
          <p:nvPr>
            <p:ph type="title"/>
          </p:nvPr>
        </p:nvSpPr>
        <p:spPr/>
        <p:txBody>
          <a:bodyPr/>
          <a:lstStyle/>
          <a:p>
            <a:r>
              <a:rPr lang="en-US" altLang="zh-CN" dirty="0"/>
              <a:t>SHOI2006 Homework</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xmlns="" id="{163C8309-DCA7-4180-AAED-D0496A4CC3E6}"/>
                  </a:ext>
                </a:extLst>
              </p:cNvPr>
              <p:cNvSpPr>
                <a:spLocks noGrp="1"/>
              </p:cNvSpPr>
              <p:nvPr>
                <p:ph idx="1"/>
              </p:nvPr>
            </p:nvSpPr>
            <p:spPr/>
            <p:txBody>
              <a:bodyPr/>
              <a:lstStyle/>
              <a:p>
                <a:r>
                  <a:rPr lang="zh-CN" altLang="en-US" dirty="0"/>
                  <a:t>给一个空集合，询问为两个操作。操作一为加入一个数，保证数不重复。操作二为给定一个数</a:t>
                </a:r>
                <a14:m>
                  <m:oMath xmlns:m="http://schemas.openxmlformats.org/officeDocument/2006/math">
                    <m:r>
                      <a:rPr lang="en-US" altLang="zh-CN" b="0" i="1" smtClean="0">
                        <a:latin typeface="Cambria Math" panose="02040503050406030204" pitchFamily="18" charset="0"/>
                      </a:rPr>
                      <m:t>𝑌</m:t>
                    </m:r>
                    <m:r>
                      <a:rPr lang="zh-CN" altLang="en-US" i="1">
                        <a:latin typeface="Cambria Math" panose="02040503050406030204" pitchFamily="18" charset="0"/>
                      </a:rPr>
                      <m:t>，</m:t>
                    </m:r>
                  </m:oMath>
                </a14:m>
                <a:r>
                  <a:rPr lang="zh-CN" altLang="en-US" dirty="0"/>
                  <a:t>询问当前集合中膜</a:t>
                </a:r>
                <a14:m>
                  <m:oMath xmlns:m="http://schemas.openxmlformats.org/officeDocument/2006/math">
                    <m:r>
                      <m:rPr>
                        <m:sty m:val="p"/>
                      </m:rPr>
                      <a:rPr lang="en-US" altLang="zh-CN" i="1" dirty="0">
                        <a:latin typeface="Cambria Math" panose="02040503050406030204" pitchFamily="18" charset="0"/>
                      </a:rPr>
                      <m:t>Y</m:t>
                    </m:r>
                  </m:oMath>
                </a14:m>
                <a:r>
                  <a:rPr lang="zh-CN" altLang="en-US" dirty="0"/>
                  <a:t>的最小值。</a:t>
                </a:r>
                <a:endParaRPr lang="en-US" altLang="zh-CN" dirty="0"/>
              </a:p>
              <a:p>
                <a:endParaRPr lang="en-US" altLang="zh-CN" dirty="0"/>
              </a:p>
              <a:p>
                <a:r>
                  <a:rPr lang="zh-CN" altLang="en-US" dirty="0"/>
                  <a:t>分类讨论，膜数</a:t>
                </a:r>
                <a14:m>
                  <m:oMath xmlns:m="http://schemas.openxmlformats.org/officeDocument/2006/math">
                    <m:r>
                      <a:rPr lang="en-US" altLang="zh-CN" b="0" i="1" smtClean="0">
                        <a:latin typeface="Cambria Math" panose="02040503050406030204" pitchFamily="18" charset="0"/>
                      </a:rPr>
                      <m:t>≤</m:t>
                    </m:r>
                    <m:rad>
                      <m:radPr>
                        <m:degHide m:val="on"/>
                        <m:ctrlPr>
                          <a:rPr lang="en-US" altLang="zh-CN" b="0" i="1" smtClean="0">
                            <a:latin typeface="Cambria Math"/>
                          </a:rPr>
                        </m:ctrlPr>
                      </m:radPr>
                      <m:deg/>
                      <m:e>
                        <m:r>
                          <a:rPr lang="en-US" altLang="zh-CN" b="0" i="1" smtClean="0">
                            <a:latin typeface="Cambria Math" panose="02040503050406030204" pitchFamily="18" charset="0"/>
                          </a:rPr>
                          <m:t>𝑚𝑎𝑥</m:t>
                        </m:r>
                      </m:e>
                    </m:rad>
                  </m:oMath>
                </a14:m>
                <a:r>
                  <a:rPr lang="zh-CN" altLang="en-US" dirty="0"/>
                  <a:t>和膜数</a:t>
                </a:r>
                <a14:m>
                  <m:oMath xmlns:m="http://schemas.openxmlformats.org/officeDocument/2006/math">
                    <m:r>
                      <a:rPr lang="en-US" altLang="zh-CN" b="0" i="1" smtClean="0">
                        <a:latin typeface="Cambria Math" panose="02040503050406030204" pitchFamily="18" charset="0"/>
                      </a:rPr>
                      <m:t>&gt;</m:t>
                    </m:r>
                    <m:rad>
                      <m:radPr>
                        <m:degHide m:val="on"/>
                        <m:ctrlPr>
                          <a:rPr lang="en-US" altLang="zh-CN" b="0" i="1" smtClean="0">
                            <a:latin typeface="Cambria Math"/>
                          </a:rPr>
                        </m:ctrlPr>
                      </m:radPr>
                      <m:deg/>
                      <m:e>
                        <m:r>
                          <a:rPr lang="en-US" altLang="zh-CN" b="0" i="1" smtClean="0">
                            <a:latin typeface="Cambria Math" panose="02040503050406030204" pitchFamily="18" charset="0"/>
                          </a:rPr>
                          <m:t>𝑚𝑎𝑥</m:t>
                        </m:r>
                      </m:e>
                    </m:rad>
                  </m:oMath>
                </a14:m>
                <a:r>
                  <a:rPr lang="zh-CN" altLang="en-US" dirty="0"/>
                  <a:t>两种情况。第一种情况直接在加入一个数以后暴力维护即可。第二种情况，</a:t>
                </a:r>
                <a14:m>
                  <m:oMath xmlns:m="http://schemas.openxmlformats.org/officeDocument/2006/math">
                    <m:f>
                      <m:fPr>
                        <m:ctrlPr>
                          <a:rPr lang="en-US" altLang="zh-CN" b="0" i="1" smtClean="0">
                            <a:latin typeface="Cambria Math"/>
                          </a:rPr>
                        </m:ctrlPr>
                      </m:fPr>
                      <m:num>
                        <m:r>
                          <a:rPr lang="en-US" altLang="zh-CN" b="0" i="1" smtClean="0">
                            <a:latin typeface="Cambria Math" panose="02040503050406030204" pitchFamily="18" charset="0"/>
                          </a:rPr>
                          <m:t>𝑚𝑎𝑥</m:t>
                        </m:r>
                      </m:num>
                      <m:den>
                        <m:r>
                          <a:rPr lang="en-US" altLang="zh-CN" b="0" i="1" smtClean="0">
                            <a:latin typeface="Cambria Math" panose="02040503050406030204" pitchFamily="18" charset="0"/>
                          </a:rPr>
                          <m:t>𝑚𝑜𝑑</m:t>
                        </m:r>
                      </m:den>
                    </m:f>
                    <m:r>
                      <a:rPr lang="en-US" altLang="zh-CN" b="0" i="1" smtClean="0">
                        <a:latin typeface="Cambria Math" panose="02040503050406030204" pitchFamily="18" charset="0"/>
                      </a:rPr>
                      <m:t>&lt;</m:t>
                    </m:r>
                    <m:rad>
                      <m:radPr>
                        <m:degHide m:val="on"/>
                        <m:ctrlPr>
                          <a:rPr lang="en-US" altLang="zh-CN" b="0" i="1" smtClean="0">
                            <a:latin typeface="Cambria Math"/>
                          </a:rPr>
                        </m:ctrlPr>
                      </m:radPr>
                      <m:deg/>
                      <m:e>
                        <m:r>
                          <a:rPr lang="en-US" altLang="zh-CN" b="0" i="1" smtClean="0">
                            <a:latin typeface="Cambria Math" panose="02040503050406030204" pitchFamily="18" charset="0"/>
                          </a:rPr>
                          <m:t>𝑚𝑎𝑥</m:t>
                        </m:r>
                      </m:e>
                    </m:rad>
                  </m:oMath>
                </a14:m>
                <a:r>
                  <a:rPr lang="zh-CN" altLang="en-US" dirty="0"/>
                  <a:t>，那么我们可以直接查询</a:t>
                </a:r>
                <a14:m>
                  <m:oMath xmlns:m="http://schemas.openxmlformats.org/officeDocument/2006/math">
                    <m:r>
                      <a:rPr lang="en-US" altLang="zh-CN" b="0" i="1" smtClean="0">
                        <a:latin typeface="Cambria Math" panose="02040503050406030204" pitchFamily="18" charset="0"/>
                      </a:rPr>
                      <m:t>≥</m:t>
                    </m:r>
                    <m:r>
                      <a:rPr lang="en-US" altLang="zh-CN" b="0" i="1" smtClean="0">
                        <a:latin typeface="Cambria Math" panose="02040503050406030204" pitchFamily="18" charset="0"/>
                      </a:rPr>
                      <m:t>𝑘</m:t>
                    </m:r>
                    <m:r>
                      <a:rPr lang="en-US" altLang="zh-CN" b="0" i="1" smtClean="0">
                        <a:latin typeface="Cambria Math" panose="02040503050406030204" pitchFamily="18" charset="0"/>
                      </a:rPr>
                      <m:t>∗</m:t>
                    </m:r>
                    <m:r>
                      <a:rPr lang="en-US" altLang="zh-CN" b="0" i="1" smtClean="0">
                        <a:latin typeface="Cambria Math" panose="02040503050406030204" pitchFamily="18" charset="0"/>
                      </a:rPr>
                      <m:t>𝑚𝑜𝑑</m:t>
                    </m:r>
                  </m:oMath>
                </a14:m>
                <a:r>
                  <a:rPr lang="zh-CN" altLang="en-US" dirty="0"/>
                  <a:t>的最小的数（</a:t>
                </a:r>
                <a14:m>
                  <m:oMath xmlns:m="http://schemas.openxmlformats.org/officeDocument/2006/math">
                    <m:r>
                      <a:rPr lang="en-US" altLang="zh-CN" b="0" i="1" smtClean="0">
                        <a:latin typeface="Cambria Math" panose="02040503050406030204" pitchFamily="18" charset="0"/>
                      </a:rPr>
                      <m:t>𝑘</m:t>
                    </m:r>
                    <m:r>
                      <a:rPr lang="en-US" altLang="zh-CN" b="0" i="1" smtClean="0">
                        <a:latin typeface="Cambria Math" panose="02040503050406030204" pitchFamily="18" charset="0"/>
                      </a:rPr>
                      <m:t>&lt;</m:t>
                    </m:r>
                    <m:rad>
                      <m:radPr>
                        <m:degHide m:val="on"/>
                        <m:ctrlPr>
                          <a:rPr lang="en-US" altLang="zh-CN" b="0" i="1" smtClean="0">
                            <a:latin typeface="Cambria Math"/>
                          </a:rPr>
                        </m:ctrlPr>
                      </m:radPr>
                      <m:deg/>
                      <m:e>
                        <m:r>
                          <a:rPr lang="en-US" altLang="zh-CN" b="0" i="1" smtClean="0">
                            <a:latin typeface="Cambria Math" panose="02040503050406030204" pitchFamily="18" charset="0"/>
                          </a:rPr>
                          <m:t>𝑚𝑎𝑥</m:t>
                        </m:r>
                      </m:e>
                    </m:rad>
                  </m:oMath>
                </a14:m>
                <a:r>
                  <a:rPr lang="zh-CN" altLang="en-US" dirty="0"/>
                  <a:t>）。现在的瓶颈在于第二种情况的查询操作。</a:t>
                </a:r>
                <a:endParaRPr lang="en-US" altLang="zh-CN" dirty="0"/>
              </a:p>
              <a:p>
                <a:r>
                  <a:rPr lang="zh-CN" altLang="en-US" dirty="0"/>
                  <a:t>按值域分块维护</a:t>
                </a:r>
                <a14:m>
                  <m:oMath xmlns:m="http://schemas.openxmlformats.org/officeDocument/2006/math">
                    <m:r>
                      <a:rPr lang="en-US" altLang="zh-CN" b="0" i="1" smtClean="0">
                        <a:latin typeface="Cambria Math" panose="02040503050406030204" pitchFamily="18" charset="0"/>
                      </a:rPr>
                      <m:t>≥</m:t>
                    </m:r>
                    <m:r>
                      <a:rPr lang="en-US" altLang="zh-CN" b="0" i="1" smtClean="0">
                        <a:latin typeface="Cambria Math" panose="02040503050406030204" pitchFamily="18" charset="0"/>
                      </a:rPr>
                      <m:t>𝑖</m:t>
                    </m:r>
                  </m:oMath>
                </a14:m>
                <a:r>
                  <a:rPr lang="zh-CN" altLang="en-US" dirty="0"/>
                  <a:t>的数中最小的数。记</a:t>
                </a:r>
                <a14:m>
                  <m:oMath xmlns:m="http://schemas.openxmlformats.org/officeDocument/2006/math">
                    <m:r>
                      <a:rPr lang="en-US" altLang="zh-CN" b="0" i="1" smtClean="0">
                        <a:latin typeface="Cambria Math" panose="02040503050406030204" pitchFamily="18" charset="0"/>
                      </a:rPr>
                      <m:t>𝑚𝑥</m:t>
                    </m:r>
                    <m:r>
                      <a:rPr lang="en-US" altLang="zh-CN" b="0" i="1" smtClean="0">
                        <a:latin typeface="Cambria Math" panose="02040503050406030204" pitchFamily="18" charset="0"/>
                      </a:rPr>
                      <m:t>1[</m:t>
                    </m:r>
                    <m:r>
                      <a:rPr lang="en-US" altLang="zh-CN" b="0" i="1" smtClean="0">
                        <a:latin typeface="Cambria Math" panose="02040503050406030204" pitchFamily="18" charset="0"/>
                      </a:rPr>
                      <m:t>𝑖</m:t>
                    </m:r>
                    <m:r>
                      <a:rPr lang="en-US" altLang="zh-CN" b="0" i="1" smtClean="0">
                        <a:latin typeface="Cambria Math" panose="02040503050406030204" pitchFamily="18" charset="0"/>
                      </a:rPr>
                      <m:t>]</m:t>
                    </m:r>
                  </m:oMath>
                </a14:m>
                <a:r>
                  <a:rPr lang="zh-CN" altLang="en-US" dirty="0"/>
                  <a:t>表示从第</a:t>
                </a:r>
                <a14:m>
                  <m:oMath xmlns:m="http://schemas.openxmlformats.org/officeDocument/2006/math">
                    <m:r>
                      <a:rPr lang="en-US" altLang="zh-CN" i="1" dirty="0" smtClean="0">
                        <a:latin typeface="Cambria Math" panose="02040503050406030204" pitchFamily="18" charset="0"/>
                      </a:rPr>
                      <m:t>𝑖</m:t>
                    </m:r>
                  </m:oMath>
                </a14:m>
                <a:r>
                  <a:rPr lang="zh-CN" altLang="en-US" dirty="0"/>
                  <a:t>个块开始，之后所有块的最小值；</a:t>
                </a:r>
                <a14:m>
                  <m:oMath xmlns:m="http://schemas.openxmlformats.org/officeDocument/2006/math">
                    <m:r>
                      <a:rPr lang="en-US" altLang="zh-CN" i="1" dirty="0" smtClean="0">
                        <a:latin typeface="Cambria Math" panose="02040503050406030204" pitchFamily="18" charset="0"/>
                      </a:rPr>
                      <m:t>𝑚𝑥</m:t>
                    </m:r>
                    <m:r>
                      <a:rPr lang="en-US" altLang="zh-CN" i="1" dirty="0" smtClean="0">
                        <a:latin typeface="Cambria Math" panose="02040503050406030204" pitchFamily="18" charset="0"/>
                      </a:rPr>
                      <m:t>2[</m:t>
                    </m:r>
                    <m:r>
                      <a:rPr lang="en-US" altLang="zh-CN" i="1" dirty="0" err="1" smtClean="0">
                        <a:latin typeface="Cambria Math" panose="02040503050406030204" pitchFamily="18" charset="0"/>
                      </a:rPr>
                      <m:t>𝑖</m:t>
                    </m:r>
                    <m:r>
                      <a:rPr lang="en-US" altLang="zh-CN" i="1" dirty="0" smtClean="0">
                        <a:latin typeface="Cambria Math" panose="02040503050406030204" pitchFamily="18" charset="0"/>
                      </a:rPr>
                      <m:t>]</m:t>
                    </m:r>
                  </m:oMath>
                </a14:m>
                <a:r>
                  <a:rPr lang="zh-CN" altLang="en-US" dirty="0"/>
                  <a:t>表示从第</a:t>
                </a:r>
                <a14:m>
                  <m:oMath xmlns:m="http://schemas.openxmlformats.org/officeDocument/2006/math">
                    <m:r>
                      <a:rPr lang="en-US" altLang="zh-CN" i="1" dirty="0" smtClean="0">
                        <a:latin typeface="Cambria Math" panose="02040503050406030204" pitchFamily="18" charset="0"/>
                      </a:rPr>
                      <m:t>𝑖</m:t>
                    </m:r>
                  </m:oMath>
                </a14:m>
                <a:r>
                  <a:rPr lang="zh-CN" altLang="en-US" dirty="0"/>
                  <a:t>个数开始，这个块的最小值。不难发现修改是根号级别的；每次询问查询</a:t>
                </a:r>
                <a14:m>
                  <m:oMath xmlns:m="http://schemas.openxmlformats.org/officeDocument/2006/math">
                    <m:r>
                      <a:rPr lang="en-US" altLang="zh-CN" i="1" dirty="0" smtClean="0">
                        <a:latin typeface="Cambria Math" panose="02040503050406030204" pitchFamily="18" charset="0"/>
                      </a:rPr>
                      <m:t>𝑘</m:t>
                    </m:r>
                  </m:oMath>
                </a14:m>
                <a:r>
                  <a:rPr lang="zh-CN" altLang="en-US" dirty="0"/>
                  <a:t>次，所以复杂度也是根号级别的。</a:t>
                </a:r>
                <a:endParaRPr lang="en-US" altLang="zh-CN" dirty="0"/>
              </a:p>
            </p:txBody>
          </p:sp>
        </mc:Choice>
        <mc:Fallback xmlns="">
          <p:sp>
            <p:nvSpPr>
              <p:cNvPr id="3" name="内容占位符 2">
                <a:extLst>
                  <a:ext uri="{FF2B5EF4-FFF2-40B4-BE49-F238E27FC236}">
                    <a16:creationId xmlns:a16="http://schemas.microsoft.com/office/drawing/2014/main" id="{163C8309-DCA7-4180-AAED-D0496A4CC3E6}"/>
                  </a:ext>
                </a:extLst>
              </p:cNvPr>
              <p:cNvSpPr>
                <a:spLocks noGrp="1" noRot="1" noChangeAspect="1" noMove="1" noResize="1" noEditPoints="1" noAdjustHandles="1" noChangeArrowheads="1" noChangeShapeType="1" noTextEdit="1"/>
              </p:cNvSpPr>
              <p:nvPr>
                <p:ph idx="1"/>
              </p:nvPr>
            </p:nvSpPr>
            <p:spPr>
              <a:blipFill>
                <a:blip r:embed="rId2"/>
                <a:stretch>
                  <a:fillRect l="-341" t="-872" r="-40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64576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C8F59A4F-3FD2-4128-8926-03A3FE802B86}"/>
              </a:ext>
            </a:extLst>
          </p:cNvPr>
          <p:cNvSpPr>
            <a:spLocks noGrp="1"/>
          </p:cNvSpPr>
          <p:nvPr>
            <p:ph type="title"/>
          </p:nvPr>
        </p:nvSpPr>
        <p:spPr/>
        <p:txBody>
          <a:bodyPr/>
          <a:lstStyle/>
          <a:p>
            <a:r>
              <a:rPr lang="zh-CN" altLang="en-US" dirty="0"/>
              <a:t>莫队</a:t>
            </a:r>
          </a:p>
        </p:txBody>
      </p:sp>
      <p:sp>
        <p:nvSpPr>
          <p:cNvPr id="3" name="内容占位符 2">
            <a:extLst>
              <a:ext uri="{FF2B5EF4-FFF2-40B4-BE49-F238E27FC236}">
                <a16:creationId xmlns:a16="http://schemas.microsoft.com/office/drawing/2014/main" xmlns="" id="{38CB40D3-FB54-4935-B450-15BD8BC9032F}"/>
              </a:ext>
            </a:extLst>
          </p:cNvPr>
          <p:cNvSpPr>
            <a:spLocks noGrp="1"/>
          </p:cNvSpPr>
          <p:nvPr>
            <p:ph idx="1"/>
          </p:nvPr>
        </p:nvSpPr>
        <p:spPr>
          <a:xfrm>
            <a:off x="1103312" y="1853248"/>
            <a:ext cx="8946541" cy="4395151"/>
          </a:xfrm>
        </p:spPr>
        <p:txBody>
          <a:bodyPr>
            <a:normAutofit/>
          </a:bodyPr>
          <a:lstStyle/>
          <a:p>
            <a:r>
              <a:rPr lang="zh-CN" altLang="en-US" dirty="0"/>
              <a:t>小</a:t>
            </a:r>
            <a:r>
              <a:rPr lang="en-US" altLang="zh-CN" dirty="0"/>
              <a:t>z</a:t>
            </a:r>
            <a:r>
              <a:rPr lang="zh-CN" altLang="en-US" dirty="0"/>
              <a:t>的袜子</a:t>
            </a:r>
          </a:p>
          <a:p>
            <a:r>
              <a:rPr lang="zh-CN" altLang="en-US" dirty="0"/>
              <a:t>区间询问</a:t>
            </a:r>
            <a:r>
              <a:rPr lang="en-US" altLang="zh-CN" dirty="0"/>
              <a:t>[</a:t>
            </a:r>
            <a:r>
              <a:rPr lang="en-US" altLang="zh-CN" dirty="0" err="1"/>
              <a:t>l,r</a:t>
            </a:r>
            <a:r>
              <a:rPr lang="en-US" altLang="zh-CN" dirty="0"/>
              <a:t>]</a:t>
            </a:r>
            <a:r>
              <a:rPr lang="zh-CN" altLang="en-US" dirty="0"/>
              <a:t>，输出该区间内随机抽两次抽到相同袜子的概率。</a:t>
            </a:r>
          </a:p>
          <a:p>
            <a:r>
              <a:rPr lang="zh-CN" altLang="en-US" dirty="0"/>
              <a:t>假设区间</a:t>
            </a:r>
            <a:r>
              <a:rPr lang="en-US" altLang="zh-CN" dirty="0"/>
              <a:t>[</a:t>
            </a:r>
            <a:r>
              <a:rPr lang="en-US" altLang="zh-CN" dirty="0" err="1"/>
              <a:t>l,r</a:t>
            </a:r>
            <a:r>
              <a:rPr lang="en-US" altLang="zh-CN" dirty="0"/>
              <a:t>]</a:t>
            </a:r>
            <a:r>
              <a:rPr lang="zh-CN" altLang="en-US" dirty="0"/>
              <a:t>共有</a:t>
            </a:r>
            <a:r>
              <a:rPr lang="en-US" altLang="zh-CN" dirty="0"/>
              <a:t>m</a:t>
            </a:r>
            <a:r>
              <a:rPr lang="zh-CN" altLang="en-US" dirty="0"/>
              <a:t>只袜子，每种袜子数量分别为</a:t>
            </a:r>
            <a:r>
              <a:rPr lang="en-US" altLang="zh-CN" dirty="0"/>
              <a:t>sum[1],sum[2],...,sum[k]</a:t>
            </a:r>
            <a:r>
              <a:rPr lang="zh-CN" altLang="en-US" dirty="0"/>
              <a:t>，那么答案就是</a:t>
            </a:r>
            <a:r>
              <a:rPr lang="en-US" altLang="zh-CN" dirty="0"/>
              <a:t>(sum[1]*(sum[1]-1)+sum[2]*(sum[2]-1)+...+sum[k]*(sum[k]-1))/(m*(m-1))</a:t>
            </a:r>
            <a:r>
              <a:rPr lang="zh-CN" altLang="en-US" dirty="0"/>
              <a:t>。</a:t>
            </a:r>
          </a:p>
          <a:p>
            <a:r>
              <a:rPr lang="zh-CN" altLang="en-US" dirty="0"/>
              <a:t>设左右指针分别为</a:t>
            </a:r>
            <a:r>
              <a:rPr lang="en-US" altLang="zh-CN" dirty="0"/>
              <a:t>L,R</a:t>
            </a:r>
            <a:r>
              <a:rPr lang="zh-CN" altLang="en-US" dirty="0"/>
              <a:t>。如果题目无修，离线，且每次移动指针修改答案为</a:t>
            </a:r>
            <a:r>
              <a:rPr lang="en-US" altLang="zh-CN" dirty="0"/>
              <a:t>O(1)</a:t>
            </a:r>
            <a:r>
              <a:rPr lang="zh-CN" altLang="en-US" dirty="0"/>
              <a:t>，那么我们就能用莫队做到</a:t>
            </a:r>
            <a:r>
              <a:rPr lang="en-US" altLang="zh-CN" dirty="0"/>
              <a:t>O((</a:t>
            </a:r>
            <a:r>
              <a:rPr lang="en-US" altLang="zh-CN" dirty="0" err="1"/>
              <a:t>n+m</a:t>
            </a:r>
            <a:r>
              <a:rPr lang="en-US" altLang="zh-CN" dirty="0"/>
              <a:t>)sqrt(n))</a:t>
            </a:r>
            <a:r>
              <a:rPr lang="zh-CN" altLang="en-US" dirty="0"/>
              <a:t>。</a:t>
            </a:r>
          </a:p>
          <a:p>
            <a:r>
              <a:rPr lang="zh-CN" altLang="en-US" dirty="0"/>
              <a:t>把询问排序。先把序列分块，然后把询问按照左端点块编号和右端点位置排序。对于新顺序的每个询问，直接暴力移动指针更新答案。</a:t>
            </a:r>
          </a:p>
        </p:txBody>
      </p:sp>
    </p:spTree>
    <p:extLst>
      <p:ext uri="{BB962C8B-B14F-4D97-AF65-F5344CB8AC3E}">
        <p14:creationId xmlns:p14="http://schemas.microsoft.com/office/powerpoint/2010/main" val="2127602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53AEB3D5-2FDE-40CF-B63E-0EA128ABA0E2}"/>
              </a:ext>
            </a:extLst>
          </p:cNvPr>
          <p:cNvSpPr>
            <a:spLocks noGrp="1"/>
          </p:cNvSpPr>
          <p:nvPr>
            <p:ph type="title"/>
          </p:nvPr>
        </p:nvSpPr>
        <p:spPr/>
        <p:txBody>
          <a:bodyPr/>
          <a:lstStyle/>
          <a:p>
            <a:r>
              <a:rPr lang="zh-CN" altLang="en-US" dirty="0"/>
              <a:t>莫队</a:t>
            </a:r>
          </a:p>
        </p:txBody>
      </p:sp>
      <p:sp>
        <p:nvSpPr>
          <p:cNvPr id="3" name="内容占位符 2">
            <a:extLst>
              <a:ext uri="{FF2B5EF4-FFF2-40B4-BE49-F238E27FC236}">
                <a16:creationId xmlns:a16="http://schemas.microsoft.com/office/drawing/2014/main" xmlns="" id="{B2745773-722F-44B6-8CA3-0FDDEBB1F263}"/>
              </a:ext>
            </a:extLst>
          </p:cNvPr>
          <p:cNvSpPr>
            <a:spLocks noGrp="1"/>
          </p:cNvSpPr>
          <p:nvPr>
            <p:ph idx="1"/>
          </p:nvPr>
        </p:nvSpPr>
        <p:spPr/>
        <p:txBody>
          <a:bodyPr/>
          <a:lstStyle/>
          <a:p>
            <a:r>
              <a:rPr lang="zh-CN" altLang="en-US" dirty="0"/>
              <a:t>复杂度分析：左指针先在块内移动，每次移动距离不超过</a:t>
            </a:r>
            <a:r>
              <a:rPr lang="en-US" altLang="zh-CN" dirty="0"/>
              <a:t>sqrt(n)</a:t>
            </a:r>
            <a:r>
              <a:rPr lang="zh-CN" altLang="en-US" dirty="0"/>
              <a:t>；然后左指针会跨块，跨块次数不超过</a:t>
            </a:r>
            <a:r>
              <a:rPr lang="en-US" altLang="zh-CN" dirty="0"/>
              <a:t>sqrt(n)</a:t>
            </a:r>
            <a:r>
              <a:rPr lang="zh-CN" altLang="en-US" dirty="0"/>
              <a:t>；当左指针在一个块内时，右指针从前往后移，共</a:t>
            </a:r>
            <a:r>
              <a:rPr lang="en-US" altLang="zh-CN" dirty="0"/>
              <a:t>O(n)</a:t>
            </a:r>
            <a:r>
              <a:rPr lang="zh-CN" altLang="en-US" dirty="0"/>
              <a:t>。总复杂度为</a:t>
            </a:r>
            <a:r>
              <a:rPr lang="en-US" altLang="zh-CN" dirty="0"/>
              <a:t>O((</a:t>
            </a:r>
            <a:r>
              <a:rPr lang="en-US" altLang="zh-CN" dirty="0" err="1"/>
              <a:t>n+m</a:t>
            </a:r>
            <a:r>
              <a:rPr lang="en-US" altLang="zh-CN" dirty="0"/>
              <a:t>)sqrt(n))</a:t>
            </a:r>
            <a:r>
              <a:rPr lang="zh-CN" altLang="en-US" dirty="0"/>
              <a:t>。</a:t>
            </a:r>
          </a:p>
          <a:p>
            <a:endParaRPr lang="zh-CN" altLang="en-US" dirty="0"/>
          </a:p>
        </p:txBody>
      </p:sp>
    </p:spTree>
    <p:extLst>
      <p:ext uri="{BB962C8B-B14F-4D97-AF65-F5344CB8AC3E}">
        <p14:creationId xmlns:p14="http://schemas.microsoft.com/office/powerpoint/2010/main" val="3763372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817D622A-5EEE-472D-8672-FC2B26B96BAC}"/>
              </a:ext>
            </a:extLst>
          </p:cNvPr>
          <p:cNvSpPr>
            <a:spLocks noGrp="1"/>
          </p:cNvSpPr>
          <p:nvPr>
            <p:ph type="title"/>
          </p:nvPr>
        </p:nvSpPr>
        <p:spPr/>
        <p:txBody>
          <a:bodyPr/>
          <a:lstStyle/>
          <a:p>
            <a:r>
              <a:rPr lang="en-US" altLang="zh-CN" dirty="0"/>
              <a:t>HNIOI2016 </a:t>
            </a:r>
            <a:r>
              <a:rPr lang="zh-CN" altLang="en-US" dirty="0"/>
              <a:t>大数</a:t>
            </a:r>
          </a:p>
        </p:txBody>
      </p:sp>
      <p:sp>
        <p:nvSpPr>
          <p:cNvPr id="3" name="内容占位符 2">
            <a:extLst>
              <a:ext uri="{FF2B5EF4-FFF2-40B4-BE49-F238E27FC236}">
                <a16:creationId xmlns:a16="http://schemas.microsoft.com/office/drawing/2014/main" xmlns="" id="{5B66019F-E8EF-4F5D-8388-118A5767939B}"/>
              </a:ext>
            </a:extLst>
          </p:cNvPr>
          <p:cNvSpPr>
            <a:spLocks noGrp="1"/>
          </p:cNvSpPr>
          <p:nvPr>
            <p:ph idx="1"/>
          </p:nvPr>
        </p:nvSpPr>
        <p:spPr/>
        <p:txBody>
          <a:bodyPr/>
          <a:lstStyle/>
          <a:p>
            <a:r>
              <a:rPr lang="zh-CN" altLang="en-US" dirty="0"/>
              <a:t>给一个位数为</a:t>
            </a:r>
            <a:r>
              <a:rPr lang="en-US" altLang="zh-CN" dirty="0"/>
              <a:t>n</a:t>
            </a:r>
            <a:r>
              <a:rPr lang="zh-CN" altLang="en-US" dirty="0"/>
              <a:t>的大数</a:t>
            </a:r>
            <a:r>
              <a:rPr lang="en-US" altLang="zh-CN" dirty="0"/>
              <a:t>(</a:t>
            </a:r>
            <a:r>
              <a:rPr lang="zh-CN" altLang="en-US" dirty="0"/>
              <a:t>可能有前导</a:t>
            </a:r>
            <a:r>
              <a:rPr lang="en-US" altLang="zh-CN" dirty="0"/>
              <a:t>0)</a:t>
            </a:r>
            <a:r>
              <a:rPr lang="zh-CN" altLang="en-US" dirty="0"/>
              <a:t>，再给一个小素数</a:t>
            </a:r>
            <a:r>
              <a:rPr lang="en-US" altLang="zh-CN" dirty="0"/>
              <a:t>p</a:t>
            </a:r>
            <a:r>
              <a:rPr lang="zh-CN" altLang="en-US" dirty="0"/>
              <a:t>。</a:t>
            </a:r>
            <a:r>
              <a:rPr lang="en-US" altLang="zh-CN" dirty="0"/>
              <a:t>m</a:t>
            </a:r>
            <a:r>
              <a:rPr lang="zh-CN" altLang="en-US" dirty="0"/>
              <a:t>个询问，每次询问</a:t>
            </a:r>
            <a:r>
              <a:rPr lang="en-US" altLang="zh-CN" dirty="0"/>
              <a:t>[</a:t>
            </a:r>
            <a:r>
              <a:rPr lang="en-US" altLang="zh-CN" dirty="0" err="1"/>
              <a:t>l,r</a:t>
            </a:r>
            <a:r>
              <a:rPr lang="en-US" altLang="zh-CN" dirty="0"/>
              <a:t>]</a:t>
            </a:r>
            <a:r>
              <a:rPr lang="zh-CN" altLang="en-US" dirty="0"/>
              <a:t>中有几个子串是</a:t>
            </a:r>
            <a:r>
              <a:rPr lang="en-US" altLang="zh-CN" dirty="0"/>
              <a:t>p</a:t>
            </a:r>
            <a:r>
              <a:rPr lang="zh-CN" altLang="en-US" dirty="0"/>
              <a:t>的倍数</a:t>
            </a:r>
            <a:r>
              <a:rPr lang="en-US" altLang="zh-CN" dirty="0"/>
              <a:t>(0</a:t>
            </a:r>
            <a:r>
              <a:rPr lang="zh-CN" altLang="en-US" dirty="0"/>
              <a:t>也算</a:t>
            </a:r>
            <a:r>
              <a:rPr lang="en-US" altLang="zh-CN" dirty="0"/>
              <a:t>)</a:t>
            </a:r>
            <a:r>
              <a:rPr lang="zh-CN" altLang="en-US" dirty="0"/>
              <a:t>。</a:t>
            </a:r>
          </a:p>
          <a:p>
            <a:r>
              <a:rPr lang="zh-CN" altLang="en-US" dirty="0"/>
              <a:t>经典的莫队，但是我们要预处理一下。我们预处理</a:t>
            </a:r>
            <a:r>
              <a:rPr lang="en-US" altLang="zh-CN" dirty="0"/>
              <a:t>s[</a:t>
            </a:r>
            <a:r>
              <a:rPr lang="en-US" altLang="zh-CN" dirty="0" err="1"/>
              <a:t>i</a:t>
            </a:r>
            <a:r>
              <a:rPr lang="en-US" altLang="zh-CN" dirty="0"/>
              <a:t>]</a:t>
            </a:r>
            <a:r>
              <a:rPr lang="zh-CN" altLang="en-US" dirty="0"/>
              <a:t>表示从</a:t>
            </a:r>
            <a:r>
              <a:rPr lang="en-US" altLang="zh-CN" dirty="0" err="1"/>
              <a:t>i</a:t>
            </a:r>
            <a:r>
              <a:rPr lang="zh-CN" altLang="en-US" dirty="0"/>
              <a:t>位到最后的那个数膜</a:t>
            </a:r>
            <a:r>
              <a:rPr lang="en-US" altLang="zh-CN" dirty="0"/>
              <a:t>p</a:t>
            </a:r>
            <a:r>
              <a:rPr lang="zh-CN" altLang="en-US" dirty="0"/>
              <a:t>的值，然后发现一个串</a:t>
            </a:r>
            <a:r>
              <a:rPr lang="en-US" altLang="zh-CN" dirty="0"/>
              <a:t>[</a:t>
            </a:r>
            <a:r>
              <a:rPr lang="en-US" altLang="zh-CN" dirty="0" err="1"/>
              <a:t>l,r</a:t>
            </a:r>
            <a:r>
              <a:rPr lang="en-US" altLang="zh-CN" dirty="0"/>
              <a:t>]</a:t>
            </a:r>
            <a:r>
              <a:rPr lang="zh-CN" altLang="en-US" dirty="0"/>
              <a:t>是</a:t>
            </a:r>
            <a:r>
              <a:rPr lang="en-US" altLang="zh-CN" dirty="0"/>
              <a:t>p</a:t>
            </a:r>
            <a:r>
              <a:rPr lang="zh-CN" altLang="en-US" dirty="0"/>
              <a:t>的倍数的充要条件就是</a:t>
            </a:r>
            <a:r>
              <a:rPr lang="en-US" altLang="zh-CN" dirty="0"/>
              <a:t>s[l]=s[r+1](</a:t>
            </a:r>
            <a:r>
              <a:rPr lang="zh-CN" altLang="en-US" dirty="0"/>
              <a:t>但是</a:t>
            </a:r>
            <a:r>
              <a:rPr lang="en-US" altLang="zh-CN" dirty="0"/>
              <a:t>p</a:t>
            </a:r>
            <a:r>
              <a:rPr lang="zh-CN" altLang="en-US" dirty="0"/>
              <a:t>是</a:t>
            </a:r>
            <a:r>
              <a:rPr lang="en-US" altLang="zh-CN" dirty="0"/>
              <a:t>2</a:t>
            </a:r>
            <a:r>
              <a:rPr lang="zh-CN" altLang="en-US" dirty="0"/>
              <a:t>或</a:t>
            </a:r>
            <a:r>
              <a:rPr lang="en-US" altLang="zh-CN" dirty="0"/>
              <a:t>5</a:t>
            </a:r>
            <a:r>
              <a:rPr lang="zh-CN" altLang="en-US" dirty="0"/>
              <a:t>就不成立，这两个情况特判就好</a:t>
            </a:r>
            <a:r>
              <a:rPr lang="en-US" altLang="zh-CN" dirty="0"/>
              <a:t>)</a:t>
            </a:r>
            <a:r>
              <a:rPr lang="zh-CN" altLang="en-US" dirty="0"/>
              <a:t>。</a:t>
            </a:r>
          </a:p>
          <a:p>
            <a:r>
              <a:rPr lang="zh-CN" altLang="en-US" dirty="0"/>
              <a:t>然后我们就把</a:t>
            </a:r>
            <a:r>
              <a:rPr lang="en-US" altLang="zh-CN" dirty="0"/>
              <a:t>s</a:t>
            </a:r>
            <a:r>
              <a:rPr lang="zh-CN" altLang="en-US" dirty="0"/>
              <a:t>离散化，用莫队跑一跑就好。</a:t>
            </a:r>
          </a:p>
          <a:p>
            <a:r>
              <a:rPr lang="zh-CN" altLang="en-US" dirty="0"/>
              <a:t>特判：</a:t>
            </a:r>
            <a:r>
              <a:rPr lang="en-US" altLang="zh-CN" dirty="0"/>
              <a:t>2</a:t>
            </a:r>
            <a:r>
              <a:rPr lang="zh-CN" altLang="en-US" dirty="0"/>
              <a:t>和</a:t>
            </a:r>
            <a:r>
              <a:rPr lang="en-US" altLang="zh-CN" dirty="0"/>
              <a:t>5</a:t>
            </a:r>
            <a:r>
              <a:rPr lang="zh-CN" altLang="en-US" dirty="0"/>
              <a:t>都是只看最后一位，我们根据这个性质可以直接计数</a:t>
            </a:r>
            <a:r>
              <a:rPr lang="en-US" altLang="zh-CN" dirty="0"/>
              <a:t>(</a:t>
            </a:r>
            <a:r>
              <a:rPr lang="zh-CN" altLang="en-US" dirty="0"/>
              <a:t>原题数据不存在</a:t>
            </a:r>
            <a:r>
              <a:rPr lang="en-US" altLang="zh-CN" dirty="0"/>
              <a:t>)</a:t>
            </a:r>
            <a:r>
              <a:rPr lang="zh-CN" altLang="en-US" dirty="0"/>
              <a:t>。</a:t>
            </a:r>
          </a:p>
          <a:p>
            <a:endParaRPr lang="zh-CN" altLang="en-US" dirty="0"/>
          </a:p>
        </p:txBody>
      </p:sp>
    </p:spTree>
    <p:extLst>
      <p:ext uri="{BB962C8B-B14F-4D97-AF65-F5344CB8AC3E}">
        <p14:creationId xmlns:p14="http://schemas.microsoft.com/office/powerpoint/2010/main" val="731281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5E80CA8-9B46-4CF9-8628-29C0B029D6D8}"/>
              </a:ext>
            </a:extLst>
          </p:cNvPr>
          <p:cNvSpPr>
            <a:spLocks noGrp="1"/>
          </p:cNvSpPr>
          <p:nvPr>
            <p:ph type="title"/>
          </p:nvPr>
        </p:nvSpPr>
        <p:spPr/>
        <p:txBody>
          <a:bodyPr/>
          <a:lstStyle/>
          <a:p>
            <a:r>
              <a:rPr lang="en-US" altLang="zh-CN" dirty="0"/>
              <a:t>[Ynoi2017]</a:t>
            </a:r>
            <a:r>
              <a:rPr lang="zh-CN" altLang="en-US" dirty="0"/>
              <a:t>由乃的玉米田</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xmlns="" id="{BF27D867-B434-4EFC-BFC1-73DF3A0725D3}"/>
                  </a:ext>
                </a:extLst>
              </p:cNvPr>
              <p:cNvSpPr>
                <a:spLocks noGrp="1"/>
              </p:cNvSpPr>
              <p:nvPr>
                <p:ph idx="1"/>
              </p:nvPr>
            </p:nvSpPr>
            <p:spPr/>
            <p:txBody>
              <a:bodyPr>
                <a:normAutofit/>
              </a:bodyPr>
              <a:lstStyle/>
              <a:p>
                <a:r>
                  <a:rPr lang="zh-CN" altLang="en-US" dirty="0"/>
                  <a:t>给你一个序列</a:t>
                </a:r>
                <a14:m>
                  <m:oMath xmlns:m="http://schemas.openxmlformats.org/officeDocument/2006/math">
                    <m:r>
                      <a:rPr lang="en-US" altLang="zh-CN" i="1" dirty="0" smtClean="0">
                        <a:latin typeface="Cambria Math" panose="02040503050406030204" pitchFamily="18" charset="0"/>
                      </a:rPr>
                      <m:t>𝑎</m:t>
                    </m:r>
                  </m:oMath>
                </a14:m>
                <a:r>
                  <a:rPr lang="zh-CN" altLang="en-US" dirty="0"/>
                  <a:t>，长度为</a:t>
                </a:r>
                <a14:m>
                  <m:oMath xmlns:m="http://schemas.openxmlformats.org/officeDocument/2006/math">
                    <m:r>
                      <a:rPr lang="en-US" altLang="zh-CN" i="1" dirty="0" smtClean="0">
                        <a:latin typeface="Cambria Math" panose="02040503050406030204" pitchFamily="18" charset="0"/>
                      </a:rPr>
                      <m:t>𝑛</m:t>
                    </m:r>
                  </m:oMath>
                </a14:m>
                <a:r>
                  <a:rPr lang="zh-CN" altLang="en-US" dirty="0"/>
                  <a:t>，有</a:t>
                </a:r>
                <a14:m>
                  <m:oMath xmlns:m="http://schemas.openxmlformats.org/officeDocument/2006/math">
                    <m:r>
                      <a:rPr lang="en-US" altLang="zh-CN" i="1" dirty="0" smtClean="0">
                        <a:latin typeface="Cambria Math" panose="02040503050406030204" pitchFamily="18" charset="0"/>
                      </a:rPr>
                      <m:t>𝑚</m:t>
                    </m:r>
                  </m:oMath>
                </a14:m>
                <a:r>
                  <a:rPr lang="zh-CN" altLang="en-US" dirty="0"/>
                  <a:t>次操作，每次询问一个区间是否可以选出两个数它们的差为</a:t>
                </a:r>
                <a14:m>
                  <m:oMath xmlns:m="http://schemas.openxmlformats.org/officeDocument/2006/math">
                    <m:r>
                      <a:rPr lang="en-US" altLang="zh-CN" i="1" dirty="0" smtClean="0">
                        <a:latin typeface="Cambria Math" panose="02040503050406030204" pitchFamily="18" charset="0"/>
                      </a:rPr>
                      <m:t>𝑥</m:t>
                    </m:r>
                  </m:oMath>
                </a14:m>
                <a:r>
                  <a:rPr lang="zh-CN" altLang="en-US" dirty="0"/>
                  <a:t>，或者询问一个区间是否可以选出两个数它们的和为</a:t>
                </a:r>
                <a14:m>
                  <m:oMath xmlns:m="http://schemas.openxmlformats.org/officeDocument/2006/math">
                    <m:r>
                      <a:rPr lang="en-US" altLang="zh-CN" i="1" dirty="0" smtClean="0">
                        <a:latin typeface="Cambria Math" panose="02040503050406030204" pitchFamily="18" charset="0"/>
                      </a:rPr>
                      <m:t>𝑥</m:t>
                    </m:r>
                  </m:oMath>
                </a14:m>
                <a:r>
                  <a:rPr lang="zh-CN" altLang="en-US" dirty="0"/>
                  <a:t>，或者询问一个区间是否可以选出两个数它们的乘积为</a:t>
                </a:r>
                <a14:m>
                  <m:oMath xmlns:m="http://schemas.openxmlformats.org/officeDocument/2006/math">
                    <m:r>
                      <a:rPr lang="en-US" altLang="zh-CN" i="1" dirty="0" smtClean="0">
                        <a:latin typeface="Cambria Math" panose="02040503050406030204" pitchFamily="18" charset="0"/>
                      </a:rPr>
                      <m:t>𝑥</m:t>
                    </m:r>
                  </m:oMath>
                </a14:m>
                <a:r>
                  <a:rPr lang="en-US" altLang="zh-CN" dirty="0"/>
                  <a:t> </a:t>
                </a:r>
                <a:r>
                  <a:rPr lang="zh-CN" altLang="en-US" dirty="0"/>
                  <a:t>（两个数可以是同一个数）。</a:t>
                </a:r>
                <a:endParaRPr lang="en-US" altLang="zh-CN" dirty="0"/>
              </a:p>
              <a:p>
                <a:endParaRPr lang="en-US" altLang="zh-CN" dirty="0"/>
              </a:p>
              <a:p>
                <a:r>
                  <a:rPr lang="zh-CN" altLang="en-US" dirty="0"/>
                  <a:t>考虑莫队。对于乘积为</a:t>
                </a:r>
                <a14:m>
                  <m:oMath xmlns:m="http://schemas.openxmlformats.org/officeDocument/2006/math">
                    <m:r>
                      <a:rPr lang="en-US" altLang="zh-CN" i="1" dirty="0" smtClean="0">
                        <a:latin typeface="Cambria Math" panose="02040503050406030204" pitchFamily="18" charset="0"/>
                      </a:rPr>
                      <m:t>𝑥</m:t>
                    </m:r>
                  </m:oMath>
                </a14:m>
                <a:r>
                  <a:rPr lang="zh-CN" altLang="en-US" dirty="0"/>
                  <a:t>的询问，我们每次询问直接以</a:t>
                </a:r>
                <a14:m>
                  <m:oMath xmlns:m="http://schemas.openxmlformats.org/officeDocument/2006/math">
                    <m:r>
                      <a:rPr lang="en-US" altLang="zh-CN" b="0" i="1" smtClean="0">
                        <a:latin typeface="Cambria Math" panose="02040503050406030204" pitchFamily="18" charset="0"/>
                      </a:rPr>
                      <m:t>𝑂</m:t>
                    </m:r>
                    <m:r>
                      <a:rPr lang="en-US" altLang="zh-CN" b="0" i="1" smtClean="0">
                        <a:latin typeface="Cambria Math" panose="02040503050406030204" pitchFamily="18" charset="0"/>
                      </a:rPr>
                      <m:t>(</m:t>
                    </m:r>
                    <m:rad>
                      <m:radPr>
                        <m:degHide m:val="on"/>
                        <m:ctrlPr>
                          <a:rPr lang="en-US" altLang="zh-CN" b="0" i="1" smtClean="0">
                            <a:latin typeface="Cambria Math"/>
                          </a:rPr>
                        </m:ctrlPr>
                      </m:radPr>
                      <m:deg/>
                      <m:e>
                        <m:r>
                          <a:rPr lang="en-US" altLang="zh-CN" b="0" i="1" smtClean="0">
                            <a:latin typeface="Cambria Math" panose="02040503050406030204" pitchFamily="18" charset="0"/>
                          </a:rPr>
                          <m:t>𝑛</m:t>
                        </m:r>
                      </m:e>
                    </m:rad>
                    <m:r>
                      <a:rPr lang="en-US" altLang="zh-CN" b="0" i="1" smtClean="0">
                        <a:latin typeface="Cambria Math" panose="02040503050406030204" pitchFamily="18" charset="0"/>
                      </a:rPr>
                      <m:t>)</m:t>
                    </m:r>
                  </m:oMath>
                </a14:m>
                <a:r>
                  <a:rPr lang="zh-CN" altLang="en-US" dirty="0"/>
                  <a:t>的时间判断</a:t>
                </a:r>
                <a14:m>
                  <m:oMath xmlns:m="http://schemas.openxmlformats.org/officeDocument/2006/math">
                    <m:r>
                      <a:rPr lang="en-US" altLang="zh-CN" i="1" dirty="0" smtClean="0">
                        <a:latin typeface="Cambria Math" panose="02040503050406030204" pitchFamily="18" charset="0"/>
                      </a:rPr>
                      <m:t>𝑥</m:t>
                    </m:r>
                  </m:oMath>
                </a14:m>
                <a:r>
                  <a:rPr lang="zh-CN" altLang="en-US" dirty="0"/>
                  <a:t>分解成的两个数是否存在就行了。差为</a:t>
                </a:r>
                <a14:m>
                  <m:oMath xmlns:m="http://schemas.openxmlformats.org/officeDocument/2006/math">
                    <m:r>
                      <a:rPr lang="en-US" altLang="zh-CN" i="1" dirty="0" smtClean="0">
                        <a:latin typeface="Cambria Math" panose="02040503050406030204" pitchFamily="18" charset="0"/>
                      </a:rPr>
                      <m:t>𝑥</m:t>
                    </m:r>
                  </m:oMath>
                </a14:m>
                <a:r>
                  <a:rPr lang="zh-CN" altLang="en-US" dirty="0"/>
                  <a:t>的情况，我们可以使用</a:t>
                </a:r>
                <a:r>
                  <a:rPr lang="en-US" altLang="zh-CN" dirty="0" err="1"/>
                  <a:t>bitset</a:t>
                </a:r>
                <a:r>
                  <a:rPr lang="zh-CN" altLang="en-US" dirty="0"/>
                  <a:t>压位，把当前区间每个数压进去，然后用这个</a:t>
                </a:r>
                <a:r>
                  <a:rPr lang="en-US" altLang="zh-CN" dirty="0" err="1"/>
                  <a:t>bitset</a:t>
                </a:r>
                <a:r>
                  <a:rPr lang="zh-CN" altLang="en-US" dirty="0"/>
                  <a:t>右移</a:t>
                </a:r>
                <a14:m>
                  <m:oMath xmlns:m="http://schemas.openxmlformats.org/officeDocument/2006/math">
                    <m:r>
                      <a:rPr lang="en-US" altLang="zh-CN" i="1" dirty="0" smtClean="0">
                        <a:latin typeface="Cambria Math" panose="02040503050406030204" pitchFamily="18" charset="0"/>
                      </a:rPr>
                      <m:t>𝑥</m:t>
                    </m:r>
                  </m:oMath>
                </a14:m>
                <a:r>
                  <a:rPr lang="zh-CN" altLang="en-US" dirty="0"/>
                  <a:t>位后的</a:t>
                </a:r>
                <a:r>
                  <a:rPr lang="en-US" altLang="zh-CN" dirty="0" err="1"/>
                  <a:t>bitset</a:t>
                </a:r>
                <a:r>
                  <a:rPr lang="zh-CN" altLang="en-US" dirty="0"/>
                  <a:t>与原来的</a:t>
                </a:r>
                <a:r>
                  <a:rPr lang="en-US" altLang="zh-CN" dirty="0" err="1"/>
                  <a:t>bitset</a:t>
                </a:r>
                <a:r>
                  <a:rPr lang="zh-CN" altLang="en-US" dirty="0"/>
                  <a:t>或一下就行了。如果是和为</a:t>
                </a:r>
                <a14:m>
                  <m:oMath xmlns:m="http://schemas.openxmlformats.org/officeDocument/2006/math">
                    <m:r>
                      <a:rPr lang="en-US" altLang="zh-CN" i="1" dirty="0" smtClean="0">
                        <a:latin typeface="Cambria Math" panose="02040503050406030204" pitchFamily="18" charset="0"/>
                      </a:rPr>
                      <m:t>𝑥</m:t>
                    </m:r>
                  </m:oMath>
                </a14:m>
                <a:r>
                  <a:rPr lang="zh-CN" altLang="en-US" dirty="0"/>
                  <a:t>的情况，那么我们可以用另一个</a:t>
                </a:r>
                <a:r>
                  <a:rPr lang="en-US" altLang="zh-CN" dirty="0" err="1"/>
                  <a:t>bitset</a:t>
                </a:r>
                <a:r>
                  <a:rPr lang="zh-CN" altLang="en-US" dirty="0"/>
                  <a:t>存下</a:t>
                </a:r>
                <a14:m>
                  <m:oMath xmlns:m="http://schemas.openxmlformats.org/officeDocument/2006/math">
                    <m:r>
                      <m:rPr>
                        <m:sty m:val="p"/>
                      </m:rPr>
                      <a:rPr lang="en-US" altLang="zh-CN" i="1" dirty="0" smtClean="0">
                        <a:latin typeface="Cambria Math" panose="02040503050406030204" pitchFamily="18" charset="0"/>
                      </a:rPr>
                      <m:t>max</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𝑎</m:t>
                    </m:r>
                    <m:r>
                      <a:rPr lang="en-US" altLang="zh-CN" i="1" dirty="0" smtClean="0">
                        <a:latin typeface="Cambria Math" panose="02040503050406030204" pitchFamily="18" charset="0"/>
                      </a:rPr>
                      <m:t>[</m:t>
                    </m:r>
                    <m:r>
                      <a:rPr lang="en-US" altLang="zh-CN" i="1" dirty="0" err="1" smtClean="0">
                        <a:latin typeface="Cambria Math" panose="02040503050406030204" pitchFamily="18" charset="0"/>
                      </a:rPr>
                      <m:t>𝑖</m:t>
                    </m:r>
                    <m:r>
                      <a:rPr lang="en-US" altLang="zh-CN" i="1" dirty="0" smtClean="0">
                        <a:latin typeface="Cambria Math" panose="02040503050406030204" pitchFamily="18" charset="0"/>
                      </a:rPr>
                      <m:t>]</m:t>
                    </m:r>
                  </m:oMath>
                </a14:m>
                <a:r>
                  <a:rPr lang="zh-CN" altLang="en-US" dirty="0"/>
                  <a:t>，同样右移</a:t>
                </a:r>
                <a14:m>
                  <m:oMath xmlns:m="http://schemas.openxmlformats.org/officeDocument/2006/math">
                    <m:r>
                      <a:rPr lang="en-US" altLang="zh-CN" i="1" dirty="0" smtClean="0">
                        <a:latin typeface="Cambria Math" panose="02040503050406030204" pitchFamily="18" charset="0"/>
                      </a:rPr>
                      <m:t>𝑥</m:t>
                    </m:r>
                  </m:oMath>
                </a14:m>
                <a:r>
                  <a:rPr lang="zh-CN" altLang="en-US" dirty="0"/>
                  <a:t>位后与之前那个</a:t>
                </a:r>
                <a:r>
                  <a:rPr lang="en-US" altLang="zh-CN" dirty="0" err="1"/>
                  <a:t>bitset</a:t>
                </a:r>
                <a:r>
                  <a:rPr lang="zh-CN" altLang="en-US" dirty="0"/>
                  <a:t>与一下就行了。</a:t>
                </a:r>
              </a:p>
            </p:txBody>
          </p:sp>
        </mc:Choice>
        <mc:Fallback xmlns="">
          <p:sp>
            <p:nvSpPr>
              <p:cNvPr id="3" name="内容占位符 2">
                <a:extLst>
                  <a:ext uri="{FF2B5EF4-FFF2-40B4-BE49-F238E27FC236}">
                    <a16:creationId xmlns:a16="http://schemas.microsoft.com/office/drawing/2014/main" id="{BF27D867-B434-4EFC-BFC1-73DF3A0725D3}"/>
                  </a:ext>
                </a:extLst>
              </p:cNvPr>
              <p:cNvSpPr>
                <a:spLocks noGrp="1" noRot="1" noChangeAspect="1" noMove="1" noResize="1" noEditPoints="1" noAdjustHandles="1" noChangeArrowheads="1" noChangeShapeType="1" noTextEdit="1"/>
              </p:cNvSpPr>
              <p:nvPr>
                <p:ph idx="1"/>
              </p:nvPr>
            </p:nvSpPr>
            <p:spPr>
              <a:blipFill>
                <a:blip r:embed="rId2"/>
                <a:stretch>
                  <a:fillRect l="-341" t="-1163" r="-68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86793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34516A31-691E-4CE6-AFC5-2E1BB47403AD}"/>
              </a:ext>
            </a:extLst>
          </p:cNvPr>
          <p:cNvSpPr>
            <a:spLocks noGrp="1"/>
          </p:cNvSpPr>
          <p:nvPr>
            <p:ph type="title"/>
          </p:nvPr>
        </p:nvSpPr>
        <p:spPr/>
        <p:txBody>
          <a:bodyPr/>
          <a:lstStyle/>
          <a:p>
            <a:r>
              <a:rPr lang="en-US" altLang="zh-CN" dirty="0"/>
              <a:t>splay</a:t>
            </a:r>
            <a:endParaRPr lang="zh-CN" altLang="en-US" dirty="0"/>
          </a:p>
        </p:txBody>
      </p:sp>
      <p:sp>
        <p:nvSpPr>
          <p:cNvPr id="3" name="内容占位符 2">
            <a:extLst>
              <a:ext uri="{FF2B5EF4-FFF2-40B4-BE49-F238E27FC236}">
                <a16:creationId xmlns:a16="http://schemas.microsoft.com/office/drawing/2014/main" xmlns="" id="{4C02BCD0-FDC2-48D3-AC33-5D73C0D1CC53}"/>
              </a:ext>
            </a:extLst>
          </p:cNvPr>
          <p:cNvSpPr>
            <a:spLocks noGrp="1"/>
          </p:cNvSpPr>
          <p:nvPr>
            <p:ph idx="1"/>
          </p:nvPr>
        </p:nvSpPr>
        <p:spPr/>
        <p:txBody>
          <a:bodyPr/>
          <a:lstStyle/>
          <a:p>
            <a:r>
              <a:rPr lang="zh-CN" altLang="en-US" dirty="0"/>
              <a:t>一种平衡树（</a:t>
            </a:r>
            <a:r>
              <a:rPr lang="en-US" altLang="zh-CN" dirty="0"/>
              <a:t>oi</a:t>
            </a:r>
            <a:r>
              <a:rPr lang="zh-CN" altLang="en-US" dirty="0"/>
              <a:t>中最常使用的两种平衡树之一）</a:t>
            </a:r>
            <a:endParaRPr lang="en-US" altLang="zh-CN" dirty="0"/>
          </a:p>
          <a:p>
            <a:r>
              <a:rPr lang="zh-CN" altLang="en-US" dirty="0"/>
              <a:t>核心操作为每次插入或访问一个结点以后将其向上旋转到根，称为</a:t>
            </a:r>
            <a:r>
              <a:rPr lang="en-US" altLang="zh-CN" dirty="0"/>
              <a:t>splay</a:t>
            </a:r>
            <a:r>
              <a:rPr lang="zh-CN" altLang="en-US" dirty="0"/>
              <a:t>操作。</a:t>
            </a:r>
            <a:r>
              <a:rPr lang="en-US" altLang="zh-CN" dirty="0"/>
              <a:t>splay(</a:t>
            </a:r>
            <a:r>
              <a:rPr lang="en-US" altLang="zh-CN" dirty="0" err="1"/>
              <a:t>x,f</a:t>
            </a:r>
            <a:r>
              <a:rPr lang="en-US" altLang="zh-CN" dirty="0"/>
              <a:t>)</a:t>
            </a:r>
            <a:r>
              <a:rPr lang="zh-CN" altLang="en-US" dirty="0"/>
              <a:t>即将</a:t>
            </a:r>
            <a:r>
              <a:rPr lang="en-US" altLang="zh-CN" dirty="0"/>
              <a:t>x</a:t>
            </a:r>
            <a:r>
              <a:rPr lang="zh-CN" altLang="en-US" dirty="0"/>
              <a:t>旋转到</a:t>
            </a:r>
            <a:r>
              <a:rPr lang="en-US" altLang="zh-CN" dirty="0"/>
              <a:t>f</a:t>
            </a:r>
            <a:r>
              <a:rPr lang="zh-CN" altLang="en-US" dirty="0"/>
              <a:t>的儿子上。</a:t>
            </a:r>
            <a:r>
              <a:rPr lang="en-US" altLang="zh-CN" dirty="0"/>
              <a:t>splay</a:t>
            </a:r>
            <a:r>
              <a:rPr lang="zh-CN" altLang="en-US" dirty="0"/>
              <a:t>操作中的旋转操作分为三种。</a:t>
            </a:r>
            <a:endParaRPr lang="en-US" altLang="zh-CN" dirty="0"/>
          </a:p>
          <a:p>
            <a:r>
              <a:rPr lang="en-US" altLang="zh-CN" dirty="0"/>
              <a:t>zig</a:t>
            </a:r>
            <a:r>
              <a:rPr lang="zh-CN" altLang="en-US" dirty="0"/>
              <a:t>：</a:t>
            </a:r>
            <a:r>
              <a:rPr lang="en-US" altLang="zh-CN" dirty="0"/>
              <a:t>x</a:t>
            </a:r>
            <a:r>
              <a:rPr lang="zh-CN" altLang="en-US" dirty="0"/>
              <a:t>的父亲为</a:t>
            </a:r>
            <a:r>
              <a:rPr lang="en-US" altLang="zh-CN" dirty="0"/>
              <a:t>f</a:t>
            </a:r>
            <a:r>
              <a:rPr lang="zh-CN" altLang="en-US" dirty="0"/>
              <a:t>的儿子，直接旋转</a:t>
            </a:r>
            <a:r>
              <a:rPr lang="en-US" altLang="zh-CN" dirty="0"/>
              <a:t>x</a:t>
            </a:r>
            <a:r>
              <a:rPr lang="zh-CN" altLang="en-US" dirty="0"/>
              <a:t>。</a:t>
            </a:r>
            <a:endParaRPr lang="en-US" altLang="zh-CN" dirty="0"/>
          </a:p>
          <a:p>
            <a:r>
              <a:rPr lang="en-US" altLang="zh-CN" dirty="0"/>
              <a:t>zig-zig</a:t>
            </a:r>
            <a:r>
              <a:rPr lang="zh-CN" altLang="en-US" dirty="0"/>
              <a:t>：</a:t>
            </a:r>
            <a:r>
              <a:rPr lang="en-US" altLang="zh-CN" dirty="0"/>
              <a:t>x</a:t>
            </a:r>
            <a:r>
              <a:rPr lang="zh-CN" altLang="en-US" dirty="0"/>
              <a:t>与</a:t>
            </a:r>
            <a:r>
              <a:rPr lang="en-US" altLang="zh-CN" dirty="0"/>
              <a:t>x</a:t>
            </a:r>
            <a:r>
              <a:rPr lang="zh-CN" altLang="en-US" dirty="0"/>
              <a:t>的父亲位于同一侧时，先旋转</a:t>
            </a:r>
            <a:r>
              <a:rPr lang="en-US" altLang="zh-CN" dirty="0"/>
              <a:t>x</a:t>
            </a:r>
            <a:r>
              <a:rPr lang="zh-CN" altLang="en-US" dirty="0"/>
              <a:t>的父亲，再旋转</a:t>
            </a:r>
            <a:r>
              <a:rPr lang="en-US" altLang="zh-CN" dirty="0"/>
              <a:t>x</a:t>
            </a:r>
            <a:r>
              <a:rPr lang="zh-CN" altLang="en-US" dirty="0"/>
              <a:t>。</a:t>
            </a:r>
            <a:endParaRPr lang="en-US" altLang="zh-CN" dirty="0"/>
          </a:p>
          <a:p>
            <a:r>
              <a:rPr lang="en-US" altLang="zh-CN" dirty="0"/>
              <a:t>zig-zag</a:t>
            </a:r>
            <a:r>
              <a:rPr lang="zh-CN" altLang="en-US" dirty="0"/>
              <a:t>：</a:t>
            </a:r>
            <a:r>
              <a:rPr lang="en-US" altLang="zh-CN" dirty="0"/>
              <a:t>x</a:t>
            </a:r>
            <a:r>
              <a:rPr lang="zh-CN" altLang="en-US" dirty="0"/>
              <a:t>与</a:t>
            </a:r>
            <a:r>
              <a:rPr lang="en-US" altLang="zh-CN" dirty="0"/>
              <a:t>x</a:t>
            </a:r>
            <a:r>
              <a:rPr lang="zh-CN" altLang="en-US" dirty="0"/>
              <a:t>的父亲位于不同侧时，直接旋转两次</a:t>
            </a:r>
            <a:r>
              <a:rPr lang="en-US" altLang="zh-CN" dirty="0"/>
              <a:t>x</a:t>
            </a:r>
            <a:r>
              <a:rPr lang="zh-CN" altLang="en-US" dirty="0"/>
              <a:t>。</a:t>
            </a:r>
            <a:endParaRPr lang="en-US" altLang="zh-CN" dirty="0"/>
          </a:p>
          <a:p>
            <a:r>
              <a:rPr lang="zh-CN" altLang="en-US" dirty="0"/>
              <a:t>代码好写，功能强大（可以实现序列的分裂合并等操作）。</a:t>
            </a:r>
            <a:endParaRPr lang="en-US" altLang="zh-CN" dirty="0"/>
          </a:p>
          <a:p>
            <a:r>
              <a:rPr lang="en-US" altLang="zh-CN" dirty="0"/>
              <a:t>splay</a:t>
            </a:r>
            <a:r>
              <a:rPr lang="zh-CN" altLang="en-US" dirty="0"/>
              <a:t>操作的复杂度均摊为</a:t>
            </a:r>
            <a:r>
              <a:rPr lang="en-US" altLang="zh-CN" dirty="0"/>
              <a:t>log</a:t>
            </a:r>
            <a:r>
              <a:rPr lang="zh-CN" altLang="en-US" dirty="0"/>
              <a:t>级别。</a:t>
            </a:r>
          </a:p>
        </p:txBody>
      </p:sp>
    </p:spTree>
    <p:extLst>
      <p:ext uri="{BB962C8B-B14F-4D97-AF65-F5344CB8AC3E}">
        <p14:creationId xmlns:p14="http://schemas.microsoft.com/office/powerpoint/2010/main" val="4271384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4B4FEF3A-3EE5-4270-9717-C7DC045C3774}"/>
              </a:ext>
            </a:extLst>
          </p:cNvPr>
          <p:cNvSpPr>
            <a:spLocks noGrp="1"/>
          </p:cNvSpPr>
          <p:nvPr>
            <p:ph type="title"/>
          </p:nvPr>
        </p:nvSpPr>
        <p:spPr/>
        <p:txBody>
          <a:bodyPr/>
          <a:lstStyle/>
          <a:p>
            <a:r>
              <a:rPr lang="en-US" altLang="zh-CN" dirty="0"/>
              <a:t>LCT</a:t>
            </a:r>
            <a:endParaRPr lang="zh-CN" altLang="en-US" dirty="0"/>
          </a:p>
        </p:txBody>
      </p:sp>
      <p:sp>
        <p:nvSpPr>
          <p:cNvPr id="3" name="内容占位符 2">
            <a:extLst>
              <a:ext uri="{FF2B5EF4-FFF2-40B4-BE49-F238E27FC236}">
                <a16:creationId xmlns:a16="http://schemas.microsoft.com/office/drawing/2014/main" xmlns="" id="{D341F658-4DE5-456D-B762-E0D0AEB37CF0}"/>
              </a:ext>
            </a:extLst>
          </p:cNvPr>
          <p:cNvSpPr>
            <a:spLocks noGrp="1"/>
          </p:cNvSpPr>
          <p:nvPr>
            <p:ph idx="1"/>
          </p:nvPr>
        </p:nvSpPr>
        <p:spPr/>
        <p:txBody>
          <a:bodyPr>
            <a:normAutofit lnSpcReduction="10000"/>
          </a:bodyPr>
          <a:lstStyle/>
          <a:p>
            <a:r>
              <a:rPr lang="zh-CN" altLang="en-US" dirty="0"/>
              <a:t>将一棵树划分成若干条链（类似于树链剖分），每一条链用</a:t>
            </a:r>
            <a:r>
              <a:rPr lang="en-US" altLang="zh-CN" dirty="0"/>
              <a:t>splay</a:t>
            </a:r>
            <a:r>
              <a:rPr lang="zh-CN" altLang="en-US" dirty="0"/>
              <a:t>维护，以深度为</a:t>
            </a:r>
            <a:r>
              <a:rPr lang="en-US" altLang="zh-CN" dirty="0"/>
              <a:t>key</a:t>
            </a:r>
            <a:r>
              <a:rPr lang="zh-CN" altLang="en-US" dirty="0"/>
              <a:t>值。</a:t>
            </a:r>
            <a:endParaRPr lang="en-US" altLang="zh-CN" dirty="0"/>
          </a:p>
          <a:p>
            <a:r>
              <a:rPr lang="en-US" altLang="zh-CN" dirty="0"/>
              <a:t>fa</a:t>
            </a:r>
            <a:r>
              <a:rPr lang="zh-CN" altLang="en-US" dirty="0"/>
              <a:t>数组：若该点不是</a:t>
            </a:r>
            <a:r>
              <a:rPr lang="en-US" altLang="zh-CN" dirty="0"/>
              <a:t>splay</a:t>
            </a:r>
            <a:r>
              <a:rPr lang="zh-CN" altLang="en-US" dirty="0"/>
              <a:t>的根结点，则指向</a:t>
            </a:r>
            <a:r>
              <a:rPr lang="en-US" altLang="zh-CN" dirty="0"/>
              <a:t>splay</a:t>
            </a:r>
            <a:r>
              <a:rPr lang="zh-CN" altLang="en-US" dirty="0"/>
              <a:t>中的父亲，否则指向这棵</a:t>
            </a:r>
            <a:r>
              <a:rPr lang="en-US" altLang="zh-CN" dirty="0"/>
              <a:t>splay</a:t>
            </a:r>
            <a:r>
              <a:rPr lang="zh-CN" altLang="en-US" dirty="0"/>
              <a:t>深度最小的点（也就是原树的这条链顶结点）的父亲。</a:t>
            </a:r>
            <a:endParaRPr lang="en-US" altLang="zh-CN" dirty="0"/>
          </a:p>
          <a:p>
            <a:r>
              <a:rPr lang="en-US" altLang="zh-CN" dirty="0"/>
              <a:t>access</a:t>
            </a:r>
            <a:r>
              <a:rPr lang="zh-CN" altLang="en-US" dirty="0"/>
              <a:t>：把这个点到根结点的链转成实链，即放到一个</a:t>
            </a:r>
            <a:r>
              <a:rPr lang="en-US" altLang="zh-CN" dirty="0"/>
              <a:t>splay</a:t>
            </a:r>
            <a:r>
              <a:rPr lang="zh-CN" altLang="en-US" dirty="0"/>
              <a:t>里。</a:t>
            </a:r>
            <a:endParaRPr lang="en-US" altLang="zh-CN" dirty="0"/>
          </a:p>
          <a:p>
            <a:r>
              <a:rPr lang="en-US" altLang="zh-CN" dirty="0" err="1"/>
              <a:t>makeroot</a:t>
            </a:r>
            <a:r>
              <a:rPr lang="zh-CN" altLang="en-US" dirty="0"/>
              <a:t>：把这个点变成原树的根结点。先</a:t>
            </a:r>
            <a:r>
              <a:rPr lang="en-US" altLang="zh-CN" dirty="0"/>
              <a:t>access</a:t>
            </a:r>
            <a:r>
              <a:rPr lang="zh-CN" altLang="en-US" dirty="0"/>
              <a:t>，然后</a:t>
            </a:r>
            <a:r>
              <a:rPr lang="en-US" altLang="zh-CN" dirty="0"/>
              <a:t>splay</a:t>
            </a:r>
            <a:r>
              <a:rPr lang="zh-CN" altLang="en-US" dirty="0"/>
              <a:t>操作将该点旋转到</a:t>
            </a:r>
            <a:r>
              <a:rPr lang="en-US" altLang="zh-CN" dirty="0"/>
              <a:t>splay</a:t>
            </a:r>
            <a:r>
              <a:rPr lang="zh-CN" altLang="en-US" dirty="0"/>
              <a:t>的根结点，再翻转</a:t>
            </a:r>
            <a:r>
              <a:rPr lang="en-US" altLang="zh-CN" dirty="0"/>
              <a:t>splay</a:t>
            </a:r>
            <a:r>
              <a:rPr lang="zh-CN" altLang="en-US" dirty="0"/>
              <a:t>。</a:t>
            </a:r>
            <a:endParaRPr lang="en-US" altLang="zh-CN" dirty="0"/>
          </a:p>
          <a:p>
            <a:r>
              <a:rPr lang="en-US" altLang="zh-CN" dirty="0" err="1"/>
              <a:t>x,y</a:t>
            </a:r>
            <a:r>
              <a:rPr lang="zh-CN" altLang="en-US" dirty="0"/>
              <a:t>连边：</a:t>
            </a:r>
            <a:r>
              <a:rPr lang="en-US" altLang="zh-CN" dirty="0" err="1"/>
              <a:t>makeroot</a:t>
            </a:r>
            <a:r>
              <a:rPr lang="en-US" altLang="zh-CN" dirty="0"/>
              <a:t>(x)</a:t>
            </a:r>
            <a:r>
              <a:rPr lang="zh-CN" altLang="en-US" dirty="0"/>
              <a:t>之后令</a:t>
            </a:r>
            <a:r>
              <a:rPr lang="en-US" altLang="zh-CN" dirty="0" err="1" smtClean="0"/>
              <a:t>fa</a:t>
            </a:r>
            <a:r>
              <a:rPr lang="en-US" altLang="zh-CN" smtClean="0"/>
              <a:t>[x]=</a:t>
            </a:r>
            <a:r>
              <a:rPr lang="en-US" altLang="zh-CN" dirty="0"/>
              <a:t>y</a:t>
            </a:r>
            <a:r>
              <a:rPr lang="zh-CN" altLang="en-US" smtClean="0"/>
              <a:t>即</a:t>
            </a:r>
            <a:r>
              <a:rPr lang="zh-CN" altLang="en-US" dirty="0"/>
              <a:t>可。</a:t>
            </a:r>
            <a:endParaRPr lang="en-US" altLang="zh-CN" dirty="0"/>
          </a:p>
          <a:p>
            <a:r>
              <a:rPr lang="en-US" altLang="zh-CN" dirty="0" err="1"/>
              <a:t>x,y</a:t>
            </a:r>
            <a:r>
              <a:rPr lang="zh-CN" altLang="en-US" dirty="0"/>
              <a:t>断边：</a:t>
            </a:r>
            <a:r>
              <a:rPr lang="en-US" altLang="zh-CN" dirty="0" err="1"/>
              <a:t>makeroot</a:t>
            </a:r>
            <a:r>
              <a:rPr lang="en-US" altLang="zh-CN" dirty="0"/>
              <a:t>(x),access(y),splay(y),fa</a:t>
            </a:r>
            <a:r>
              <a:rPr lang="zh-CN" altLang="en-US" dirty="0"/>
              <a:t>数组和</a:t>
            </a:r>
            <a:r>
              <a:rPr lang="en-US" altLang="zh-CN" dirty="0" err="1"/>
              <a:t>ch</a:t>
            </a:r>
            <a:r>
              <a:rPr lang="zh-CN" altLang="en-US" dirty="0"/>
              <a:t>数组清理。</a:t>
            </a:r>
            <a:endParaRPr lang="en-US" altLang="zh-CN" dirty="0"/>
          </a:p>
          <a:p>
            <a:r>
              <a:rPr lang="zh-CN" altLang="en-US" dirty="0"/>
              <a:t>链查询：</a:t>
            </a:r>
            <a:r>
              <a:rPr lang="en-US" altLang="zh-CN" dirty="0" err="1"/>
              <a:t>makeroot</a:t>
            </a:r>
            <a:r>
              <a:rPr lang="en-US" altLang="zh-CN" dirty="0"/>
              <a:t>(x),access(y),splay(y),</a:t>
            </a:r>
            <a:r>
              <a:rPr lang="zh-CN" altLang="en-US" dirty="0"/>
              <a:t>输出</a:t>
            </a:r>
            <a:r>
              <a:rPr lang="en-US" altLang="zh-CN" dirty="0"/>
              <a:t>y</a:t>
            </a:r>
            <a:r>
              <a:rPr lang="zh-CN" altLang="en-US" dirty="0"/>
              <a:t>点的信息。</a:t>
            </a:r>
            <a:endParaRPr lang="en-US" altLang="zh-CN" dirty="0"/>
          </a:p>
          <a:p>
            <a:r>
              <a:rPr lang="zh-CN" altLang="en-US" dirty="0"/>
              <a:t>注意</a:t>
            </a:r>
            <a:r>
              <a:rPr lang="en-US" altLang="zh-CN" dirty="0" err="1"/>
              <a:t>ch</a:t>
            </a:r>
            <a:r>
              <a:rPr lang="zh-CN" altLang="en-US" dirty="0"/>
              <a:t>数组改变以后要随时合并</a:t>
            </a:r>
            <a:r>
              <a:rPr lang="en-US" altLang="zh-CN" dirty="0"/>
              <a:t>splay</a:t>
            </a:r>
            <a:r>
              <a:rPr lang="zh-CN" altLang="en-US" dirty="0"/>
              <a:t>的标记。</a:t>
            </a:r>
            <a:endParaRPr lang="en-US" altLang="zh-CN" dirty="0"/>
          </a:p>
        </p:txBody>
      </p:sp>
    </p:spTree>
    <p:extLst>
      <p:ext uri="{BB962C8B-B14F-4D97-AF65-F5344CB8AC3E}">
        <p14:creationId xmlns:p14="http://schemas.microsoft.com/office/powerpoint/2010/main" val="78880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E1C60613-9BA7-40AB-8DDE-9D8EA18A6C9C}"/>
              </a:ext>
            </a:extLst>
          </p:cNvPr>
          <p:cNvSpPr>
            <a:spLocks noGrp="1"/>
          </p:cNvSpPr>
          <p:nvPr>
            <p:ph type="title"/>
          </p:nvPr>
        </p:nvSpPr>
        <p:spPr/>
        <p:txBody>
          <a:bodyPr/>
          <a:lstStyle/>
          <a:p>
            <a:r>
              <a:rPr lang="en-US" altLang="zh-CN" dirty="0" err="1"/>
              <a:t>Codechef</a:t>
            </a:r>
            <a:r>
              <a:rPr lang="en-US" altLang="zh-CN" dirty="0"/>
              <a:t> MARCH14 GERALD07</a:t>
            </a:r>
            <a:r>
              <a:rPr lang="zh-CN" altLang="en-US" dirty="0"/>
              <a:t>加强版</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xmlns="" id="{CC53F23E-12ED-4186-9849-039DC26AC96A}"/>
                  </a:ext>
                </a:extLst>
              </p:cNvPr>
              <p:cNvSpPr>
                <a:spLocks noGrp="1"/>
              </p:cNvSpPr>
              <p:nvPr>
                <p:ph idx="1"/>
              </p:nvPr>
            </p:nvSpPr>
            <p:spPr/>
            <p:txBody>
              <a:bodyPr/>
              <a:lstStyle/>
              <a:p>
                <a14:m>
                  <m:oMath xmlns:m="http://schemas.openxmlformats.org/officeDocument/2006/math">
                    <m:r>
                      <a:rPr lang="en-US" altLang="zh-CN" i="1" dirty="0" smtClean="0">
                        <a:latin typeface="Cambria Math" panose="02040503050406030204" pitchFamily="18" charset="0"/>
                      </a:rPr>
                      <m:t>𝑛</m:t>
                    </m:r>
                  </m:oMath>
                </a14:m>
                <a:r>
                  <a:rPr lang="zh-CN" altLang="en-US" dirty="0"/>
                  <a:t>个点</a:t>
                </a:r>
                <a14:m>
                  <m:oMath xmlns:m="http://schemas.openxmlformats.org/officeDocument/2006/math">
                    <m:r>
                      <a:rPr lang="en-US" altLang="zh-CN" i="1" dirty="0" smtClean="0">
                        <a:latin typeface="Cambria Math" panose="02040503050406030204" pitchFamily="18" charset="0"/>
                      </a:rPr>
                      <m:t>𝑚</m:t>
                    </m:r>
                  </m:oMath>
                </a14:m>
                <a:r>
                  <a:rPr lang="zh-CN" altLang="en-US" dirty="0"/>
                  <a:t>条边的无向图，询问保留图中编号在</a:t>
                </a:r>
                <a14:m>
                  <m:oMath xmlns:m="http://schemas.openxmlformats.org/officeDocument/2006/math">
                    <m:r>
                      <a:rPr lang="en-US" altLang="zh-CN" i="1" dirty="0" smtClean="0">
                        <a:latin typeface="Cambria Math" panose="02040503050406030204" pitchFamily="18" charset="0"/>
                      </a:rPr>
                      <m:t>[</m:t>
                    </m:r>
                    <m:r>
                      <a:rPr lang="en-US" altLang="zh-CN" i="1" dirty="0" err="1">
                        <a:latin typeface="Cambria Math" panose="02040503050406030204" pitchFamily="18" charset="0"/>
                      </a:rPr>
                      <m:t>𝑙</m:t>
                    </m:r>
                    <m:r>
                      <a:rPr lang="en-US" altLang="zh-CN" i="1" dirty="0" err="1">
                        <a:latin typeface="Cambria Math" panose="02040503050406030204" pitchFamily="18" charset="0"/>
                      </a:rPr>
                      <m:t>,</m:t>
                    </m:r>
                    <m:r>
                      <a:rPr lang="en-US" altLang="zh-CN" i="1" dirty="0" err="1">
                        <a:latin typeface="Cambria Math" panose="02040503050406030204" pitchFamily="18" charset="0"/>
                      </a:rPr>
                      <m:t>𝑟</m:t>
                    </m:r>
                    <m:r>
                      <a:rPr lang="en-US" altLang="zh-CN" i="1" dirty="0">
                        <a:latin typeface="Cambria Math" panose="02040503050406030204" pitchFamily="18" charset="0"/>
                      </a:rPr>
                      <m:t>]</m:t>
                    </m:r>
                  </m:oMath>
                </a14:m>
                <a:r>
                  <a:rPr lang="zh-CN" altLang="en-US" dirty="0"/>
                  <a:t>的边的时候图中的联通块个数。强制在线。</a:t>
                </a:r>
                <a:endParaRPr lang="en-US" altLang="zh-CN" dirty="0"/>
              </a:p>
              <a:p>
                <a:endParaRPr lang="en-US" altLang="zh-CN" dirty="0"/>
              </a:p>
              <a:p>
                <a:r>
                  <a:rPr lang="zh-CN" altLang="en-US" dirty="0"/>
                  <a:t>首先把边依次加到图中，若当前这条边与图中的边形成了环，那么把这个环中最早加进来的边弹出去，并将每条边把哪条边弹了出去记录下来：</a:t>
                </a:r>
                <a14:m>
                  <m:oMath xmlns:m="http://schemas.openxmlformats.org/officeDocument/2006/math">
                    <m:r>
                      <a:rPr lang="en-US" altLang="zh-CN" b="0" i="1" smtClean="0">
                        <a:latin typeface="Cambria Math" panose="02040503050406030204" pitchFamily="18" charset="0"/>
                      </a:rPr>
                      <m:t>𝑛𝑡𝑟</m:t>
                    </m:r>
                    <m:d>
                      <m:dPr>
                        <m:begChr m:val="["/>
                        <m:endChr m:val="]"/>
                        <m:ctrlPr>
                          <a:rPr lang="en-US" altLang="zh-CN" b="0" i="1" smtClean="0">
                            <a:latin typeface="Cambria Math"/>
                          </a:rPr>
                        </m:ctrlPr>
                      </m:dPr>
                      <m:e>
                        <m:r>
                          <a:rPr lang="en-US" altLang="zh-CN" b="0" i="1" smtClean="0">
                            <a:latin typeface="Cambria Math" panose="02040503050406030204" pitchFamily="18" charset="0"/>
                          </a:rPr>
                          <m:t>𝑖</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𝑗</m:t>
                    </m:r>
                  </m:oMath>
                </a14:m>
                <a:r>
                  <a:rPr lang="zh-CN" altLang="en-US" dirty="0"/>
                  <a:t>，如果没有弹出边，那么</a:t>
                </a:r>
                <a14:m>
                  <m:oMath xmlns:m="http://schemas.openxmlformats.org/officeDocument/2006/math">
                    <m:r>
                      <a:rPr lang="en-US" altLang="zh-CN" b="0" i="1" smtClean="0">
                        <a:latin typeface="Cambria Math" panose="02040503050406030204" pitchFamily="18" charset="0"/>
                      </a:rPr>
                      <m:t>𝑛𝑡𝑟</m:t>
                    </m:r>
                    <m:d>
                      <m:dPr>
                        <m:begChr m:val="["/>
                        <m:endChr m:val="]"/>
                        <m:ctrlPr>
                          <a:rPr lang="en-US" altLang="zh-CN" b="0" i="1" smtClean="0">
                            <a:latin typeface="Cambria Math"/>
                          </a:rPr>
                        </m:ctrlPr>
                      </m:dPr>
                      <m:e>
                        <m:r>
                          <a:rPr lang="en-US" altLang="zh-CN" b="0" i="1" smtClean="0">
                            <a:latin typeface="Cambria Math" panose="02040503050406030204" pitchFamily="18" charset="0"/>
                          </a:rPr>
                          <m:t>𝑖</m:t>
                        </m:r>
                      </m:e>
                    </m:d>
                    <m:r>
                      <a:rPr lang="en-US" altLang="zh-CN" b="0" i="1" smtClean="0">
                        <a:latin typeface="Cambria Math" panose="02040503050406030204" pitchFamily="18" charset="0"/>
                      </a:rPr>
                      <m:t>=0</m:t>
                    </m:r>
                  </m:oMath>
                </a14:m>
                <a:r>
                  <a:rPr lang="zh-CN" altLang="en-US" dirty="0"/>
                  <a:t>。这个可以用</a:t>
                </a:r>
                <a:r>
                  <a:rPr lang="en-US" altLang="zh-CN" dirty="0" err="1"/>
                  <a:t>lct</a:t>
                </a:r>
                <a:r>
                  <a:rPr lang="zh-CN" altLang="en-US" dirty="0"/>
                  <a:t>维护链最小值来实现。对于每个询问，我们的答案就是对</a:t>
                </a:r>
                <a14:m>
                  <m:oMath xmlns:m="http://schemas.openxmlformats.org/officeDocument/2006/math">
                    <m:r>
                      <a:rPr lang="en-US" altLang="zh-CN" i="1" dirty="0" smtClean="0">
                        <a:latin typeface="Cambria Math" panose="02040503050406030204" pitchFamily="18" charset="0"/>
                      </a:rPr>
                      <m:t>[</m:t>
                    </m:r>
                    <m:r>
                      <a:rPr lang="en-US" altLang="zh-CN" i="1" dirty="0" err="1" smtClean="0">
                        <a:latin typeface="Cambria Math" panose="02040503050406030204" pitchFamily="18" charset="0"/>
                      </a:rPr>
                      <m:t>𝑙</m:t>
                    </m:r>
                    <m:r>
                      <a:rPr lang="en-US" altLang="zh-CN" i="1" dirty="0" err="1" smtClean="0">
                        <a:latin typeface="Cambria Math" panose="02040503050406030204" pitchFamily="18" charset="0"/>
                      </a:rPr>
                      <m:t>,</m:t>
                    </m:r>
                    <m:r>
                      <a:rPr lang="en-US" altLang="zh-CN" i="1" dirty="0" err="1" smtClean="0">
                        <a:latin typeface="Cambria Math" panose="02040503050406030204" pitchFamily="18" charset="0"/>
                      </a:rPr>
                      <m:t>𝑟</m:t>
                    </m:r>
                    <m:r>
                      <a:rPr lang="en-US" altLang="zh-CN" i="1" dirty="0" smtClean="0">
                        <a:latin typeface="Cambria Math" panose="02040503050406030204" pitchFamily="18" charset="0"/>
                      </a:rPr>
                      <m:t>]</m:t>
                    </m:r>
                  </m:oMath>
                </a14:m>
                <a:r>
                  <a:rPr lang="zh-CN" altLang="en-US" dirty="0"/>
                  <a:t>中</a:t>
                </a:r>
                <a14:m>
                  <m:oMath xmlns:m="http://schemas.openxmlformats.org/officeDocument/2006/math">
                    <m:r>
                      <a:rPr lang="en-US" altLang="zh-CN" i="1" dirty="0" smtClean="0">
                        <a:latin typeface="Cambria Math" panose="02040503050406030204" pitchFamily="18" charset="0"/>
                      </a:rPr>
                      <m:t>𝑛𝑡𝑟</m:t>
                    </m:r>
                  </m:oMath>
                </a14:m>
                <a:r>
                  <a:rPr lang="zh-CN" altLang="en-US" dirty="0"/>
                  <a:t>小于</a:t>
                </a:r>
                <a14:m>
                  <m:oMath xmlns:m="http://schemas.openxmlformats.org/officeDocument/2006/math">
                    <m:r>
                      <a:rPr lang="en-US" altLang="zh-CN" i="1" dirty="0" smtClean="0">
                        <a:latin typeface="Cambria Math" panose="02040503050406030204" pitchFamily="18" charset="0"/>
                      </a:rPr>
                      <m:t>𝑙</m:t>
                    </m:r>
                  </m:oMath>
                </a14:m>
                <a:r>
                  <a:rPr lang="zh-CN" altLang="en-US" dirty="0"/>
                  <a:t>的边求个数，并用</a:t>
                </a:r>
                <a14:m>
                  <m:oMath xmlns:m="http://schemas.openxmlformats.org/officeDocument/2006/math">
                    <m:r>
                      <a:rPr lang="en-US" altLang="zh-CN" i="1" dirty="0" smtClean="0">
                        <a:latin typeface="Cambria Math" panose="02040503050406030204" pitchFamily="18" charset="0"/>
                      </a:rPr>
                      <m:t>𝑛</m:t>
                    </m:r>
                  </m:oMath>
                </a14:m>
                <a:r>
                  <a:rPr lang="zh-CN" altLang="en-US" dirty="0"/>
                  <a:t>减去这个值。上面这个查询，是一个裸的主席树。</a:t>
                </a:r>
                <a:endParaRPr lang="en-US" altLang="zh-CN" dirty="0"/>
              </a:p>
              <a:p>
                <a:r>
                  <a:rPr lang="zh-CN" altLang="en-US" dirty="0"/>
                  <a:t>正确性：如果一条边的</a:t>
                </a:r>
                <a14:m>
                  <m:oMath xmlns:m="http://schemas.openxmlformats.org/officeDocument/2006/math">
                    <m:r>
                      <a:rPr lang="en-US" altLang="zh-CN" b="0" i="1" smtClean="0">
                        <a:latin typeface="Cambria Math" panose="02040503050406030204" pitchFamily="18" charset="0"/>
                      </a:rPr>
                      <m:t>𝑛𝑡𝑟</m:t>
                    </m:r>
                    <m:r>
                      <a:rPr lang="en-US" altLang="zh-CN" b="0" i="1" smtClean="0">
                        <a:latin typeface="Cambria Math" panose="02040503050406030204" pitchFamily="18" charset="0"/>
                      </a:rPr>
                      <m:t>≥</m:t>
                    </m:r>
                    <m:r>
                      <a:rPr lang="en-US" altLang="zh-CN" b="0" i="1" smtClean="0">
                        <a:latin typeface="Cambria Math" panose="02040503050406030204" pitchFamily="18" charset="0"/>
                      </a:rPr>
                      <m:t>𝑙</m:t>
                    </m:r>
                  </m:oMath>
                </a14:m>
                <a:r>
                  <a:rPr lang="zh-CN" altLang="en-US" dirty="0"/>
                  <a:t>，那么它可以与</a:t>
                </a:r>
                <a14:m>
                  <m:oMath xmlns:m="http://schemas.openxmlformats.org/officeDocument/2006/math">
                    <m:r>
                      <a:rPr lang="en-US" altLang="zh-CN" i="1" dirty="0" smtClean="0">
                        <a:latin typeface="Cambria Math" panose="02040503050406030204" pitchFamily="18" charset="0"/>
                      </a:rPr>
                      <m:t>[</m:t>
                    </m:r>
                    <m:r>
                      <a:rPr lang="en-US" altLang="zh-CN" i="1" dirty="0" err="1" smtClean="0">
                        <a:latin typeface="Cambria Math" panose="02040503050406030204" pitchFamily="18" charset="0"/>
                      </a:rPr>
                      <m:t>𝑙</m:t>
                    </m:r>
                    <m:r>
                      <a:rPr lang="en-US" altLang="zh-CN" i="1" dirty="0" err="1" smtClean="0">
                        <a:latin typeface="Cambria Math" panose="02040503050406030204" pitchFamily="18" charset="0"/>
                      </a:rPr>
                      <m:t>,</m:t>
                    </m:r>
                    <m:r>
                      <a:rPr lang="en-US" altLang="zh-CN" i="1" dirty="0" err="1" smtClean="0">
                        <a:latin typeface="Cambria Math" panose="02040503050406030204" pitchFamily="18" charset="0"/>
                      </a:rPr>
                      <m:t>𝑟</m:t>
                    </m:r>
                    <m:r>
                      <a:rPr lang="en-US" altLang="zh-CN" i="1" dirty="0" smtClean="0">
                        <a:latin typeface="Cambria Math" panose="02040503050406030204" pitchFamily="18" charset="0"/>
                      </a:rPr>
                      <m:t>]</m:t>
                    </m:r>
                  </m:oMath>
                </a14:m>
                <a:r>
                  <a:rPr lang="zh-CN" altLang="en-US" dirty="0"/>
                  <a:t>中的边形成环，对答案就没有贡献；如果一条边的</a:t>
                </a:r>
                <a14:m>
                  <m:oMath xmlns:m="http://schemas.openxmlformats.org/officeDocument/2006/math">
                    <m:r>
                      <a:rPr lang="en-US" altLang="zh-CN" i="1" dirty="0" smtClean="0">
                        <a:latin typeface="Cambria Math" panose="02040503050406030204" pitchFamily="18" charset="0"/>
                      </a:rPr>
                      <m:t>𝑛𝑡𝑟</m:t>
                    </m:r>
                    <m:r>
                      <a:rPr lang="en-US" altLang="zh-CN" i="1" dirty="0" smtClean="0">
                        <a:latin typeface="Cambria Math" panose="02040503050406030204" pitchFamily="18" charset="0"/>
                      </a:rPr>
                      <m:t>&lt;</m:t>
                    </m:r>
                    <m:r>
                      <a:rPr lang="en-US" altLang="zh-CN" i="1" dirty="0" smtClean="0">
                        <a:latin typeface="Cambria Math" panose="02040503050406030204" pitchFamily="18" charset="0"/>
                      </a:rPr>
                      <m:t>𝑙</m:t>
                    </m:r>
                  </m:oMath>
                </a14:m>
                <a:r>
                  <a:rPr lang="zh-CN" altLang="en-US" dirty="0"/>
                  <a:t>，那么它与</a:t>
                </a:r>
                <a14:m>
                  <m:oMath xmlns:m="http://schemas.openxmlformats.org/officeDocument/2006/math">
                    <m:r>
                      <a:rPr lang="en-US" altLang="zh-CN" i="1" dirty="0" smtClean="0">
                        <a:latin typeface="Cambria Math" panose="02040503050406030204" pitchFamily="18" charset="0"/>
                      </a:rPr>
                      <m:t>[</m:t>
                    </m:r>
                    <m:r>
                      <a:rPr lang="en-US" altLang="zh-CN" i="1" dirty="0" err="1" smtClean="0">
                        <a:latin typeface="Cambria Math" panose="02040503050406030204" pitchFamily="18" charset="0"/>
                      </a:rPr>
                      <m:t>𝑙</m:t>
                    </m:r>
                    <m:r>
                      <a:rPr lang="en-US" altLang="zh-CN" i="1" dirty="0" err="1" smtClean="0">
                        <a:latin typeface="Cambria Math" panose="02040503050406030204" pitchFamily="18" charset="0"/>
                      </a:rPr>
                      <m:t>,</m:t>
                    </m:r>
                    <m:r>
                      <a:rPr lang="en-US" altLang="zh-CN" i="1" dirty="0" err="1" smtClean="0">
                        <a:latin typeface="Cambria Math" panose="02040503050406030204" pitchFamily="18" charset="0"/>
                      </a:rPr>
                      <m:t>𝑟</m:t>
                    </m:r>
                    <m:r>
                      <a:rPr lang="en-US" altLang="zh-CN" i="1" dirty="0" smtClean="0">
                        <a:latin typeface="Cambria Math" panose="02040503050406030204" pitchFamily="18" charset="0"/>
                      </a:rPr>
                      <m:t>]</m:t>
                    </m:r>
                  </m:oMath>
                </a14:m>
                <a:r>
                  <a:rPr lang="zh-CN" altLang="en-US" dirty="0"/>
                  <a:t>中的边是不能形成环的，对答案的贡献为</a:t>
                </a:r>
                <a14:m>
                  <m:oMath xmlns:m="http://schemas.openxmlformats.org/officeDocument/2006/math">
                    <m:r>
                      <a:rPr lang="en-US" altLang="zh-CN" i="1" dirty="0" smtClean="0">
                        <a:latin typeface="Cambria Math" panose="02040503050406030204" pitchFamily="18" charset="0"/>
                      </a:rPr>
                      <m:t>−1</m:t>
                    </m:r>
                  </m:oMath>
                </a14:m>
                <a:r>
                  <a:rPr lang="zh-CN" altLang="en-US" dirty="0"/>
                  <a:t>。</a:t>
                </a:r>
                <a:endParaRPr lang="en-US" altLang="zh-CN" dirty="0"/>
              </a:p>
            </p:txBody>
          </p:sp>
        </mc:Choice>
        <mc:Fallback xmlns="">
          <p:sp>
            <p:nvSpPr>
              <p:cNvPr id="3" name="内容占位符 2">
                <a:extLst>
                  <a:ext uri="{FF2B5EF4-FFF2-40B4-BE49-F238E27FC236}">
                    <a16:creationId xmlns:a16="http://schemas.microsoft.com/office/drawing/2014/main" id="{CC53F23E-12ED-4186-9849-039DC26AC96A}"/>
                  </a:ext>
                </a:extLst>
              </p:cNvPr>
              <p:cNvSpPr>
                <a:spLocks noGrp="1" noRot="1" noChangeAspect="1" noMove="1" noResize="1" noEditPoints="1" noAdjustHandles="1" noChangeArrowheads="1" noChangeShapeType="1" noTextEdit="1"/>
              </p:cNvSpPr>
              <p:nvPr>
                <p:ph idx="1"/>
              </p:nvPr>
            </p:nvSpPr>
            <p:spPr>
              <a:blipFill>
                <a:blip r:embed="rId2"/>
                <a:stretch>
                  <a:fillRect l="-341" t="-1163" r="-54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61831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418765F2-A4F6-4B9E-A3CC-2F38B6234B0D}"/>
              </a:ext>
            </a:extLst>
          </p:cNvPr>
          <p:cNvSpPr>
            <a:spLocks noGrp="1"/>
          </p:cNvSpPr>
          <p:nvPr>
            <p:ph type="title"/>
          </p:nvPr>
        </p:nvSpPr>
        <p:spPr/>
        <p:txBody>
          <a:bodyPr/>
          <a:lstStyle/>
          <a:p>
            <a:r>
              <a:rPr lang="en-US" altLang="zh-CN" dirty="0"/>
              <a:t>uoj207 </a:t>
            </a:r>
            <a:r>
              <a:rPr lang="zh-CN" altLang="en-US" dirty="0"/>
              <a:t>共价大爷游长沙</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xmlns="" id="{11FF4A49-E6CA-4805-A29B-93F940516541}"/>
                  </a:ext>
                </a:extLst>
              </p:cNvPr>
              <p:cNvSpPr>
                <a:spLocks noGrp="1"/>
              </p:cNvSpPr>
              <p:nvPr>
                <p:ph idx="1"/>
              </p:nvPr>
            </p:nvSpPr>
            <p:spPr/>
            <p:txBody>
              <a:bodyPr>
                <a:normAutofit fontScale="92500" lnSpcReduction="10000"/>
              </a:bodyPr>
              <a:lstStyle/>
              <a:p>
                <a:r>
                  <a:rPr lang="zh-CN" altLang="en-US" dirty="0"/>
                  <a:t>给一棵树，每次要么在一个集合中加入一条路径，要么删除已经加入的一条路径，要么删掉树的一条边再</a:t>
                </a:r>
                <a:r>
                  <a:rPr lang="zh-CN" altLang="en-US"/>
                  <a:t>连上一</a:t>
                </a:r>
                <a:r>
                  <a:rPr lang="zh-CN" altLang="en-US" dirty="0"/>
                  <a:t>条边，要么询问树上一条边是否被所有路径经过。</a:t>
                </a:r>
                <a:endParaRPr lang="en-US" altLang="zh-CN" dirty="0"/>
              </a:p>
              <a:p>
                <a:endParaRPr lang="en-US" altLang="zh-CN" dirty="0"/>
              </a:p>
              <a:p>
                <a:r>
                  <a:rPr lang="zh-CN" altLang="en-US" dirty="0"/>
                  <a:t>对于每一条路径随机一个权值，两个端点分别异或这个权值。判断一条边是否在所有路径上，只需判断其中一个点的子树异或和是不是等于所有路径的异或和就行了。问题在于，用动态树维护子树信息。</a:t>
                </a:r>
              </a:p>
              <a:p>
                <a:r>
                  <a:rPr lang="zh-CN" altLang="en-US" dirty="0"/>
                  <a:t>注意</a:t>
                </a:r>
                <a:r>
                  <a:rPr lang="en-US" altLang="zh-CN" dirty="0"/>
                  <a:t>access</a:t>
                </a:r>
                <a:r>
                  <a:rPr lang="zh-CN" altLang="en-US" dirty="0"/>
                  <a:t>操作的一个</a:t>
                </a:r>
                <a:r>
                  <a:rPr lang="en-US" altLang="zh-CN" dirty="0"/>
                  <a:t>trick</a:t>
                </a:r>
                <a:r>
                  <a:rPr lang="zh-CN" altLang="en-US" dirty="0"/>
                  <a:t>。若把一个点</a:t>
                </a:r>
                <a:r>
                  <a:rPr lang="en-US" altLang="zh-CN" dirty="0"/>
                  <a:t>access</a:t>
                </a:r>
                <a:r>
                  <a:rPr lang="zh-CN" altLang="en-US" dirty="0"/>
                  <a:t>以后，它到根结点会形成一条链，那么它的儿子全部会变成虚儿子，这时它在原树上的子树也是虚子树了，所以我们只要维护虚子树的信息。设</a:t>
                </a:r>
                <a14:m>
                  <m:oMath xmlns:m="http://schemas.openxmlformats.org/officeDocument/2006/math">
                    <m:r>
                      <a:rPr lang="en-US" altLang="zh-CN" i="1" dirty="0" smtClean="0">
                        <a:latin typeface="Cambria Math" panose="02040503050406030204" pitchFamily="18" charset="0"/>
                      </a:rPr>
                      <m:t>𝑣𝑎𝑙</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𝑥</m:t>
                    </m:r>
                    <m:r>
                      <a:rPr lang="en-US" altLang="zh-CN" i="1" dirty="0" smtClean="0">
                        <a:latin typeface="Cambria Math" panose="02040503050406030204" pitchFamily="18" charset="0"/>
                      </a:rPr>
                      <m:t>]</m:t>
                    </m:r>
                  </m:oMath>
                </a14:m>
                <a:r>
                  <a:rPr lang="zh-CN" altLang="en-US" dirty="0"/>
                  <a:t>表示</a:t>
                </a:r>
                <a:r>
                  <a:rPr lang="en-US" altLang="zh-CN" dirty="0"/>
                  <a:t>x</a:t>
                </a:r>
                <a:r>
                  <a:rPr lang="zh-CN" altLang="en-US" dirty="0"/>
                  <a:t>与虚子树的异或和，</a:t>
                </a:r>
                <a14:m>
                  <m:oMath xmlns:m="http://schemas.openxmlformats.org/officeDocument/2006/math">
                    <m:r>
                      <a:rPr lang="en-US" altLang="zh-CN" i="1" dirty="0" smtClean="0">
                        <a:latin typeface="Cambria Math" panose="02040503050406030204" pitchFamily="18" charset="0"/>
                      </a:rPr>
                      <m:t>𝑠𝑢𝑚</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𝑥</m:t>
                    </m:r>
                    <m:r>
                      <a:rPr lang="en-US" altLang="zh-CN" i="1" dirty="0" smtClean="0">
                        <a:latin typeface="Cambria Math" panose="02040503050406030204" pitchFamily="18" charset="0"/>
                      </a:rPr>
                      <m:t>]</m:t>
                    </m:r>
                  </m:oMath>
                </a14:m>
                <a:r>
                  <a:rPr lang="zh-CN" altLang="en-US" dirty="0"/>
                  <a:t>为</a:t>
                </a:r>
                <a14:m>
                  <m:oMath xmlns:m="http://schemas.openxmlformats.org/officeDocument/2006/math">
                    <m:r>
                      <a:rPr lang="en-US" altLang="zh-CN" i="1" dirty="0" smtClean="0">
                        <a:latin typeface="Cambria Math" panose="02040503050406030204" pitchFamily="18" charset="0"/>
                      </a:rPr>
                      <m:t>𝑥</m:t>
                    </m:r>
                  </m:oMath>
                </a14:m>
                <a:r>
                  <a:rPr lang="zh-CN" altLang="en-US" dirty="0"/>
                  <a:t>在</a:t>
                </a:r>
                <a:r>
                  <a:rPr lang="en-US" altLang="zh-CN" dirty="0"/>
                  <a:t>splay</a:t>
                </a:r>
                <a:r>
                  <a:rPr lang="zh-CN" altLang="en-US" dirty="0"/>
                  <a:t>中的子树异或和。</a:t>
                </a:r>
                <a:r>
                  <a:rPr lang="en-US" altLang="zh-CN" dirty="0"/>
                  <a:t>access</a:t>
                </a:r>
                <a:r>
                  <a:rPr lang="zh-CN" altLang="en-US" dirty="0"/>
                  <a:t>虚实边切换时，我们要把新的虚儿子加入</a:t>
                </a:r>
                <a14:m>
                  <m:oMath xmlns:m="http://schemas.openxmlformats.org/officeDocument/2006/math">
                    <m:r>
                      <a:rPr lang="en-US" altLang="zh-CN" i="1" dirty="0" smtClean="0">
                        <a:latin typeface="Cambria Math" panose="02040503050406030204" pitchFamily="18" charset="0"/>
                      </a:rPr>
                      <m:t>𝑣𝑎𝑙</m:t>
                    </m:r>
                  </m:oMath>
                </a14:m>
                <a:r>
                  <a:rPr lang="zh-CN" altLang="en-US" dirty="0"/>
                  <a:t>，新的实儿子从</a:t>
                </a:r>
                <a14:m>
                  <m:oMath xmlns:m="http://schemas.openxmlformats.org/officeDocument/2006/math">
                    <m:r>
                      <a:rPr lang="en-US" altLang="zh-CN" i="1" dirty="0" smtClean="0">
                        <a:latin typeface="Cambria Math" panose="02040503050406030204" pitchFamily="18" charset="0"/>
                      </a:rPr>
                      <m:t>𝑣𝑎𝑙</m:t>
                    </m:r>
                  </m:oMath>
                </a14:m>
                <a:r>
                  <a:rPr lang="zh-CN" altLang="en-US" dirty="0"/>
                  <a:t>删去。加入或删除路径操作，直接把两个点都</a:t>
                </a:r>
                <a:r>
                  <a:rPr lang="en-US" altLang="zh-CN" dirty="0"/>
                  <a:t>access</a:t>
                </a:r>
                <a:r>
                  <a:rPr lang="zh-CN" altLang="en-US" dirty="0"/>
                  <a:t>再</a:t>
                </a:r>
                <a:r>
                  <a:rPr lang="en-US" altLang="zh-CN" dirty="0"/>
                  <a:t>splay</a:t>
                </a:r>
                <a:r>
                  <a:rPr lang="zh-CN" altLang="en-US" dirty="0"/>
                  <a:t>，然后</a:t>
                </a:r>
                <a14:m>
                  <m:oMath xmlns:m="http://schemas.openxmlformats.org/officeDocument/2006/math">
                    <m:r>
                      <a:rPr lang="en-US" altLang="zh-CN" i="1" dirty="0" smtClean="0">
                        <a:latin typeface="Cambria Math" panose="02040503050406030204" pitchFamily="18" charset="0"/>
                      </a:rPr>
                      <m:t>𝑣𝑎𝑙</m:t>
                    </m:r>
                  </m:oMath>
                </a14:m>
                <a:r>
                  <a:rPr lang="zh-CN" altLang="en-US" dirty="0"/>
                  <a:t>和</a:t>
                </a:r>
                <a14:m>
                  <m:oMath xmlns:m="http://schemas.openxmlformats.org/officeDocument/2006/math">
                    <m:r>
                      <a:rPr lang="en-US" altLang="zh-CN" i="1" dirty="0" smtClean="0">
                        <a:latin typeface="Cambria Math" panose="02040503050406030204" pitchFamily="18" charset="0"/>
                      </a:rPr>
                      <m:t>𝑠𝑢𝑚</m:t>
                    </m:r>
                  </m:oMath>
                </a14:m>
                <a:r>
                  <a:rPr lang="zh-CN" altLang="en-US" dirty="0"/>
                  <a:t>异或随机值即可；</a:t>
                </a:r>
                <a:r>
                  <a:rPr lang="en-US" altLang="zh-CN" dirty="0"/>
                  <a:t>link</a:t>
                </a:r>
                <a:r>
                  <a:rPr lang="zh-CN" altLang="en-US" dirty="0"/>
                  <a:t>操作注意</a:t>
                </a:r>
                <a14:m>
                  <m:oMath xmlns:m="http://schemas.openxmlformats.org/officeDocument/2006/math">
                    <m:r>
                      <a:rPr lang="en-US" altLang="zh-CN" i="1" dirty="0" smtClean="0">
                        <a:latin typeface="Cambria Math" panose="02040503050406030204" pitchFamily="18" charset="0"/>
                      </a:rPr>
                      <m:t>𝑥</m:t>
                    </m:r>
                  </m:oMath>
                </a14:m>
                <a:r>
                  <a:rPr lang="zh-CN" altLang="en-US" dirty="0"/>
                  <a:t>和</a:t>
                </a:r>
                <a14:m>
                  <m:oMath xmlns:m="http://schemas.openxmlformats.org/officeDocument/2006/math">
                    <m:r>
                      <a:rPr lang="en-US" altLang="zh-CN" i="1" dirty="0" smtClean="0">
                        <a:latin typeface="Cambria Math" panose="02040503050406030204" pitchFamily="18" charset="0"/>
                      </a:rPr>
                      <m:t>𝑦</m:t>
                    </m:r>
                  </m:oMath>
                </a14:m>
                <a:r>
                  <a:rPr lang="zh-CN" altLang="en-US" dirty="0"/>
                  <a:t>都要</a:t>
                </a:r>
                <a:r>
                  <a:rPr lang="en-US" altLang="zh-CN" dirty="0" err="1"/>
                  <a:t>makeroot</a:t>
                </a:r>
                <a:r>
                  <a:rPr lang="zh-CN" altLang="en-US" dirty="0"/>
                  <a:t>；查询时先</a:t>
                </a:r>
                <a:r>
                  <a:rPr lang="en-US" altLang="zh-CN" dirty="0" err="1"/>
                  <a:t>makeroot</a:t>
                </a:r>
                <a:r>
                  <a:rPr lang="en-US" altLang="zh-CN" dirty="0"/>
                  <a:t>(</a:t>
                </a:r>
                <a14:m>
                  <m:oMath xmlns:m="http://schemas.openxmlformats.org/officeDocument/2006/math">
                    <m:r>
                      <a:rPr lang="en-US" altLang="zh-CN" i="1" dirty="0" smtClean="0">
                        <a:latin typeface="Cambria Math" panose="02040503050406030204" pitchFamily="18" charset="0"/>
                      </a:rPr>
                      <m:t>𝑥</m:t>
                    </m:r>
                  </m:oMath>
                </a14:m>
                <a:r>
                  <a:rPr lang="en-US" altLang="zh-CN" dirty="0"/>
                  <a:t>)</a:t>
                </a:r>
                <a:r>
                  <a:rPr lang="zh-CN" altLang="en-US" dirty="0"/>
                  <a:t>再</a:t>
                </a:r>
                <a:r>
                  <a:rPr lang="en-US" altLang="zh-CN" dirty="0"/>
                  <a:t>access(</a:t>
                </a:r>
                <a14:m>
                  <m:oMath xmlns:m="http://schemas.openxmlformats.org/officeDocument/2006/math">
                    <m:r>
                      <a:rPr lang="en-US" altLang="zh-CN" i="1" dirty="0" smtClean="0">
                        <a:latin typeface="Cambria Math" panose="02040503050406030204" pitchFamily="18" charset="0"/>
                      </a:rPr>
                      <m:t>𝑦</m:t>
                    </m:r>
                  </m:oMath>
                </a14:m>
                <a:r>
                  <a:rPr lang="en-US" altLang="zh-CN" dirty="0"/>
                  <a:t>)</a:t>
                </a:r>
                <a:r>
                  <a:rPr lang="zh-CN" altLang="en-US" dirty="0"/>
                  <a:t>，那么</a:t>
                </a:r>
                <a14:m>
                  <m:oMath xmlns:m="http://schemas.openxmlformats.org/officeDocument/2006/math">
                    <m:r>
                      <a:rPr lang="en-US" altLang="zh-CN" i="1" dirty="0" smtClean="0">
                        <a:latin typeface="Cambria Math" panose="02040503050406030204" pitchFamily="18" charset="0"/>
                      </a:rPr>
                      <m:t>𝑣𝑎𝑙</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𝑦</m:t>
                    </m:r>
                    <m:r>
                      <a:rPr lang="en-US" altLang="zh-CN" i="1" dirty="0" smtClean="0">
                        <a:latin typeface="Cambria Math" panose="02040503050406030204" pitchFamily="18" charset="0"/>
                      </a:rPr>
                      <m:t>]</m:t>
                    </m:r>
                  </m:oMath>
                </a14:m>
                <a:r>
                  <a:rPr lang="zh-CN" altLang="en-US" dirty="0"/>
                  <a:t>就是子树异或和了。</a:t>
                </a:r>
              </a:p>
            </p:txBody>
          </p:sp>
        </mc:Choice>
        <mc:Fallback xmlns="">
          <p:sp>
            <p:nvSpPr>
              <p:cNvPr id="3" name="内容占位符 2">
                <a:extLst>
                  <a:ext uri="{FF2B5EF4-FFF2-40B4-BE49-F238E27FC236}">
                    <a16:creationId xmlns:a16="http://schemas.microsoft.com/office/drawing/2014/main" id="{11FF4A49-E6CA-4805-A29B-93F940516541}"/>
                  </a:ext>
                </a:extLst>
              </p:cNvPr>
              <p:cNvSpPr>
                <a:spLocks noGrp="1" noRot="1" noChangeAspect="1" noMove="1" noResize="1" noEditPoints="1" noAdjustHandles="1" noChangeArrowheads="1" noChangeShapeType="1" noTextEdit="1"/>
              </p:cNvSpPr>
              <p:nvPr>
                <p:ph idx="1"/>
              </p:nvPr>
            </p:nvSpPr>
            <p:spPr>
              <a:blipFill>
                <a:blip r:embed="rId2"/>
                <a:stretch>
                  <a:fillRect l="-272" t="-1453" r="-477" b="-87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7849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离子">
  <a:themeElements>
    <a:clrScheme name="离子">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离子">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离子">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xmlns=""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951</TotalTime>
  <Words>2889</Words>
  <Application>Microsoft Office PowerPoint</Application>
  <PresentationFormat>自定义</PresentationFormat>
  <Paragraphs>106</Paragraphs>
  <Slides>20</Slides>
  <Notes>0</Notes>
  <HiddenSlides>0</HiddenSlides>
  <MMClips>0</MMClips>
  <ScaleCrop>false</ScaleCrop>
  <HeadingPairs>
    <vt:vector size="4" baseType="variant">
      <vt:variant>
        <vt:lpstr>主题</vt:lpstr>
      </vt:variant>
      <vt:variant>
        <vt:i4>1</vt:i4>
      </vt:variant>
      <vt:variant>
        <vt:lpstr>幻灯片标题</vt:lpstr>
      </vt:variant>
      <vt:variant>
        <vt:i4>20</vt:i4>
      </vt:variant>
    </vt:vector>
  </HeadingPairs>
  <TitlesOfParts>
    <vt:vector size="21" baseType="lpstr">
      <vt:lpstr>离子</vt:lpstr>
      <vt:lpstr>数据结构</vt:lpstr>
      <vt:lpstr>树状数组</vt:lpstr>
      <vt:lpstr>AtCoder Regular Contest 068E Snuke Line</vt:lpstr>
      <vt:lpstr>codeforces 283E Cow Tennis Tournament</vt:lpstr>
      <vt:lpstr>[Tjoi2016&amp;Heoi2016]排序</vt:lpstr>
      <vt:lpstr>主席树</vt:lpstr>
      <vt:lpstr>主席树</vt:lpstr>
      <vt:lpstr>HNOI2017 影魔</vt:lpstr>
      <vt:lpstr>LNOI2014 LCA</vt:lpstr>
      <vt:lpstr>分块</vt:lpstr>
      <vt:lpstr>bzoj4241 历史研究</vt:lpstr>
      <vt:lpstr>SHOI2006 Homework</vt:lpstr>
      <vt:lpstr>莫队</vt:lpstr>
      <vt:lpstr>莫队</vt:lpstr>
      <vt:lpstr>HNIOI2016 大数</vt:lpstr>
      <vt:lpstr>[Ynoi2017]由乃的玉米田</vt:lpstr>
      <vt:lpstr>splay</vt:lpstr>
      <vt:lpstr>LCT</vt:lpstr>
      <vt:lpstr>Codechef MARCH14 GERALD07加强版</vt:lpstr>
      <vt:lpstr>uoj207 共价大爷游长沙</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数据结构</dc:title>
  <dc:creator>wfj</dc:creator>
  <cp:lastModifiedBy>xxx</cp:lastModifiedBy>
  <cp:revision>148</cp:revision>
  <dcterms:created xsi:type="dcterms:W3CDTF">2020-07-26T01:23:15Z</dcterms:created>
  <dcterms:modified xsi:type="dcterms:W3CDTF">2020-07-28T17:15:50Z</dcterms:modified>
</cp:coreProperties>
</file>