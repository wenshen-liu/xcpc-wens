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97"/>
  </p:notesMasterIdLst>
  <p:sldIdLst>
    <p:sldId id="256" r:id="rId2"/>
    <p:sldId id="383" r:id="rId3"/>
    <p:sldId id="400" r:id="rId4"/>
    <p:sldId id="415" r:id="rId5"/>
    <p:sldId id="416" r:id="rId6"/>
    <p:sldId id="406" r:id="rId7"/>
    <p:sldId id="407" r:id="rId8"/>
    <p:sldId id="408" r:id="rId9"/>
    <p:sldId id="403" r:id="rId10"/>
    <p:sldId id="404" r:id="rId11"/>
    <p:sldId id="409" r:id="rId12"/>
    <p:sldId id="410" r:id="rId13"/>
    <p:sldId id="417" r:id="rId14"/>
    <p:sldId id="418" r:id="rId15"/>
    <p:sldId id="419" r:id="rId16"/>
    <p:sldId id="420" r:id="rId17"/>
    <p:sldId id="427" r:id="rId18"/>
    <p:sldId id="446" r:id="rId19"/>
    <p:sldId id="448" r:id="rId20"/>
    <p:sldId id="449" r:id="rId21"/>
    <p:sldId id="450" r:id="rId22"/>
    <p:sldId id="428" r:id="rId23"/>
    <p:sldId id="447" r:id="rId24"/>
    <p:sldId id="425" r:id="rId25"/>
    <p:sldId id="426" r:id="rId26"/>
    <p:sldId id="429" r:id="rId27"/>
    <p:sldId id="430" r:id="rId28"/>
    <p:sldId id="431" r:id="rId29"/>
    <p:sldId id="443" r:id="rId30"/>
    <p:sldId id="444" r:id="rId31"/>
    <p:sldId id="421" r:id="rId32"/>
    <p:sldId id="422" r:id="rId33"/>
    <p:sldId id="423" r:id="rId34"/>
    <p:sldId id="424" r:id="rId35"/>
    <p:sldId id="434" r:id="rId36"/>
    <p:sldId id="435" r:id="rId37"/>
    <p:sldId id="436" r:id="rId38"/>
    <p:sldId id="437" r:id="rId39"/>
    <p:sldId id="438" r:id="rId40"/>
    <p:sldId id="441" r:id="rId41"/>
    <p:sldId id="442" r:id="rId42"/>
    <p:sldId id="445" r:id="rId43"/>
    <p:sldId id="389" r:id="rId44"/>
    <p:sldId id="395" r:id="rId45"/>
    <p:sldId id="398" r:id="rId46"/>
    <p:sldId id="396" r:id="rId47"/>
    <p:sldId id="397" r:id="rId48"/>
    <p:sldId id="387" r:id="rId49"/>
    <p:sldId id="388" r:id="rId50"/>
    <p:sldId id="385" r:id="rId51"/>
    <p:sldId id="390" r:id="rId52"/>
    <p:sldId id="391" r:id="rId53"/>
    <p:sldId id="392" r:id="rId54"/>
    <p:sldId id="393" r:id="rId55"/>
    <p:sldId id="304" r:id="rId56"/>
    <p:sldId id="340" r:id="rId57"/>
    <p:sldId id="341" r:id="rId58"/>
    <p:sldId id="342" r:id="rId59"/>
    <p:sldId id="347" r:id="rId60"/>
    <p:sldId id="348" r:id="rId61"/>
    <p:sldId id="349" r:id="rId62"/>
    <p:sldId id="367" r:id="rId63"/>
    <p:sldId id="368" r:id="rId64"/>
    <p:sldId id="343" r:id="rId65"/>
    <p:sldId id="350" r:id="rId66"/>
    <p:sldId id="351" r:id="rId67"/>
    <p:sldId id="376" r:id="rId68"/>
    <p:sldId id="381" r:id="rId69"/>
    <p:sldId id="377" r:id="rId70"/>
    <p:sldId id="378" r:id="rId71"/>
    <p:sldId id="344" r:id="rId72"/>
    <p:sldId id="379" r:id="rId73"/>
    <p:sldId id="358" r:id="rId74"/>
    <p:sldId id="354" r:id="rId75"/>
    <p:sldId id="355" r:id="rId76"/>
    <p:sldId id="356" r:id="rId77"/>
    <p:sldId id="357" r:id="rId78"/>
    <p:sldId id="345" r:id="rId79"/>
    <p:sldId id="346" r:id="rId80"/>
    <p:sldId id="380" r:id="rId81"/>
    <p:sldId id="359" r:id="rId82"/>
    <p:sldId id="360" r:id="rId83"/>
    <p:sldId id="361" r:id="rId84"/>
    <p:sldId id="362" r:id="rId85"/>
    <p:sldId id="363" r:id="rId86"/>
    <p:sldId id="364" r:id="rId87"/>
    <p:sldId id="365" r:id="rId88"/>
    <p:sldId id="366" r:id="rId89"/>
    <p:sldId id="369" r:id="rId90"/>
    <p:sldId id="370" r:id="rId91"/>
    <p:sldId id="371" r:id="rId92"/>
    <p:sldId id="372" r:id="rId93"/>
    <p:sldId id="373" r:id="rId94"/>
    <p:sldId id="374" r:id="rId95"/>
    <p:sldId id="375" r:id="rId9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7431724-A583-4905-BD6F-73010EEA18C7}">
          <p14:sldIdLst>
            <p14:sldId id="256"/>
            <p14:sldId id="383"/>
            <p14:sldId id="400"/>
            <p14:sldId id="415"/>
            <p14:sldId id="416"/>
            <p14:sldId id="406"/>
            <p14:sldId id="407"/>
            <p14:sldId id="408"/>
            <p14:sldId id="403"/>
            <p14:sldId id="404"/>
            <p14:sldId id="409"/>
            <p14:sldId id="410"/>
            <p14:sldId id="417"/>
            <p14:sldId id="418"/>
            <p14:sldId id="419"/>
            <p14:sldId id="420"/>
            <p14:sldId id="427"/>
            <p14:sldId id="446"/>
            <p14:sldId id="448"/>
            <p14:sldId id="449"/>
            <p14:sldId id="450"/>
            <p14:sldId id="428"/>
            <p14:sldId id="447"/>
            <p14:sldId id="425"/>
            <p14:sldId id="426"/>
            <p14:sldId id="429"/>
            <p14:sldId id="430"/>
            <p14:sldId id="431"/>
            <p14:sldId id="443"/>
            <p14:sldId id="444"/>
            <p14:sldId id="421"/>
            <p14:sldId id="422"/>
            <p14:sldId id="423"/>
            <p14:sldId id="424"/>
            <p14:sldId id="434"/>
            <p14:sldId id="435"/>
            <p14:sldId id="436"/>
            <p14:sldId id="437"/>
            <p14:sldId id="438"/>
            <p14:sldId id="441"/>
            <p14:sldId id="442"/>
            <p14:sldId id="445"/>
            <p14:sldId id="389"/>
            <p14:sldId id="395"/>
            <p14:sldId id="398"/>
            <p14:sldId id="396"/>
            <p14:sldId id="397"/>
            <p14:sldId id="387"/>
            <p14:sldId id="388"/>
            <p14:sldId id="385"/>
            <p14:sldId id="390"/>
            <p14:sldId id="391"/>
            <p14:sldId id="392"/>
            <p14:sldId id="393"/>
            <p14:sldId id="304"/>
            <p14:sldId id="340"/>
            <p14:sldId id="341"/>
            <p14:sldId id="342"/>
            <p14:sldId id="347"/>
            <p14:sldId id="348"/>
            <p14:sldId id="349"/>
            <p14:sldId id="367"/>
            <p14:sldId id="368"/>
            <p14:sldId id="343"/>
            <p14:sldId id="350"/>
            <p14:sldId id="351"/>
            <p14:sldId id="376"/>
            <p14:sldId id="381"/>
            <p14:sldId id="377"/>
            <p14:sldId id="378"/>
            <p14:sldId id="344"/>
            <p14:sldId id="379"/>
            <p14:sldId id="358"/>
            <p14:sldId id="354"/>
            <p14:sldId id="355"/>
            <p14:sldId id="356"/>
            <p14:sldId id="357"/>
            <p14:sldId id="345"/>
            <p14:sldId id="346"/>
            <p14:sldId id="380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9"/>
            <p14:sldId id="370"/>
            <p14:sldId id="371"/>
            <p14:sldId id="372"/>
            <p14:sldId id="373"/>
            <p14:sldId id="374"/>
            <p14:sldId id="3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501923624093828"/>
          <c:y val="5.3811246139013932E-2"/>
          <c:w val="0.77272066882376111"/>
          <c:h val="0.76408664279658978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zsy 1</c:v>
                </c:pt>
              </c:strCache>
            </c:strRef>
          </c:tx>
          <c:invertIfNegative val="1"/>
          <c:cat>
            <c:strRef>
              <c:f>Sheet1!$A$2</c:f>
              <c:strCache>
                <c:ptCount val="1"/>
                <c:pt idx="0">
                  <c:v>yyb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7E-4BBC-B3C0-791B6B1DC0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zsy 2</c:v>
                </c:pt>
              </c:strCache>
            </c:strRef>
          </c:tx>
          <c:invertIfNegative val="1"/>
          <c:cat>
            <c:strRef>
              <c:f>Sheet1!$A$2</c:f>
              <c:strCache>
                <c:ptCount val="1"/>
                <c:pt idx="0">
                  <c:v>yyb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7E-4BBC-B3C0-791B6B1DC0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zsy 3</c:v>
                </c:pt>
              </c:strCache>
            </c:strRef>
          </c:tx>
          <c:invertIfNegative val="1"/>
          <c:cat>
            <c:strRef>
              <c:f>Sheet1!$A$2</c:f>
              <c:strCache>
                <c:ptCount val="1"/>
                <c:pt idx="0">
                  <c:v>yyb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7E-4BBC-B3C0-791B6B1DC08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zsy 4</c:v>
                </c:pt>
              </c:strCache>
            </c:strRef>
          </c:tx>
          <c:invertIfNegative val="1"/>
          <c:cat>
            <c:strRef>
              <c:f>Sheet1!$A$2</c:f>
              <c:strCache>
                <c:ptCount val="1"/>
                <c:pt idx="0">
                  <c:v>yyb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7E-4BBC-B3C0-791B6B1DC08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zsy 5</c:v>
                </c:pt>
              </c:strCache>
            </c:strRef>
          </c:tx>
          <c:invertIfNegative val="1"/>
          <c:cat>
            <c:strRef>
              <c:f>Sheet1!$A$2</c:f>
              <c:strCache>
                <c:ptCount val="1"/>
                <c:pt idx="0">
                  <c:v>yyb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7E-4BBC-B3C0-791B6B1DC08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zsy 6</c:v>
                </c:pt>
              </c:strCache>
            </c:strRef>
          </c:tx>
          <c:invertIfNegative val="1"/>
          <c:cat>
            <c:strRef>
              <c:f>Sheet1!$A$2</c:f>
              <c:strCache>
                <c:ptCount val="1"/>
                <c:pt idx="0">
                  <c:v>yyb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B7E-4BBC-B3C0-791B6B1DC088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zsy 7</c:v>
                </c:pt>
              </c:strCache>
            </c:strRef>
          </c:tx>
          <c:invertIfNegative val="1"/>
          <c:cat>
            <c:strRef>
              <c:f>Sheet1!$A$2</c:f>
              <c:strCache>
                <c:ptCount val="1"/>
                <c:pt idx="0">
                  <c:v>yyb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B7E-4BBC-B3C0-791B6B1DC088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zsy 8</c:v>
                </c:pt>
              </c:strCache>
            </c:strRef>
          </c:tx>
          <c:invertIfNegative val="1"/>
          <c:cat>
            <c:strRef>
              <c:f>Sheet1!$A$2</c:f>
              <c:strCache>
                <c:ptCount val="1"/>
                <c:pt idx="0">
                  <c:v>yyb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B7E-4BBC-B3C0-791B6B1DC0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2329856"/>
        <c:axId val="52352128"/>
      </c:barChart>
      <c:catAx>
        <c:axId val="52329856"/>
        <c:scaling>
          <c:orientation val="minMax"/>
        </c:scaling>
        <c:delete val="1"/>
        <c:axPos val="b"/>
        <c:numFmt formatCode="General" sourceLinked="0"/>
        <c:majorTickMark val="cross"/>
        <c:minorTickMark val="cross"/>
        <c:tickLblPos val="nextTo"/>
        <c:crossAx val="52352128"/>
        <c:crosses val="autoZero"/>
        <c:auto val="1"/>
        <c:lblAlgn val="ctr"/>
        <c:lblOffset val="100"/>
        <c:noMultiLvlLbl val="1"/>
      </c:catAx>
      <c:valAx>
        <c:axId val="52352128"/>
        <c:scaling>
          <c:orientation val="minMax"/>
        </c:scaling>
        <c:delete val="1"/>
        <c:axPos val="l"/>
        <c:majorGridlines/>
        <c:numFmt formatCode="General" sourceLinked="1"/>
        <c:majorTickMark val="cross"/>
        <c:minorTickMark val="cross"/>
        <c:tickLblPos val="nextTo"/>
        <c:crossAx val="52329856"/>
        <c:crosses val="autoZero"/>
        <c:crossBetween val="between"/>
      </c:valAx>
    </c:plotArea>
    <c:plotVisOnly val="1"/>
    <c:dispBlanksAs val="zero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87D7E-D70F-4341-B363-A3F4BED2B065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92B26-6FBF-4E82-ABD5-AF197A32D8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53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492B26-6FBF-4E82-ABD5-AF197A32D84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057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3E3B6-EE12-4E33-8533-233BCD2098C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505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492B26-6FBF-4E82-ABD5-AF197A32D84D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61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99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22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4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85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19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07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68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858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446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146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102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11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5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486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744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1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4E212-7C35-4592-8E1E-E2C8245231A3}" type="datetimeFigureOut">
              <a:rPr lang="zh-CN" altLang="en-US" smtClean="0"/>
              <a:t>2020/8/3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0C678E-E52A-4136-BF63-E0F5251344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807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chart" Target="../charts/chart1.x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wfj2048/p/6636028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yoyoball/p/8724115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blog.csdn.net/qq_33229466/article/details/78760476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			</a:t>
            </a:r>
            <a:r>
              <a:rPr lang="zh-CN" altLang="en-US" dirty="0" smtClean="0"/>
              <a:t>计数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dirty="0" smtClean="0"/>
              <a:t>By Anson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982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组合数学基础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87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常用公式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内容占位符 5"/>
          <p:cNvGraphicFramePr>
            <a:graphicFrameLocks noChangeAspect="1"/>
          </p:cNvGraphicFramePr>
          <p:nvPr>
            <p:extLst/>
          </p:nvPr>
        </p:nvGraphicFramePr>
        <p:xfrm>
          <a:off x="2725895" y="2915543"/>
          <a:ext cx="4117134" cy="1166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公式" r:id="rId3" imgW="1612800" imgH="457200" progId="Equation.3">
                  <p:embed/>
                </p:oleObj>
              </mc:Choice>
              <mc:Fallback>
                <p:oleObj name="公式" r:id="rId3" imgW="1612800" imgH="457200" progId="Equation.3">
                  <p:embed/>
                  <p:pic>
                    <p:nvPicPr>
                      <p:cNvPr id="4" name="内容占位符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895" y="2915543"/>
                        <a:ext cx="4117134" cy="11668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6"/>
          <p:cNvSpPr txBox="1"/>
          <p:nvPr/>
        </p:nvSpPr>
        <p:spPr>
          <a:xfrm>
            <a:off x="2722721" y="2316366"/>
            <a:ext cx="1918102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二项式定理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2676815" y="4374683"/>
            <a:ext cx="5427969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/>
              <a:t>第</a:t>
            </a:r>
            <a:r>
              <a:rPr lang="en-US" altLang="zh-CN" sz="2400" dirty="0" err="1" smtClean="0"/>
              <a:t>i</a:t>
            </a:r>
            <a:r>
              <a:rPr lang="zh-CN" altLang="en-US" sz="2400" dirty="0" smtClean="0"/>
              <a:t>种颜色的球有</a:t>
            </a:r>
            <a:r>
              <a:rPr lang="en-US" altLang="zh-CN" sz="2400" dirty="0" err="1" smtClean="0"/>
              <a:t>ai</a:t>
            </a:r>
            <a:r>
              <a:rPr lang="zh-CN" altLang="en-US" sz="2400" dirty="0" smtClean="0"/>
              <a:t>个，求排列的方案数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2947800" y="5137239"/>
          <a:ext cx="1063893" cy="111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公式" r:id="rId5" imgW="482400" imgH="507960" progId="Equation.3">
                  <p:embed/>
                </p:oleObj>
              </mc:Choice>
              <mc:Fallback>
                <p:oleObj name="公式" r:id="rId5" imgW="482400" imgH="50796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800" y="5137239"/>
                        <a:ext cx="1063893" cy="1119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7823637" y="2382705"/>
            <a:ext cx="1486003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可重组合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8053161" y="3062824"/>
          <a:ext cx="1522689" cy="996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公式" r:id="rId7" imgW="698400" imgH="457200" progId="Equation.3">
                  <p:embed/>
                </p:oleObj>
              </mc:Choice>
              <mc:Fallback>
                <p:oleObj name="公式" r:id="rId7" imgW="698400" imgH="45720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161" y="3062824"/>
                        <a:ext cx="1522689" cy="9966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05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小问题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求从 </a:t>
                </a:r>
                <a:r>
                  <a:rPr lang="en-US" altLang="zh-CN" dirty="0" smtClean="0"/>
                  <a:t>(0,0) </a:t>
                </a:r>
                <a:r>
                  <a:rPr lang="zh-CN" altLang="en-US" dirty="0" smtClean="0"/>
                  <a:t>到 </a:t>
                </a:r>
                <a:r>
                  <a:rPr lang="en-US" altLang="zh-CN" dirty="0" smtClean="0"/>
                  <a:t>(</a:t>
                </a:r>
                <a:r>
                  <a:rPr lang="en-US" altLang="zh-CN" dirty="0" err="1" smtClean="0"/>
                  <a:t>n,m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，不碰到直线 </a:t>
                </a:r>
                <a:r>
                  <a:rPr lang="en-US" altLang="zh-CN" dirty="0" smtClean="0"/>
                  <a:t>y=</a:t>
                </a:r>
                <a:r>
                  <a:rPr lang="en-US" altLang="zh-CN" dirty="0" err="1" smtClean="0"/>
                  <a:t>x+b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的方案数。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400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40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  <a:p>
                <a:pPr algn="ctr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31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斯特林数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第一类：</a:t>
            </a:r>
            <a:r>
              <a:rPr lang="en-US" altLang="zh-CN" dirty="0" smtClean="0"/>
              <a:t>n </a:t>
            </a:r>
            <a:r>
              <a:rPr lang="zh-CN" altLang="en-US" dirty="0" smtClean="0"/>
              <a:t>个人坐 </a:t>
            </a:r>
            <a:r>
              <a:rPr lang="en-US" altLang="zh-CN" dirty="0" smtClean="0"/>
              <a:t>m </a:t>
            </a:r>
            <a:r>
              <a:rPr lang="zh-CN" altLang="en-US" dirty="0" smtClean="0"/>
              <a:t>张圆桌的方案数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/>
              <a:t>第二</a:t>
            </a:r>
            <a:r>
              <a:rPr lang="zh-CN" altLang="en-US" dirty="0" smtClean="0"/>
              <a:t>类：</a:t>
            </a:r>
            <a:r>
              <a:rPr lang="en-US" altLang="zh-CN" dirty="0" smtClean="0"/>
              <a:t>n </a:t>
            </a:r>
            <a:r>
              <a:rPr lang="zh-CN" altLang="en-US" dirty="0" smtClean="0"/>
              <a:t>个球分成 </a:t>
            </a:r>
            <a:r>
              <a:rPr lang="en-US" altLang="zh-CN" dirty="0" smtClean="0"/>
              <a:t>m </a:t>
            </a:r>
            <a:r>
              <a:rPr lang="zh-CN" altLang="en-US" dirty="0" smtClean="0"/>
              <a:t>个集合的方案数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graphicFrame>
        <p:nvGraphicFramePr>
          <p:cNvPr id="4" name="内容占位符 5"/>
          <p:cNvGraphicFramePr>
            <a:graphicFrameLocks noChangeAspect="1"/>
          </p:cNvGraphicFramePr>
          <p:nvPr>
            <p:extLst/>
          </p:nvPr>
        </p:nvGraphicFramePr>
        <p:xfrm>
          <a:off x="3605937" y="2613437"/>
          <a:ext cx="4367185" cy="1061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公式" r:id="rId3" imgW="1879560" imgH="457200" progId="Equation.3">
                  <p:embed/>
                </p:oleObj>
              </mc:Choice>
              <mc:Fallback>
                <p:oleObj name="公式" r:id="rId3" imgW="1879560" imgH="457200" progId="Equation.3">
                  <p:embed/>
                  <p:pic>
                    <p:nvPicPr>
                      <p:cNvPr id="4" name="内容占位符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937" y="2613437"/>
                        <a:ext cx="4367185" cy="10617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3605937" y="4888760"/>
          <a:ext cx="4367185" cy="1182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公式" r:id="rId5" imgW="1688760" imgH="457200" progId="Equation.3">
                  <p:embed/>
                </p:oleObj>
              </mc:Choice>
              <mc:Fallback>
                <p:oleObj name="公式" r:id="rId5" imgW="1688760" imgH="457200" progId="Equation.3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937" y="4888760"/>
                        <a:ext cx="4367185" cy="11820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529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eqAr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altLang="zh-CN" sz="2400" dirty="0"/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相当于给 </a:t>
                </a:r>
                <a:r>
                  <a:rPr lang="en-US" altLang="zh-CN" dirty="0" smtClean="0"/>
                  <a:t>k </a:t>
                </a:r>
                <a:r>
                  <a:rPr lang="zh-CN" altLang="en-US" dirty="0" smtClean="0"/>
                  <a:t>个球染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种颜色，讨论用到的不同颜色数。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推荐练习：</a:t>
                </a:r>
                <a:r>
                  <a:rPr lang="en-US" altLang="zh-CN" dirty="0" smtClean="0"/>
                  <a:t>BZOJ 2159 Crash </a:t>
                </a:r>
                <a:r>
                  <a:rPr lang="zh-CN" altLang="en-US" smtClean="0"/>
                  <a:t>的文明世界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6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[BZOJ4710] </a:t>
            </a:r>
            <a:r>
              <a:rPr lang="zh-CN" altLang="en-US" dirty="0"/>
              <a:t>分特产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有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个人，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种特产。问有多少种分配特产的方式，使得每个人至少分得一个特产。答案对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1000000007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取模。</a:t>
                </a:r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≤1000</m:t>
                    </m:r>
                  </m:oMath>
                </a14:m>
                <a:r>
                  <a:rPr lang="zh-CN" altLang="en-US" dirty="0"/>
                  <a:t>，每一种特产的数目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≤1000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79" t="-1129" r="-22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47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[BZOJ4710] </a:t>
            </a:r>
            <a:r>
              <a:rPr lang="zh-CN" altLang="en-US" dirty="0" smtClean="0"/>
              <a:t>分特产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没有</a:t>
            </a:r>
            <a:r>
              <a:rPr lang="zh-CN" altLang="en-US" dirty="0" smtClean="0"/>
              <a:t>“每个人至少一个”的限制直接组合数即可。考虑容斥掉这个限制。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直接枚举至少有多少个同学没有分到特产即可。答案是：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17166" y="3852089"/>
            <a:ext cx="4907520" cy="138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0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洛谷 </a:t>
            </a:r>
            <a:r>
              <a:rPr lang="en-US" altLang="zh-CN" dirty="0"/>
              <a:t>P4609 </a:t>
            </a:r>
            <a:r>
              <a:rPr lang="zh-CN" altLang="en-US" dirty="0" smtClean="0"/>
              <a:t>建筑师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个数的排列，</a:t>
                </a:r>
                <a:r>
                  <a:rPr lang="en-US" altLang="zh-CN" dirty="0" smtClean="0"/>
                  <a:t>Q </a:t>
                </a:r>
                <a:r>
                  <a:rPr lang="zh-CN" altLang="en-US" dirty="0" smtClean="0"/>
                  <a:t>次询问，每次告诉你不同的前缀最大值数目 </a:t>
                </a:r>
                <a:r>
                  <a:rPr lang="en-US" altLang="zh-CN" dirty="0" smtClean="0"/>
                  <a:t>A </a:t>
                </a:r>
                <a:r>
                  <a:rPr lang="zh-CN" altLang="en-US" dirty="0" smtClean="0"/>
                  <a:t>与后缀最大值数目 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，求合法排列数。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≤50000,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≤200000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66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洛谷 </a:t>
            </a:r>
            <a:r>
              <a:rPr lang="en-US" altLang="zh-CN" dirty="0"/>
              <a:t>P4609 </a:t>
            </a:r>
            <a:r>
              <a:rPr lang="zh-CN" altLang="en-US" dirty="0" smtClean="0"/>
              <a:t>建筑师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93221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答案就是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给张图大家感受一下：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对于</a:t>
            </a:r>
            <a:r>
              <a:rPr lang="zh-CN" altLang="en-US" dirty="0"/>
              <a:t>被框住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A+B-1 </a:t>
            </a:r>
            <a:r>
              <a:rPr lang="zh-CN" altLang="en-US" dirty="0" smtClean="0"/>
              <a:t>个部分，</a:t>
            </a:r>
            <a:r>
              <a:rPr lang="zh-CN" altLang="en-US" dirty="0"/>
              <a:t>只有第一个能作为前、</a:t>
            </a:r>
            <a:r>
              <a:rPr lang="zh-CN" altLang="en-US" dirty="0" smtClean="0"/>
              <a:t>后缀 </a:t>
            </a:r>
            <a:r>
              <a:rPr lang="en-US" altLang="zh-CN" dirty="0" smtClean="0"/>
              <a:t>max </a:t>
            </a:r>
            <a:r>
              <a:rPr lang="zh-CN" altLang="en-US" dirty="0" smtClean="0"/>
              <a:t>被</a:t>
            </a:r>
            <a:r>
              <a:rPr lang="zh-CN" altLang="en-US" dirty="0"/>
              <a:t>看到。可以认为是把数</a:t>
            </a:r>
            <a:r>
              <a:rPr lang="zh-CN" altLang="en-US" dirty="0" smtClean="0"/>
              <a:t>分成 </a:t>
            </a:r>
            <a:r>
              <a:rPr lang="en-US" altLang="zh-CN" dirty="0" smtClean="0"/>
              <a:t>A+B-1 </a:t>
            </a:r>
            <a:r>
              <a:rPr lang="zh-CN" altLang="en-US" dirty="0" smtClean="0"/>
              <a:t>个</a:t>
            </a:r>
            <a:r>
              <a:rPr lang="zh-CN" altLang="en-US" dirty="0"/>
              <a:t>圆排列，其中有一个仅</a:t>
            </a:r>
            <a:r>
              <a:rPr lang="zh-CN" altLang="en-US" dirty="0" smtClean="0"/>
              <a:t>包含 </a:t>
            </a:r>
            <a:r>
              <a:rPr lang="en-US" altLang="zh-CN" dirty="0" smtClean="0"/>
              <a:t>n</a:t>
            </a:r>
            <a:r>
              <a:rPr lang="zh-CN" altLang="en-US" dirty="0"/>
              <a:t>。剩下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A+B-2 </a:t>
            </a:r>
            <a:r>
              <a:rPr lang="zh-CN" altLang="en-US" dirty="0" smtClean="0"/>
              <a:t>个</a:t>
            </a:r>
            <a:r>
              <a:rPr lang="zh-CN" altLang="en-US" dirty="0"/>
              <a:t>，先决定放</a:t>
            </a:r>
            <a:r>
              <a:rPr lang="zh-CN" altLang="en-US" dirty="0" smtClean="0"/>
              <a:t>在 </a:t>
            </a:r>
            <a:r>
              <a:rPr lang="en-US" altLang="zh-CN" dirty="0" smtClean="0"/>
              <a:t>n </a:t>
            </a:r>
            <a:r>
              <a:rPr lang="zh-CN" altLang="en-US" dirty="0" smtClean="0"/>
              <a:t>的</a:t>
            </a:r>
            <a:r>
              <a:rPr lang="zh-CN" altLang="en-US" dirty="0"/>
              <a:t>左边还是右边。然后，将每个圆排列的将最大值钦定为所在</a:t>
            </a:r>
            <a:r>
              <a:rPr lang="zh-CN" altLang="en-US" dirty="0" smtClean="0"/>
              <a:t>方向（</a:t>
            </a:r>
            <a:r>
              <a:rPr lang="zh-CN" altLang="en-US" dirty="0"/>
              <a:t>左或右</a:t>
            </a:r>
            <a:r>
              <a:rPr lang="zh-CN" altLang="en-US" dirty="0" smtClean="0"/>
              <a:t>）上</a:t>
            </a:r>
            <a:r>
              <a:rPr lang="zh-CN" altLang="en-US" dirty="0"/>
              <a:t>的第一个，并以此为关键字将圆排列排序后放置。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4258907" y="1905000"/>
          <a:ext cx="2609043" cy="776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公式" r:id="rId3" imgW="1536480" imgH="457200" progId="Equation.3">
                  <p:embed/>
                </p:oleObj>
              </mc:Choice>
              <mc:Fallback>
                <p:oleObj name="公式" r:id="rId3" imgW="1536480" imgH="45720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8907" y="1905000"/>
                        <a:ext cx="2609043" cy="776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418852" y="2707869"/>
            <a:ext cx="4671151" cy="2508153"/>
            <a:chOff x="-1040479" y="2996039"/>
            <a:chExt cx="6204496" cy="3398208"/>
          </a:xfrm>
        </p:grpSpPr>
        <p:graphicFrame>
          <p:nvGraphicFramePr>
            <p:cNvPr id="6" name="图表 5"/>
            <p:cNvGraphicFramePr/>
            <p:nvPr>
              <p:extLst/>
            </p:nvPr>
          </p:nvGraphicFramePr>
          <p:xfrm>
            <a:off x="-1040479" y="2996039"/>
            <a:ext cx="6204496" cy="33982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7" name="矩形 6"/>
            <p:cNvSpPr/>
            <p:nvPr/>
          </p:nvSpPr>
          <p:spPr>
            <a:xfrm>
              <a:off x="48310" y="5468814"/>
              <a:ext cx="491602" cy="29852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88502" y="4083375"/>
              <a:ext cx="914815" cy="172020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144266" y="3855938"/>
              <a:ext cx="1448314" cy="193500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613157" y="4681329"/>
              <a:ext cx="511759" cy="11317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585682" y="3589277"/>
              <a:ext cx="511759" cy="222381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1729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洛谷 </a:t>
            </a:r>
            <a:r>
              <a:rPr lang="en-US" altLang="zh-CN" dirty="0" smtClean="0"/>
              <a:t>P1450 </a:t>
            </a:r>
            <a:r>
              <a:rPr lang="zh-CN" altLang="en-US" dirty="0" smtClean="0"/>
              <a:t>硬币购物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一共</a:t>
                </a:r>
                <a:r>
                  <a:rPr lang="zh-CN" altLang="en-US" dirty="0"/>
                  <a:t>有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种硬币。面值分别为 </a:t>
                </a:r>
                <a:r>
                  <a:rPr lang="en-US" altLang="zh-CN" dirty="0"/>
                  <a:t>c1,c2,c3,c4</a:t>
                </a:r>
                <a:r>
                  <a:rPr lang="zh-CN" altLang="en-US" dirty="0"/>
                  <a:t>。某人去商店买东西，去了 </a:t>
                </a:r>
                <a:r>
                  <a:rPr lang="en-US" altLang="zh-CN" dirty="0"/>
                  <a:t>tot  </a:t>
                </a:r>
                <a:r>
                  <a:rPr lang="zh-CN" altLang="en-US" dirty="0"/>
                  <a:t>次。每次带 </a:t>
                </a:r>
                <a:r>
                  <a:rPr lang="en-US" altLang="zh-CN" dirty="0"/>
                  <a:t>di </a:t>
                </a:r>
                <a:r>
                  <a:rPr lang="zh-CN" altLang="en-US" dirty="0"/>
                  <a:t>枚 </a:t>
                </a:r>
                <a:r>
                  <a:rPr lang="en-US" altLang="zh-CN" dirty="0"/>
                  <a:t>ci </a:t>
                </a:r>
                <a:r>
                  <a:rPr lang="zh-CN" altLang="en-US" dirty="0"/>
                  <a:t>硬币，买 </a:t>
                </a:r>
                <a:r>
                  <a:rPr lang="en-US" altLang="zh-CN" dirty="0"/>
                  <a:t>s </a:t>
                </a:r>
                <a:r>
                  <a:rPr lang="zh-CN" altLang="en-US" dirty="0"/>
                  <a:t>的价值的东西。请问每次有多少种付款方法。</a:t>
                </a:r>
                <a:endParaRPr lang="en-US" altLang="zh-CN" dirty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𝑡𝑜𝑡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99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洛谷 </a:t>
            </a:r>
            <a:r>
              <a:rPr lang="en-US" altLang="zh-CN" dirty="0" smtClean="0"/>
              <a:t>P1450 </a:t>
            </a:r>
            <a:r>
              <a:rPr lang="zh-CN" altLang="en-US" dirty="0" smtClean="0"/>
              <a:t>硬币购物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预处理 </a:t>
            </a:r>
            <a:r>
              <a:rPr lang="en-US" altLang="zh-CN" dirty="0"/>
              <a:t>f[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表示在不限制硬币数量的情况下购买价值为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的物品的方案数。跑一个完全背包就好了。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对于硬币个数的限制，考虑容斥：钦定若干种硬币使用 </a:t>
            </a:r>
            <a:r>
              <a:rPr lang="en-US" altLang="zh-CN" dirty="0"/>
              <a:t>di+1 </a:t>
            </a:r>
            <a:r>
              <a:rPr lang="zh-CN" altLang="en-US" dirty="0"/>
              <a:t>次，也就是钦定它超过限制。设被钦定的总费用为 </a:t>
            </a:r>
            <a:r>
              <a:rPr lang="en-US" altLang="zh-CN" dirty="0"/>
              <a:t>x</a:t>
            </a:r>
            <a:r>
              <a:rPr lang="zh-CN" altLang="en-US" dirty="0"/>
              <a:t>，方案数就是 </a:t>
            </a:r>
            <a:r>
              <a:rPr lang="en-US" altLang="zh-CN" dirty="0"/>
              <a:t>f[s-x]</a:t>
            </a:r>
            <a:r>
              <a:rPr lang="zh-CN" altLang="en-US" dirty="0"/>
              <a:t>。容斥一下，偶加奇减就可以了。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531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错排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问有多少长度为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的排列满足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60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错排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问有多少长度为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的排列满足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3841331" y="3506578"/>
          <a:ext cx="4012034" cy="1031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公式" r:id="rId4" imgW="1777680" imgH="457200" progId="Equation.3">
                  <p:embed/>
                </p:oleObj>
              </mc:Choice>
              <mc:Fallback>
                <p:oleObj name="公式" r:id="rId4" imgW="1777680" imgH="45720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331" y="3506578"/>
                        <a:ext cx="4012034" cy="10316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533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走路问题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 </a:t>
            </a:r>
            <a:r>
              <a:rPr lang="en-US" altLang="zh-CN" dirty="0"/>
              <a:t>(1,1) </a:t>
            </a:r>
            <a:r>
              <a:rPr lang="zh-CN" altLang="en-US" dirty="0"/>
              <a:t>走到 </a:t>
            </a:r>
            <a:r>
              <a:rPr lang="en-US" altLang="zh-CN" dirty="0"/>
              <a:t>(</a:t>
            </a:r>
            <a:r>
              <a:rPr lang="en-US" altLang="zh-CN" dirty="0" err="1"/>
              <a:t>n,m</a:t>
            </a:r>
            <a:r>
              <a:rPr lang="en-US" altLang="zh-CN" dirty="0"/>
              <a:t>)</a:t>
            </a:r>
            <a:r>
              <a:rPr lang="zh-CN" altLang="en-US" dirty="0"/>
              <a:t>，其中有 </a:t>
            </a:r>
            <a:r>
              <a:rPr lang="en-US" altLang="zh-CN" dirty="0"/>
              <a:t>k </a:t>
            </a:r>
            <a:r>
              <a:rPr lang="zh-CN" altLang="en-US" dirty="0"/>
              <a:t>个点 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 </a:t>
            </a:r>
            <a:r>
              <a:rPr lang="zh-CN" altLang="en-US" dirty="0"/>
              <a:t>是不能走的，问有多少种方案。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67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走路问题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设 </a:t>
            </a:r>
            <a:r>
              <a:rPr lang="en-US" altLang="zh-CN" dirty="0" smtClean="0"/>
              <a:t>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</a:t>
            </a:r>
            <a:r>
              <a:rPr lang="zh-CN" altLang="en-US" dirty="0" smtClean="0"/>
              <a:t>表示走到点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的方案数，则：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起点和终点不算障碍，所以要注意一下初值的设定。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3623751" y="3089091"/>
          <a:ext cx="5449142" cy="668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公式" r:id="rId3" imgW="2070000" imgH="253800" progId="Equation.3">
                  <p:embed/>
                </p:oleObj>
              </mc:Choice>
              <mc:Fallback>
                <p:oleObj name="公式" r:id="rId3" imgW="2070000" imgH="253800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3751" y="3089091"/>
                        <a:ext cx="5449142" cy="6686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774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杂题选讲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741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小水题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给一棵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个节点的树编号（排列），要求父节点编号小于子树中所有节点，求方案数对 </a:t>
                </a:r>
                <a:r>
                  <a:rPr lang="en-US" altLang="zh-CN" dirty="0" smtClean="0"/>
                  <a:t>998244853 </a:t>
                </a:r>
                <a:r>
                  <a:rPr lang="zh-CN" altLang="en-US" dirty="0" smtClean="0"/>
                  <a:t>取模的值。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≤10000000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72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小水题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分别</a:t>
            </a:r>
            <a:r>
              <a:rPr lang="zh-CN" altLang="en-US" dirty="0" smtClean="0"/>
              <a:t>考虑每个节点。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其实就是若干组合数的乘积。考虑点 </a:t>
            </a:r>
            <a:r>
              <a:rPr lang="en-US" altLang="zh-CN" dirty="0" smtClean="0"/>
              <a:t>x </a:t>
            </a:r>
            <a:r>
              <a:rPr lang="zh-CN" altLang="en-US" dirty="0" smtClean="0"/>
              <a:t>时，只需要考虑 </a:t>
            </a:r>
            <a:r>
              <a:rPr lang="en-US" altLang="zh-CN" dirty="0" smtClean="0"/>
              <a:t>x </a:t>
            </a:r>
            <a:r>
              <a:rPr lang="zh-CN" altLang="en-US" dirty="0" smtClean="0"/>
              <a:t>负责的编号如何分配到各个子树中即可。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7917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</a:t>
            </a:r>
            <a:r>
              <a:rPr lang="zh-CN" altLang="en-US" dirty="0" smtClean="0"/>
              <a:t>水题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无根</a:t>
            </a:r>
            <a:r>
              <a:rPr lang="zh-CN" altLang="en-US" dirty="0" smtClean="0"/>
              <a:t>树，对所有点为根节点的情况分别求解。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432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</a:t>
            </a:r>
            <a:r>
              <a:rPr lang="zh-CN" altLang="en-US" dirty="0" smtClean="0"/>
              <a:t>水题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容易发现根节点移动道相邻节点时，只有相关的两个节点的字数情况发生了变化。冷静分析一下后可以发现这一变化对答案产生的贡献是可以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求出的。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smtClean="0"/>
                  <a:t>注意不能按照上一题的方式暴力更改答案，否则算法复杂度将受度数限制。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32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AGC 001 E BBQ Hard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eqAr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400" b="0" dirty="0" smtClean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≤200000,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≤2000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491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AGC 001 E BBQ Hard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dirty="0" smtClean="0"/>
                  <a:t> 从 </a:t>
                </a:r>
                <a:r>
                  <a:rPr lang="en-US" altLang="zh-CN" dirty="0" smtClean="0"/>
                  <a:t>(-A[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],-B[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]) </a:t>
                </a:r>
                <a:r>
                  <a:rPr lang="zh-CN" altLang="en-US" dirty="0" smtClean="0"/>
                  <a:t>走到 </a:t>
                </a:r>
                <a:r>
                  <a:rPr lang="en-US" altLang="zh-CN" dirty="0" smtClean="0"/>
                  <a:t>(A[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],B[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57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LOJ 6089 </a:t>
            </a:r>
            <a:r>
              <a:rPr lang="zh-CN" altLang="en-US" dirty="0" smtClean="0"/>
              <a:t>小 </a:t>
            </a:r>
            <a:r>
              <a:rPr lang="en-US" altLang="zh-CN" dirty="0" smtClean="0"/>
              <a:t>Y </a:t>
            </a:r>
            <a:r>
              <a:rPr lang="zh-CN" altLang="en-US" dirty="0" smtClean="0"/>
              <a:t>的背包计数问题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7" descr="Screenshot-2018-1-7 小 Y 的背包计数问题 - 题目 - LibreOJ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0"/>
            <a:ext cx="8948775" cy="2647981"/>
          </a:xfrm>
          <a:prstGeom prst="rect">
            <a:avLst/>
          </a:prstGeom>
          <a:noFill/>
          <a:ln w="9525">
            <a:noFill/>
            <a:miter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212" y="5424319"/>
            <a:ext cx="3401420" cy="35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9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LOJ 6089 </a:t>
            </a:r>
            <a:r>
              <a:rPr lang="zh-CN" altLang="en-US" dirty="0" smtClean="0"/>
              <a:t>小 </a:t>
            </a:r>
            <a:r>
              <a:rPr lang="en-US" altLang="zh-CN" dirty="0" smtClean="0"/>
              <a:t>Y </a:t>
            </a:r>
            <a:r>
              <a:rPr lang="zh-CN" altLang="en-US" dirty="0" smtClean="0"/>
              <a:t>的背包计数问题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重量超过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dirty="0" smtClean="0"/>
                  <a:t> 的不会放超过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dirty="0" smtClean="0"/>
                  <a:t> 个，相当于没有数目限制。设 </a:t>
                </a:r>
                <a:r>
                  <a:rPr lang="en-US" altLang="zh-CN" dirty="0" smtClean="0"/>
                  <a:t>f[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][j] </a:t>
                </a:r>
                <a:r>
                  <a:rPr lang="zh-CN" altLang="en-US" dirty="0" smtClean="0"/>
                  <a:t>表示放了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个，重量为 </a:t>
                </a:r>
                <a:r>
                  <a:rPr lang="en-US" altLang="zh-CN" dirty="0" smtClean="0"/>
                  <a:t>j </a:t>
                </a:r>
                <a:r>
                  <a:rPr lang="zh-CN" altLang="en-US" dirty="0" smtClean="0"/>
                  <a:t>的方案数即可。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12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AGC 001 E BBQ Hard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dirty="0" smtClean="0"/>
                  <a:t> 从 </a:t>
                </a:r>
                <a:r>
                  <a:rPr lang="en-US" altLang="zh-CN" dirty="0" smtClean="0"/>
                  <a:t>(-A[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],-B[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]) </a:t>
                </a:r>
                <a:r>
                  <a:rPr lang="zh-CN" altLang="en-US" dirty="0" smtClean="0"/>
                  <a:t>走到 </a:t>
                </a:r>
                <a:r>
                  <a:rPr lang="en-US" altLang="zh-CN" dirty="0" smtClean="0"/>
                  <a:t>(A[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],B[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68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YMD </a:t>
            </a:r>
            <a:r>
              <a:rPr lang="zh-CN" altLang="en-US" dirty="0" smtClean="0"/>
              <a:t>的题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2" y="2318598"/>
            <a:ext cx="8915400" cy="18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0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YMD </a:t>
            </a:r>
            <a:r>
              <a:rPr lang="zh-CN" altLang="en-US" dirty="0" smtClean="0"/>
              <a:t>的题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经典方法：将排列放到棋盘上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525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AGC 013 D Piling Up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有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个球，每个球可以为黑色或白色（可以理解为包含所有组合）。</a:t>
                </a:r>
                <a:r>
                  <a:rPr lang="en-US" altLang="zh-CN" dirty="0" smtClean="0"/>
                  <a:t>m </a:t>
                </a:r>
                <a:r>
                  <a:rPr lang="zh-CN" altLang="en-US" dirty="0" smtClean="0"/>
                  <a:t>次操作，每次拿出一个球并放入黑白球各一个，然后再拿出一个球。求最终拿出球的序列的方案数。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</m:t>
                    </m:r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954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AGC 013 D Piling 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经典操作：折线法。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设 </a:t>
            </a:r>
            <a:r>
              <a:rPr lang="en-US" altLang="zh-CN" dirty="0" smtClean="0"/>
              <a:t>f[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 </a:t>
            </a:r>
            <a:r>
              <a:rPr lang="zh-CN" altLang="en-US" dirty="0" smtClean="0"/>
              <a:t>表示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次操作高度为 </a:t>
            </a:r>
            <a:r>
              <a:rPr lang="en-US" altLang="zh-CN" dirty="0" smtClean="0"/>
              <a:t>j</a:t>
            </a:r>
            <a:r>
              <a:rPr lang="zh-CN" altLang="en-US" dirty="0" smtClean="0"/>
              <a:t>，只需 </a:t>
            </a:r>
            <a:r>
              <a:rPr lang="en-US" altLang="zh-CN" dirty="0" smtClean="0"/>
              <a:t>DP </a:t>
            </a:r>
            <a:r>
              <a:rPr lang="zh-CN" altLang="en-US" dirty="0" smtClean="0"/>
              <a:t>有多少不同折线即可。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防止重复计算可以强制每根折线最小高度为 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033577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Codeforces</a:t>
            </a:r>
            <a:r>
              <a:rPr lang="en-US" altLang="zh-CN" dirty="0"/>
              <a:t> 961G Partitions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给出一个数组 </a:t>
                </a:r>
                <a:r>
                  <a:rPr lang="en-US" altLang="zh-CN" dirty="0" smtClean="0"/>
                  <a:t>w</a:t>
                </a:r>
                <a:r>
                  <a:rPr lang="zh-CN" altLang="en-US" dirty="0" smtClean="0"/>
                  <a:t>。对于一个集合 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，价值是 </a:t>
                </a:r>
                <a:r>
                  <a:rPr lang="en-US" altLang="zh-CN" dirty="0" smtClean="0"/>
                  <a:t>S </a:t>
                </a:r>
                <a:r>
                  <a:rPr lang="zh-CN" altLang="en-US" dirty="0" smtClean="0"/>
                  <a:t>的大小乘上 </a:t>
                </a:r>
                <a:r>
                  <a:rPr lang="en-US" altLang="zh-CN" dirty="0" smtClean="0"/>
                  <a:t>S </a:t>
                </a:r>
                <a:r>
                  <a:rPr lang="zh-CN" altLang="en-US" dirty="0" smtClean="0"/>
                  <a:t>的总权值。求所有把数组划分成 </a:t>
                </a:r>
                <a:r>
                  <a:rPr lang="en-US" altLang="zh-CN" dirty="0" smtClean="0"/>
                  <a:t>k </a:t>
                </a:r>
                <a:r>
                  <a:rPr lang="zh-CN" altLang="en-US" dirty="0" smtClean="0"/>
                  <a:t>个非空集合的方案的所有集合的权值的和。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≤200000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275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Codeforces</a:t>
            </a:r>
            <a:r>
              <a:rPr lang="en-US" altLang="zh-CN" dirty="0"/>
              <a:t> 961G Partitions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不难发现每一种权值的贡献都是一样的。我们把所有权值加起来，想办法求出系数就好了。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注意到贡献的式子里有一个 </a:t>
            </a:r>
            <a:r>
              <a:rPr lang="en-US" altLang="zh-CN" dirty="0" smtClean="0"/>
              <a:t>|S|</a:t>
            </a:r>
            <a:r>
              <a:rPr lang="zh-CN" altLang="en-US" dirty="0" smtClean="0"/>
              <a:t>。我们可以认为是集合中的每个元素都对答案有 </a:t>
            </a:r>
            <a:r>
              <a:rPr lang="en-US" altLang="zh-CN" dirty="0" smtClean="0"/>
              <a:t>1 </a:t>
            </a:r>
            <a:r>
              <a:rPr lang="zh-CN" altLang="en-US" dirty="0" smtClean="0"/>
              <a:t>次贡献。问题转化为求每个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被所有 </a:t>
            </a:r>
            <a:r>
              <a:rPr lang="en-US" altLang="zh-CN" dirty="0" smtClean="0"/>
              <a:t>j </a:t>
            </a:r>
            <a:r>
              <a:rPr lang="zh-CN" altLang="en-US" dirty="0" smtClean="0"/>
              <a:t>的贡献次数之和。讨论</a:t>
            </a:r>
            <a:r>
              <a:rPr lang="en-US" altLang="zh-CN" dirty="0"/>
              <a:t> </a:t>
            </a:r>
            <a:r>
              <a:rPr lang="en-US" altLang="zh-CN" dirty="0" err="1" smtClean="0"/>
              <a:t>i,j</a:t>
            </a:r>
            <a:r>
              <a:rPr lang="en-US" altLang="zh-CN" dirty="0" smtClean="0"/>
              <a:t> </a:t>
            </a:r>
            <a:r>
              <a:rPr lang="zh-CN" altLang="en-US" dirty="0" smtClean="0"/>
              <a:t>是否相等，分别计算即可。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这种计数思想在一些其他的题目中也有用到。。。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6473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Codechef</a:t>
            </a:r>
            <a:r>
              <a:rPr lang="en-US" altLang="zh-CN" dirty="0"/>
              <a:t> CNTDSETS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求出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维空间中的点集数目，满足其直径恰好为 </a:t>
                </a:r>
                <a:r>
                  <a:rPr lang="en-US" altLang="zh-CN" dirty="0" smtClean="0"/>
                  <a:t>D</a:t>
                </a:r>
                <a:r>
                  <a:rPr lang="zh-CN" altLang="en-US" dirty="0" smtClean="0"/>
                  <a:t>。点集的直径是点集中最远一对点的切比雪夫距离。如果两个点集可以通过平移相互转换，则这两个点集是相同的。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13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89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Codechef</a:t>
            </a:r>
            <a:r>
              <a:rPr lang="en-US" altLang="zh-CN" dirty="0"/>
              <a:t> CNTDSETS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平移的限制可以理解为每一维都存在该维坐标为 </a:t>
                </a:r>
                <a:r>
                  <a:rPr lang="en-US" altLang="zh-CN" dirty="0" smtClean="0"/>
                  <a:t>0 </a:t>
                </a:r>
                <a:r>
                  <a:rPr lang="zh-CN" altLang="en-US" dirty="0" smtClean="0"/>
                  <a:t>的点（认为所有坐标都是非负整数）。这样一来，距离限制也可以转化为至少有一维的最大坐标为 </a:t>
                </a:r>
                <a:r>
                  <a:rPr lang="en-US" altLang="zh-CN" dirty="0" smtClean="0"/>
                  <a:t>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考虑计算最大值小于等于 </a:t>
                </a:r>
                <a:r>
                  <a:rPr lang="en-US" altLang="zh-CN" dirty="0" smtClean="0"/>
                  <a:t>x </a:t>
                </a:r>
                <a:r>
                  <a:rPr lang="zh-CN" altLang="en-US" dirty="0" smtClean="0"/>
                  <a:t>的方案 </a:t>
                </a:r>
                <a:r>
                  <a:rPr lang="en-US" altLang="zh-CN" dirty="0" smtClean="0"/>
                  <a:t>f(x)</a:t>
                </a:r>
                <a:r>
                  <a:rPr lang="zh-CN" altLang="en-US" dirty="0" smtClean="0"/>
                  <a:t>，容斥“每一维都存在 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”。答案就是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(−1)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e>
                              <m:sup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sup>
                        </m:sSup>
                      </m:e>
                    </m:nary>
                  </m:oMath>
                </a14:m>
                <a:r>
                  <a:rPr lang="zh-CN" altLang="en-US" dirty="0" smtClean="0"/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826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北大集训 </a:t>
            </a:r>
            <a:r>
              <a:rPr lang="en-US" altLang="zh-CN" dirty="0" smtClean="0"/>
              <a:t>2018 </a:t>
            </a:r>
            <a:r>
              <a:rPr lang="en-US" altLang="zh-CN" dirty="0" err="1"/>
              <a:t>Esperar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2236743"/>
            <a:ext cx="8915400" cy="289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99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北大集训 </a:t>
            </a:r>
            <a:r>
              <a:rPr lang="en-US" altLang="zh-CN" dirty="0" smtClean="0"/>
              <a:t>2018 </a:t>
            </a:r>
            <a:r>
              <a:rPr lang="en-US" altLang="zh-CN" dirty="0" err="1"/>
              <a:t>Esperar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0"/>
            <a:ext cx="7887801" cy="172426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221" y="4086466"/>
            <a:ext cx="8821381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7708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王队长的题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Atcoder</a:t>
            </a:r>
            <a:r>
              <a:rPr lang="en-US" altLang="zh-CN" dirty="0" smtClean="0"/>
              <a:t> </a:t>
            </a:r>
            <a:r>
              <a:rPr lang="zh-CN" altLang="en-US" dirty="0" smtClean="0"/>
              <a:t>上有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求长度为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的排列满足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b="0" dirty="0" smtClean="0"/>
              </a:p>
              <a:p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≤2000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4843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王队长的题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Atcoder</a:t>
            </a:r>
            <a:r>
              <a:rPr lang="en-US" altLang="zh-CN" dirty="0" smtClean="0"/>
              <a:t> </a:t>
            </a:r>
            <a:r>
              <a:rPr lang="zh-CN" altLang="en-US" dirty="0" smtClean="0"/>
              <a:t>上有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还是放在棋盘上。发现有些非法点是互不影响（独立）的。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最后相当于把非法点看成两条独立的链，每条链求从中选出一些点保证相邻点不同时被选的方案数（可以组合数 </a:t>
            </a:r>
            <a:r>
              <a:rPr lang="en-US" altLang="zh-CN" dirty="0" smtClean="0"/>
              <a:t>O(1)</a:t>
            </a:r>
            <a:r>
              <a:rPr lang="zh-CN" altLang="en-US" dirty="0" smtClean="0"/>
              <a:t>），最后组合起来容斥即可。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其实最后一步可以 </a:t>
            </a:r>
            <a:r>
              <a:rPr lang="en-US" altLang="zh-CN" dirty="0" smtClean="0"/>
              <a:t>NTT </a:t>
            </a:r>
            <a:r>
              <a:rPr lang="zh-CN" altLang="en-US" dirty="0" smtClean="0"/>
              <a:t>做到 </a:t>
            </a:r>
            <a:r>
              <a:rPr lang="en-US" altLang="zh-CN" dirty="0" smtClean="0"/>
              <a:t>log</a:t>
            </a:r>
            <a:r>
              <a:rPr lang="zh-CN" altLang="en-US" dirty="0" smtClean="0"/>
              <a:t>，所以数据范围还可以大很多。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8575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 </a:t>
            </a:r>
            <a:r>
              <a:rPr lang="en-US" altLang="zh-CN" dirty="0" err="1" smtClean="0"/>
              <a:t>Atcoder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Atcoder</a:t>
            </a:r>
            <a:r>
              <a:rPr lang="en-US" altLang="zh-CN" dirty="0" smtClean="0"/>
              <a:t> </a:t>
            </a:r>
            <a:r>
              <a:rPr lang="zh-CN" altLang="en-US" dirty="0" smtClean="0"/>
              <a:t>有很多质量非常好的 </a:t>
            </a:r>
            <a:r>
              <a:rPr lang="en-US" altLang="zh-CN" dirty="0" smtClean="0"/>
              <a:t>DP </a:t>
            </a:r>
            <a:r>
              <a:rPr lang="zh-CN" altLang="en-US" dirty="0" smtClean="0"/>
              <a:t>计数题，大家有时间可以去刷一下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1060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ZJOI 2017 </a:t>
            </a:r>
            <a:r>
              <a:rPr lang="zh-CN" altLang="en-US" dirty="0" smtClean="0"/>
              <a:t>仙人掌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给定一张无重边无子自环的仙人掌，问有多少种不同的加边方案使得在加边之后这张图仍然是仙人掌。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≤500000,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064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ZJOI 2017 </a:t>
            </a:r>
            <a:r>
              <a:rPr lang="zh-CN" altLang="en-US" dirty="0" smtClean="0"/>
              <a:t>仙人掌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冷静分析发现加边一定不能跨过图中原有的环，删去所有环后原题就变成树形 </a:t>
            </a:r>
            <a:r>
              <a:rPr lang="en-US" altLang="zh-CN" dirty="0" smtClean="0"/>
              <a:t>DP </a:t>
            </a:r>
            <a:r>
              <a:rPr lang="zh-CN" altLang="en-US" dirty="0" smtClean="0"/>
              <a:t>了。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用 </a:t>
            </a:r>
            <a:r>
              <a:rPr lang="en-US" altLang="zh-CN" dirty="0" err="1" smtClean="0"/>
              <a:t>dfs</a:t>
            </a:r>
            <a:r>
              <a:rPr lang="en-US" altLang="zh-CN" dirty="0" smtClean="0"/>
              <a:t> </a:t>
            </a:r>
            <a:r>
              <a:rPr lang="zh-CN" altLang="en-US" dirty="0" smtClean="0"/>
              <a:t>跑树形 </a:t>
            </a:r>
            <a:r>
              <a:rPr lang="en-US" altLang="zh-CN" dirty="0" smtClean="0"/>
              <a:t>DP</a:t>
            </a:r>
            <a:r>
              <a:rPr lang="zh-CN" altLang="en-US" dirty="0" smtClean="0"/>
              <a:t>，在 </a:t>
            </a:r>
            <a:r>
              <a:rPr lang="en-US" altLang="zh-CN" dirty="0" err="1" smtClean="0"/>
              <a:t>lca</a:t>
            </a:r>
            <a:r>
              <a:rPr lang="en-US" altLang="zh-CN" dirty="0" smtClean="0"/>
              <a:t> </a:t>
            </a:r>
            <a:r>
              <a:rPr lang="zh-CN" altLang="en-US" dirty="0" smtClean="0"/>
              <a:t>处计算每条新边的贡献。设 </a:t>
            </a:r>
            <a:r>
              <a:rPr lang="en-US" altLang="zh-CN" dirty="0" smtClean="0"/>
              <a:t>f[x] </a:t>
            </a:r>
            <a:r>
              <a:rPr lang="zh-CN" altLang="en-US" dirty="0" smtClean="0"/>
              <a:t>为 </a:t>
            </a:r>
            <a:r>
              <a:rPr lang="en-US" altLang="zh-CN" dirty="0" smtClean="0"/>
              <a:t>x </a:t>
            </a:r>
            <a:r>
              <a:rPr lang="zh-CN" altLang="en-US" dirty="0" smtClean="0"/>
              <a:t>的子树内所有连边方案。设 </a:t>
            </a:r>
            <a:r>
              <a:rPr lang="en-US" altLang="zh-CN" dirty="0" smtClean="0"/>
              <a:t>g[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</a:t>
            </a:r>
            <a:r>
              <a:rPr lang="zh-CN" altLang="en-US" dirty="0" smtClean="0"/>
              <a:t>表示有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个儿子时的配对方案并预处理即可 </a:t>
            </a:r>
            <a:r>
              <a:rPr lang="en-US" altLang="zh-CN" dirty="0" smtClean="0"/>
              <a:t>O(1) </a:t>
            </a:r>
            <a:r>
              <a:rPr lang="zh-CN" altLang="en-US" dirty="0" smtClean="0"/>
              <a:t>转移。</a:t>
            </a:r>
            <a:endParaRPr lang="en-US" altLang="zh-CN" dirty="0" smtClean="0"/>
          </a:p>
          <a:p>
            <a:endParaRPr lang="en-US" altLang="zh-CN" b="1" dirty="0"/>
          </a:p>
          <a:p>
            <a:r>
              <a:rPr lang="en-US" altLang="zh-CN" b="1" dirty="0">
                <a:hlinkClick r:id="rId2"/>
              </a:rPr>
              <a:t>https://www.cnblogs.com/wfj2048/p/6636028.html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56404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这些题可能看上去难度都比较高，不过解题所用到的工具、技巧在本质上都是非常简单、朴素的。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做计数题的关键是简化题目条件（让题目更加便于“计数”），将题目规约成更简单的、自己熟悉的模型。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40377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34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生成函数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对于数列</a:t>
                </a:r>
                <a:r>
                  <a:rPr lang="en-US" altLang="zh-CN" dirty="0"/>
                  <a:t> </a:t>
                </a:r>
                <a:r>
                  <a:rPr lang="en-US" altLang="zh-CN" dirty="0" smtClean="0"/>
                  <a:t>a[0],a[1],…,a[n],…</a:t>
                </a:r>
                <a:r>
                  <a:rPr lang="zh-CN" altLang="en-US" dirty="0" smtClean="0"/>
                  <a:t>，不妨设：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altLang="zh-CN" sz="2400" b="0" dirty="0" smtClean="0"/>
              </a:p>
              <a:p>
                <a:pPr marL="0" indent="0">
                  <a:buNone/>
                </a:pPr>
                <a:endParaRPr lang="en-US" altLang="zh-CN" sz="2400" dirty="0" smtClean="0"/>
              </a:p>
              <a:p>
                <a:r>
                  <a:rPr lang="zh-CN" altLang="en-US" dirty="0" smtClean="0"/>
                  <a:t>则 </a:t>
                </a:r>
                <a:r>
                  <a:rPr lang="en-US" altLang="zh-CN" dirty="0" smtClean="0"/>
                  <a:t>f(x) </a:t>
                </a:r>
                <a:r>
                  <a:rPr lang="zh-CN" altLang="en-US" dirty="0" smtClean="0"/>
                  <a:t>是数列的生成函数。</a:t>
                </a:r>
                <a:endParaRPr lang="en-US" altLang="zh-CN" dirty="0" smtClean="0"/>
              </a:p>
              <a:p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74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生成函数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生成函数的好处是可以将某些复杂的数列转化为简单的函数。如：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+…=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zh-CN" sz="2400" b="0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r>
                  <a:rPr lang="en-US" altLang="zh-CN" dirty="0" smtClean="0"/>
                  <a:t>x </a:t>
                </a:r>
                <a:r>
                  <a:rPr lang="zh-CN" altLang="en-US" dirty="0" smtClean="0"/>
                  <a:t>可以是任何数，所以我们不妨设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 smtClean="0"/>
                  <a:t>，于是 </a:t>
                </a:r>
                <a:r>
                  <a:rPr lang="en-US" altLang="zh-CN" dirty="0" smtClean="0"/>
                  <a:t>f(x) </a:t>
                </a:r>
                <a:r>
                  <a:rPr lang="zh-CN" altLang="en-US" dirty="0" smtClean="0"/>
                  <a:t>可以用套用等比数列求和公式表示。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99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Codechef</a:t>
            </a:r>
            <a:r>
              <a:rPr lang="en-US" altLang="zh-CN" dirty="0"/>
              <a:t> CNTL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给定 </a:t>
                </a:r>
                <a:r>
                  <a:rPr lang="en-US" altLang="zh-CN" dirty="0" smtClean="0"/>
                  <a:t>k</a:t>
                </a:r>
                <a:r>
                  <a:rPr lang="zh-CN" altLang="en-US" dirty="0" smtClean="0"/>
                  <a:t>，得到集合 </a:t>
                </a:r>
                <a:r>
                  <a:rPr lang="en-US" altLang="zh-CN" dirty="0" smtClean="0"/>
                  <a:t>S={1,2…2</a:t>
                </a:r>
                <a:r>
                  <a:rPr lang="en-US" altLang="zh-CN" baseline="30000" dirty="0" smtClean="0"/>
                  <a:t>k-1</a:t>
                </a:r>
                <a:r>
                  <a:rPr lang="en-US" altLang="zh-CN" dirty="0" smtClean="0"/>
                  <a:t>}</a:t>
                </a:r>
                <a:r>
                  <a:rPr lang="zh-CN" altLang="en-US" dirty="0" smtClean="0"/>
                  <a:t>。构造一个长度为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的数组，满足数组中的每个元素都是集合 </a:t>
                </a:r>
                <a:r>
                  <a:rPr lang="en-US" altLang="zh-CN" dirty="0" smtClean="0"/>
                  <a:t>S </a:t>
                </a:r>
                <a:r>
                  <a:rPr lang="zh-CN" altLang="en-US" dirty="0" smtClean="0"/>
                  <a:t>中的数。设数组的异或和为 </a:t>
                </a:r>
                <a:r>
                  <a:rPr lang="en-US" altLang="zh-CN" dirty="0" smtClean="0"/>
                  <a:t>C</a:t>
                </a:r>
                <a:r>
                  <a:rPr lang="zh-CN" altLang="en-US" dirty="0" smtClean="0"/>
                  <a:t>，求 </a:t>
                </a:r>
                <a:r>
                  <a:rPr lang="en-US" altLang="zh-CN" dirty="0" smtClean="0"/>
                  <a:t>C </a:t>
                </a:r>
                <a:r>
                  <a:rPr lang="zh-CN" altLang="en-US" dirty="0" smtClean="0"/>
                  <a:t>的最大值以及能达到最大值的数组个数。答案对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1000000007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取模。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≤1000000007,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956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Codechef</a:t>
            </a:r>
            <a:r>
              <a:rPr lang="en-US" altLang="zh-CN" dirty="0"/>
              <a:t> CNTL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第一问很简单，相当于是要 </a:t>
                </a:r>
                <a:r>
                  <a:rPr lang="en-US" altLang="zh-CN" dirty="0" smtClean="0"/>
                  <a:t>k </a:t>
                </a:r>
                <a:r>
                  <a:rPr lang="zh-CN" altLang="en-US" dirty="0" smtClean="0"/>
                  <a:t>个数中的每一个都出现奇数次。问题就在于如何计数了。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考虑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/>
                  <a:t> 的展开式，发现只有 </a:t>
                </a:r>
                <a:r>
                  <a:rPr lang="en-US" altLang="zh-CN" dirty="0" smtClean="0"/>
                  <a:t>x </a:t>
                </a:r>
                <a:r>
                  <a:rPr lang="zh-CN" altLang="en-US" dirty="0" smtClean="0"/>
                  <a:t>的奇数次项有系数，完美符合我们的要求。通过这个式子再推一推就可以算了。如果一定有一种数出现偶数次，再乘上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r>
                  <a:rPr lang="zh-CN" altLang="en-US" dirty="0"/>
                  <a:t>即</a:t>
                </a:r>
                <a:r>
                  <a:rPr lang="zh-CN" altLang="en-US" dirty="0" smtClean="0"/>
                  <a:t>可。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3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51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多项式乘法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大概原理就是多项式求值后乘法复杂度是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的，而 求值 </a:t>
                </a:r>
                <a:r>
                  <a:rPr lang="en-US" altLang="zh-CN" dirty="0" smtClean="0"/>
                  <a:t>/ </a:t>
                </a:r>
                <a:r>
                  <a:rPr lang="zh-CN" altLang="en-US" dirty="0" smtClean="0"/>
                  <a:t>插值 的点是可以任选的，所以我们只需要选取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次单位复数根的幂次做 求值 </a:t>
                </a:r>
                <a:r>
                  <a:rPr lang="en-US" altLang="zh-CN" dirty="0" smtClean="0"/>
                  <a:t>/ </a:t>
                </a:r>
                <a:r>
                  <a:rPr lang="zh-CN" altLang="en-US" dirty="0" smtClean="0"/>
                  <a:t>插值 即可。而对这些数的 求值 </a:t>
                </a:r>
                <a:r>
                  <a:rPr lang="en-US" altLang="zh-CN" dirty="0" smtClean="0"/>
                  <a:t>/ </a:t>
                </a:r>
                <a:r>
                  <a:rPr lang="zh-CN" altLang="en-US" dirty="0" smtClean="0"/>
                  <a:t>插值 是可以左导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𝑛𝑙𝑜𝑔𝑛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如果题目模数是 </a:t>
                </a:r>
                <a:r>
                  <a:rPr lang="en-US" altLang="zh-CN" dirty="0" smtClean="0"/>
                  <a:t>998244353 </a:t>
                </a:r>
                <a:r>
                  <a:rPr lang="zh-CN" altLang="en-US" dirty="0" smtClean="0"/>
                  <a:t>或其他形如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的质数，还可以将上面的单位复数根替换成对应质数的原根。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345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贴代码</a:t>
            </a:r>
            <a:r>
              <a:rPr lang="en-US" altLang="zh-CN" dirty="0"/>
              <a:t> </a:t>
            </a:r>
            <a:r>
              <a:rPr lang="en-US" altLang="zh-CN" dirty="0" smtClean="0"/>
              <a:t>- NTT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0"/>
            <a:ext cx="7803152" cy="377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4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多项式求逆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有些计数题的答案可以转化为某个多项式的逆。多项式求逆的复杂度是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𝑛𝑙𝑜𝑔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的，且常数不是很大。至于之后的多项式 </a:t>
                </a:r>
                <a:r>
                  <a:rPr lang="en-US" altLang="zh-CN" dirty="0" err="1" smtClean="0"/>
                  <a:t>exp</a:t>
                </a:r>
                <a:r>
                  <a:rPr lang="zh-CN" altLang="en-US" dirty="0" smtClean="0"/>
                  <a:t>、多项式对数等等。。。可能还不如分治 </a:t>
                </a:r>
                <a:r>
                  <a:rPr lang="en-US" altLang="zh-CN" dirty="0" smtClean="0"/>
                  <a:t>FFT</a:t>
                </a:r>
                <a:r>
                  <a:rPr lang="zh-CN" altLang="en-US" dirty="0" smtClean="0"/>
                  <a:t>。。。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r>
                  <a:rPr lang="en-US" altLang="zh-CN" b="1" dirty="0">
                    <a:hlinkClick r:id="rId3"/>
                  </a:rPr>
                  <a:t>https://www.cnblogs.com/yoyoball/p/8724115.html</a:t>
                </a:r>
                <a:endParaRPr lang="en-US" altLang="zh-CN" b="1" dirty="0" smtClean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35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[BZOJ5093] </a:t>
            </a:r>
            <a:r>
              <a:rPr lang="zh-CN" altLang="en-US" dirty="0" smtClean="0"/>
              <a:t>图的价值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一个带标号的图的价值定义为每个点度数的 </a:t>
                </a:r>
                <a:r>
                  <a:rPr lang="en-US" altLang="zh-CN" dirty="0" smtClean="0"/>
                  <a:t>k </a:t>
                </a:r>
                <a:r>
                  <a:rPr lang="zh-CN" altLang="en-US" dirty="0" smtClean="0"/>
                  <a:t>次</a:t>
                </a:r>
                <a:r>
                  <a:rPr lang="zh-CN" altLang="en-US" dirty="0"/>
                  <a:t>方的和</a:t>
                </a:r>
                <a:r>
                  <a:rPr lang="zh-CN" altLang="en-US" dirty="0" smtClean="0"/>
                  <a:t>。给定 </a:t>
                </a:r>
                <a:r>
                  <a:rPr lang="en-US" altLang="zh-CN" dirty="0" err="1" smtClean="0"/>
                  <a:t>n,k</a:t>
                </a:r>
                <a:r>
                  <a:rPr lang="zh-CN" altLang="en-US" dirty="0" smtClean="0"/>
                  <a:t>，求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个点的带标号的简单无向图的价值之和。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≤200000</m:t>
                    </m:r>
                  </m:oMath>
                </a14:m>
                <a:r>
                  <a:rPr lang="zh-CN" altLang="en-US" dirty="0" smtClean="0"/>
                  <a:t>。答案对 </a:t>
                </a:r>
                <a:r>
                  <a:rPr lang="en-US" altLang="zh-CN" dirty="0" smtClean="0"/>
                  <a:t>998244353 </a:t>
                </a:r>
                <a:r>
                  <a:rPr lang="zh-CN" altLang="en-US" dirty="0" smtClean="0"/>
                  <a:t>取模。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44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[BZOJ5093] </a:t>
            </a:r>
            <a:r>
              <a:rPr lang="zh-CN" altLang="en-US" dirty="0" smtClean="0"/>
              <a:t>图的价值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trike="sngStrike" dirty="0" smtClean="0"/>
              <a:t>一道被讲烂的多项式好题</a:t>
            </a:r>
            <a:endParaRPr lang="en-US" altLang="zh-CN" strike="sngStrike" dirty="0" smtClean="0"/>
          </a:p>
          <a:p>
            <a:endParaRPr lang="en-US" altLang="zh-CN" dirty="0"/>
          </a:p>
          <a:p>
            <a:r>
              <a:rPr lang="zh-CN" altLang="en-US" dirty="0" smtClean="0"/>
              <a:t>先介绍一个非常常用的式子：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推导过程有点长。。。还是挂个</a:t>
            </a:r>
            <a:r>
              <a:rPr lang="zh-CN" altLang="en-US" dirty="0" smtClean="0">
                <a:hlinkClick r:id="rId2"/>
              </a:rPr>
              <a:t>链</a:t>
            </a:r>
            <a:r>
              <a:rPr lang="zh-CN" altLang="en-US" dirty="0" smtClean="0"/>
              <a:t>好了。。。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99390" y="2493433"/>
            <a:ext cx="3633025" cy="132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9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推荐练习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不少有标号的图计数问题都可以用多项式解决。大家可以去坐一坐有标号 </a:t>
            </a:r>
            <a:r>
              <a:rPr lang="en-US" altLang="zh-CN" dirty="0" smtClean="0"/>
              <a:t>DAG </a:t>
            </a:r>
            <a:r>
              <a:rPr lang="zh-CN" altLang="en-US" dirty="0" smtClean="0"/>
              <a:t>计数系列（共四道）。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950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47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最小表示法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给你一个字符串，求出与它循环同构的字典序最小的字符串。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21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最小表示法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大致思想是维护两个指针，通过不断的比较最终求得字典序最小的同构串。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假设两个指针是 </a:t>
                </a:r>
                <a:r>
                  <a:rPr lang="en-US" altLang="zh-CN" dirty="0" err="1" smtClean="0"/>
                  <a:t>i,j</a:t>
                </a:r>
                <a:r>
                  <a:rPr lang="zh-CN" altLang="en-US" dirty="0" smtClean="0"/>
                  <a:t>，且从这两处开始的前 </a:t>
                </a:r>
                <a:r>
                  <a:rPr lang="en-US" altLang="zh-CN" dirty="0" smtClean="0"/>
                  <a:t>k </a:t>
                </a:r>
                <a:r>
                  <a:rPr lang="zh-CN" altLang="en-US" dirty="0" smtClean="0"/>
                  <a:t>个字符都相同，而在第 </a:t>
                </a:r>
                <a:r>
                  <a:rPr lang="en-US" altLang="zh-CN" dirty="0" smtClean="0"/>
                  <a:t>k+1 </a:t>
                </a:r>
                <a:r>
                  <a:rPr lang="zh-CN" altLang="en-US" dirty="0" smtClean="0"/>
                  <a:t>位发现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字典序较小，则 </a:t>
                </a:r>
                <a:r>
                  <a:rPr lang="en-US" altLang="zh-CN" dirty="0" err="1" smtClean="0"/>
                  <a:t>j~j+k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都输不能作为最终的同构串的开始节点的。可以发现这种算法的复杂度是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的。</a:t>
                </a:r>
                <a:endParaRPr lang="en-US" altLang="zh-CN" dirty="0" smtClean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66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哈希算法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对于字符串 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，我们常用的哈希方式是将它转化为一个整数：</a:t>
                </a:r>
                <a:endParaRPr lang="en-US" altLang="zh-CN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𝑟𝑒𝑠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zh-CN" dirty="0" smtClean="0"/>
              </a:p>
              <a:p>
                <a:pPr algn="ctr"/>
                <a:endParaRPr lang="en-US" altLang="zh-CN" dirty="0"/>
              </a:p>
              <a:p>
                <a:r>
                  <a:rPr lang="zh-CN" altLang="en-US" dirty="0" smtClean="0"/>
                  <a:t>其中 </a:t>
                </a:r>
                <a:r>
                  <a:rPr lang="en-US" altLang="zh-CN" dirty="0" smtClean="0"/>
                  <a:t>x </a:t>
                </a:r>
                <a:r>
                  <a:rPr lang="zh-CN" altLang="en-US" dirty="0" smtClean="0"/>
                  <a:t>是我们选取的一个底数（一般 </a:t>
                </a:r>
                <a:r>
                  <a:rPr lang="en-US" altLang="zh-CN" dirty="0" smtClean="0"/>
                  <a:t>res </a:t>
                </a:r>
                <a:r>
                  <a:rPr lang="zh-CN" altLang="en-US" dirty="0" smtClean="0"/>
                  <a:t>需要对一个质数取模）。至于自然溢出。。。已经构造出能够卡掉所有哈希底数的自然溢出的字符串了 </a:t>
                </a:r>
                <a:r>
                  <a:rPr lang="en-US" altLang="zh-CN" dirty="0" smtClean="0"/>
                  <a:t>XD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在一般做题时，我们会设 </a:t>
                </a:r>
                <a:r>
                  <a:rPr lang="en-US" altLang="zh-CN" dirty="0" smtClean="0"/>
                  <a:t>f[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 </a:t>
                </a:r>
                <a:r>
                  <a:rPr lang="zh-CN" altLang="en-US" dirty="0" smtClean="0"/>
                  <a:t>表示前缀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的哈希值。这样既能快速预处理，也能让我们在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的时间内求出字符串的任意一个子串的哈希值（前提是你预处理了底数的幂）：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43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常见运用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由于哈希算法非常玄学，</a:t>
                </a:r>
                <a:r>
                  <a:rPr lang="en-US" altLang="zh-CN" dirty="0" smtClean="0"/>
                  <a:t>OI </a:t>
                </a:r>
                <a:r>
                  <a:rPr lang="zh-CN" altLang="en-US" dirty="0" smtClean="0"/>
                  <a:t>中鲜有出现以哈希为官方标解的算法。不过哈希往往能作为一个非常优秀的暴力。特别是与 </a:t>
                </a:r>
                <a:r>
                  <a:rPr lang="en-US" altLang="zh-CN" dirty="0" smtClean="0"/>
                  <a:t>map </a:t>
                </a:r>
                <a:r>
                  <a:rPr lang="zh-CN" altLang="en-US" dirty="0" smtClean="0"/>
                  <a:t>等 </a:t>
                </a:r>
                <a:r>
                  <a:rPr lang="en-US" altLang="zh-CN" dirty="0" err="1" smtClean="0"/>
                  <a:t>stl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相结合时能非常方便地维护字符串的集合。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当然大家也可以使用“挂链”的方法维护多个字符串的哈希。。。大致是将 </a:t>
                </a:r>
                <a:r>
                  <a:rPr lang="en-US" altLang="zh-CN" dirty="0" smtClean="0"/>
                  <a:t>res </a:t>
                </a:r>
                <a:r>
                  <a:rPr lang="zh-CN" altLang="en-US" dirty="0" smtClean="0"/>
                  <a:t>再对一个较小的数取模，将其二次映射到那个较小的值上。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同时，基于生日悖论，在有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</m:e>
                    </m:rad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级别的字符串时哈希就变得非常不可靠。此时可以通过取两个模数的方法来优化正确率。这里又涉及到一个叫“孪生素数”的东西 </a:t>
                </a:r>
                <a:r>
                  <a:rPr lang="en-US" altLang="zh-CN" dirty="0" smtClean="0"/>
                  <a:t>&gt;_&lt;</a:t>
                </a:r>
                <a:r>
                  <a:rPr lang="zh-CN" altLang="en-US" dirty="0" smtClean="0"/>
                  <a:t>。。。反正大家做题就取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+7 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+9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就好了。。。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71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常见运用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哈希算法还常常与二分相结合，用于求两个（或多个）字符串的最长公共 前</a:t>
            </a:r>
            <a:r>
              <a:rPr lang="en-US" altLang="zh-CN" dirty="0" smtClean="0"/>
              <a:t>/</a:t>
            </a:r>
            <a:r>
              <a:rPr lang="zh-CN" altLang="en-US" dirty="0" smtClean="0"/>
              <a:t>后 缀。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可以在某些时候代替后缀数组。。。而且这东西的常数还非常优秀，有些时候甚至能让你达成暴力踩标算的成就（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778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洛谷</a:t>
            </a:r>
            <a:r>
              <a:rPr lang="en-US" altLang="zh-CN" dirty="0" smtClean="0"/>
              <a:t>P3763 DNA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给你两个字符串 </a:t>
                </a:r>
                <a:r>
                  <a:rPr lang="en-US" altLang="zh-CN" dirty="0" smtClean="0"/>
                  <a:t>A,B</a:t>
                </a:r>
                <a:r>
                  <a:rPr lang="zh-CN" altLang="en-US" dirty="0" smtClean="0"/>
                  <a:t>，问 </a:t>
                </a:r>
                <a:r>
                  <a:rPr lang="en-US" altLang="zh-CN" dirty="0" smtClean="0"/>
                  <a:t>A </a:t>
                </a:r>
                <a:r>
                  <a:rPr lang="zh-CN" altLang="en-US" dirty="0" smtClean="0"/>
                  <a:t>有多少子串满足在修改不超过 </a:t>
                </a:r>
                <a:r>
                  <a:rPr lang="en-US" altLang="zh-CN" dirty="0" smtClean="0"/>
                  <a:t>3 </a:t>
                </a:r>
                <a:r>
                  <a:rPr lang="zh-CN" altLang="en-US" dirty="0" smtClean="0"/>
                  <a:t>个字符后能变成 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49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洛谷</a:t>
            </a:r>
            <a:r>
              <a:rPr lang="en-US" altLang="zh-CN" dirty="0" smtClean="0"/>
              <a:t>P3763 DNA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由于修改不会影响字符串的长度，备选子串是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级别的。运用贪心思想，我们每次只需求出当前子串与 </a:t>
                </a:r>
                <a:r>
                  <a:rPr lang="en-US" altLang="zh-CN" dirty="0" smtClean="0"/>
                  <a:t>B </a:t>
                </a:r>
                <a:r>
                  <a:rPr lang="zh-CN" altLang="en-US" dirty="0" smtClean="0"/>
                  <a:t>的 </a:t>
                </a:r>
                <a:r>
                  <a:rPr lang="en-US" altLang="zh-CN" dirty="0" err="1" smtClean="0"/>
                  <a:t>lcp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即可。发现不匹配直接跳过，继续求 </a:t>
                </a:r>
                <a:r>
                  <a:rPr lang="en-US" altLang="zh-CN" dirty="0" err="1" smtClean="0"/>
                  <a:t>lcp</a:t>
                </a:r>
                <a:r>
                  <a:rPr lang="zh-CN" altLang="en-US" dirty="0" smtClean="0"/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3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UOJ#219 </a:t>
            </a:r>
            <a:r>
              <a:rPr lang="zh-CN" altLang="en-US" dirty="0" smtClean="0"/>
              <a:t>优秀的拆分 </a:t>
            </a:r>
            <a:r>
              <a:rPr lang="en-US" altLang="zh-CN" dirty="0" smtClean="0"/>
              <a:t>(95)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若一个字符串可以被拆分成 </a:t>
                </a:r>
                <a:r>
                  <a:rPr lang="en-US" altLang="zh-CN" dirty="0" smtClean="0"/>
                  <a:t>AABB </a:t>
                </a:r>
                <a:r>
                  <a:rPr lang="zh-CN" altLang="en-US" dirty="0" smtClean="0"/>
                  <a:t>的形式，其中 </a:t>
                </a:r>
                <a:r>
                  <a:rPr lang="en-US" altLang="zh-CN" dirty="0" smtClean="0"/>
                  <a:t>A </a:t>
                </a:r>
                <a:r>
                  <a:rPr lang="zh-CN" altLang="en-US" dirty="0" smtClean="0"/>
                  <a:t>和 </a:t>
                </a:r>
                <a:r>
                  <a:rPr lang="en-US" altLang="zh-CN" dirty="0" smtClean="0"/>
                  <a:t>B </a:t>
                </a:r>
                <a:r>
                  <a:rPr lang="zh-CN" altLang="en-US" dirty="0" smtClean="0"/>
                  <a:t>是任意非空字符串，我们称该字符串的这种拆分是优秀的。给定一个长度为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的字符串，问所有子串的优秀拆分数目之和。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≤2000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0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UOJ#219 </a:t>
            </a:r>
            <a:r>
              <a:rPr lang="zh-CN" altLang="en-US" dirty="0" smtClean="0"/>
              <a:t>优秀的拆分 </a:t>
            </a:r>
            <a:r>
              <a:rPr lang="en-US" altLang="zh-CN" dirty="0" smtClean="0"/>
              <a:t>(95)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可以分开考虑优秀拆分的左边和右边部分。对于每一个点 </a:t>
                </a:r>
                <a:r>
                  <a:rPr lang="en-US" altLang="zh-CN" dirty="0" err="1" smtClean="0"/>
                  <a:t>i</a:t>
                </a:r>
                <a:r>
                  <a:rPr lang="zh-CN" altLang="en-US" dirty="0" smtClean="0"/>
                  <a:t>，我们分别求出以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开头</a:t>
                </a:r>
                <a:r>
                  <a:rPr lang="en-US" altLang="zh-CN" dirty="0" smtClean="0"/>
                  <a:t>/</a:t>
                </a:r>
                <a:r>
                  <a:rPr lang="zh-CN" altLang="en-US" dirty="0" smtClean="0"/>
                  <a:t>结尾的 </a:t>
                </a:r>
                <a:r>
                  <a:rPr lang="en-US" altLang="zh-CN" dirty="0" smtClean="0"/>
                  <a:t>AA </a:t>
                </a:r>
                <a:r>
                  <a:rPr lang="zh-CN" altLang="en-US" dirty="0" smtClean="0"/>
                  <a:t>串的数目。设方案数分别为 </a:t>
                </a:r>
                <a:r>
                  <a:rPr lang="en-US" altLang="zh-CN" dirty="0" smtClean="0"/>
                  <a:t>f[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],g[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</a:t>
                </a:r>
                <a:r>
                  <a:rPr lang="zh-CN" altLang="en-US" dirty="0" smtClean="0"/>
                  <a:t>，根据乘法原理，答案就是  </a:t>
                </a:r>
                <a:r>
                  <a:rPr lang="en-US" altLang="zh-CN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29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trie</a:t>
            </a:r>
            <a:r>
              <a:rPr lang="en-US" altLang="zh-CN" dirty="0" smtClean="0"/>
              <a:t> </a:t>
            </a:r>
            <a:r>
              <a:rPr lang="zh-CN" altLang="en-US" dirty="0" smtClean="0"/>
              <a:t>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比较基础的一种数据结构，相信大家都会。。。注意空间复杂度就好。。。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45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 smtClean="0"/>
              <a:t>Codeforces</a:t>
            </a:r>
            <a:r>
              <a:rPr lang="en-US" altLang="zh-CN" dirty="0" smtClean="0"/>
              <a:t> Gym 102028K</a:t>
            </a:r>
            <a:br>
              <a:rPr lang="en-US" altLang="zh-CN" dirty="0" smtClean="0"/>
            </a:br>
            <a:r>
              <a:rPr lang="en-US" altLang="zh-CN" dirty="0" smtClean="0"/>
              <a:t>Counting </a:t>
            </a:r>
            <a:r>
              <a:rPr lang="en-US" altLang="zh-CN" dirty="0"/>
              <a:t>Failures on a </a:t>
            </a:r>
            <a:r>
              <a:rPr lang="en-US" altLang="zh-CN" dirty="0" err="1"/>
              <a:t>Trie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给你一棵 </a:t>
                </a:r>
                <a:r>
                  <a:rPr lang="en-US" altLang="zh-CN" dirty="0" err="1" smtClean="0"/>
                  <a:t>trie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树和一个字符串 </a:t>
                </a:r>
                <a:r>
                  <a:rPr lang="en-US" altLang="zh-CN" dirty="0" smtClean="0"/>
                  <a:t>S</a:t>
                </a:r>
                <a:r>
                  <a:rPr lang="zh-CN" altLang="en-US" dirty="0"/>
                  <a:t>。</a:t>
                </a:r>
                <a:r>
                  <a:rPr lang="zh-CN" altLang="en-US" dirty="0" smtClean="0"/>
                  <a:t>每次询问给定区间 </a:t>
                </a:r>
                <a:r>
                  <a:rPr lang="en-US" altLang="zh-CN" dirty="0" smtClean="0"/>
                  <a:t>[</a:t>
                </a:r>
                <a:r>
                  <a:rPr lang="en-US" altLang="zh-CN" dirty="0" err="1" smtClean="0"/>
                  <a:t>l,r</a:t>
                </a:r>
                <a:r>
                  <a:rPr lang="en-US" altLang="zh-CN" dirty="0" smtClean="0"/>
                  <a:t>]</a:t>
                </a:r>
                <a:r>
                  <a:rPr lang="zh-CN" altLang="en-US" dirty="0" smtClean="0"/>
                  <a:t>，你需要输出子串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dirty="0" smtClean="0"/>
                  <a:t> 在 </a:t>
                </a:r>
                <a:r>
                  <a:rPr lang="en-US" altLang="zh-CN" dirty="0" err="1" smtClean="0"/>
                  <a:t>trie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树上会失配多少次。匹配过程如下：依次加入子串的字符，若发现某一时刻 </a:t>
                </a:r>
                <a:r>
                  <a:rPr lang="en-US" altLang="zh-CN" dirty="0" err="1" smtClean="0"/>
                  <a:t>trie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树上不存在该字符串，则清空字符串并从下一位开始重新匹配且适配次数 </a:t>
                </a:r>
                <a:r>
                  <a:rPr lang="en-US" altLang="zh-CN" dirty="0" smtClean="0"/>
                  <a:t>+1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290" r="-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32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 smtClean="0"/>
              <a:t>Codeforces</a:t>
            </a:r>
            <a:r>
              <a:rPr lang="en-US" altLang="zh-CN" dirty="0" smtClean="0"/>
              <a:t> Gym 102028K</a:t>
            </a:r>
            <a:br>
              <a:rPr lang="en-US" altLang="zh-CN" dirty="0" smtClean="0"/>
            </a:br>
            <a:r>
              <a:rPr lang="en-US" altLang="zh-CN" dirty="0" smtClean="0"/>
              <a:t>Counting </a:t>
            </a:r>
            <a:r>
              <a:rPr lang="en-US" altLang="zh-CN" dirty="0"/>
              <a:t>Failures on a </a:t>
            </a:r>
            <a:r>
              <a:rPr lang="en-US" altLang="zh-CN" dirty="0" err="1"/>
              <a:t>Trie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我们可以使用二分 </a:t>
            </a:r>
            <a:r>
              <a:rPr lang="en-US" altLang="zh-CN" dirty="0" smtClean="0"/>
              <a:t>+ </a:t>
            </a:r>
            <a:r>
              <a:rPr lang="zh-CN" altLang="en-US" dirty="0" smtClean="0"/>
              <a:t>哈希的方式求出字符串的每一个后缀最多可以在 </a:t>
            </a:r>
            <a:r>
              <a:rPr lang="en-US" altLang="zh-CN" dirty="0" err="1" smtClean="0"/>
              <a:t>trie</a:t>
            </a:r>
            <a:r>
              <a:rPr lang="en-US" altLang="zh-CN" dirty="0" smtClean="0"/>
              <a:t> </a:t>
            </a:r>
            <a:r>
              <a:rPr lang="zh-CN" altLang="en-US" dirty="0" smtClean="0"/>
              <a:t>树上匹配多少位，然后套一个倍增就可以完成询问了。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018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manacher</a:t>
            </a:r>
            <a:r>
              <a:rPr lang="en-US" altLang="zh-CN" dirty="0" smtClean="0"/>
              <a:t> 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俗称“马拉车”，用于求字符串的最长回文子串（其实可以求出以每个字符为中心的最长回文串）。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为了方便求长度为偶数的回文串，一般在字符间预先插入特殊字符（如 </a:t>
            </a:r>
            <a:r>
              <a:rPr lang="en-US" altLang="zh-CN" dirty="0" smtClean="0"/>
              <a:t>‘#’</a:t>
            </a:r>
            <a:r>
              <a:rPr lang="zh-CN" altLang="en-US" dirty="0" smtClean="0"/>
              <a:t>）。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474" y="3651184"/>
            <a:ext cx="7011988" cy="320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8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贴代码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0"/>
            <a:ext cx="62579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3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BZOJ2160 </a:t>
            </a:r>
            <a:r>
              <a:rPr lang="zh-CN" altLang="en-US" dirty="0" smtClean="0"/>
              <a:t>拉拉队排练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给定 </a:t>
                </a:r>
                <a:r>
                  <a:rPr lang="en-US" altLang="zh-CN" dirty="0" err="1" smtClean="0"/>
                  <a:t>n,k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和一个长度为 </a:t>
                </a:r>
                <a:r>
                  <a:rPr lang="en-US" altLang="zh-CN" dirty="0" smtClean="0"/>
                  <a:t>k </a:t>
                </a:r>
                <a:r>
                  <a:rPr lang="zh-CN" altLang="en-US" dirty="0" smtClean="0"/>
                  <a:t>的字符串，求长度前 </a:t>
                </a:r>
                <a:r>
                  <a:rPr lang="en-US" altLang="zh-CN" dirty="0" smtClean="0"/>
                  <a:t>k </a:t>
                </a:r>
                <a:r>
                  <a:rPr lang="zh-CN" altLang="en-US" dirty="0" smtClean="0"/>
                  <a:t>大的回文子串的长度的积。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59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BZOJ2160 </a:t>
            </a:r>
            <a:r>
              <a:rPr lang="zh-CN" altLang="en-US" dirty="0" smtClean="0"/>
              <a:t>拉拉队排练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直接对于每个字符求出以其为中心的最长字符串。设 </a:t>
                </a:r>
                <a:r>
                  <a:rPr lang="en-US" altLang="zh-CN" dirty="0" smtClean="0"/>
                  <a:t>w[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 </a:t>
                </a:r>
                <a:r>
                  <a:rPr lang="zh-CN" altLang="en-US" dirty="0" smtClean="0"/>
                  <a:t>表示长度为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的字符串个数，</a:t>
                </a:r>
                <a:r>
                  <a:rPr lang="en-US" altLang="zh-CN" dirty="0" smtClean="0"/>
                  <a:t>f[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 </a:t>
                </a:r>
                <a:r>
                  <a:rPr lang="zh-CN" altLang="en-US" dirty="0" smtClean="0"/>
                  <a:t>表示最长回文串长为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的中心字符数，显然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 smtClean="0"/>
                  <a:t>快速幂计算答案即可。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4355" r="-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33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 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核心在于 </a:t>
            </a:r>
            <a:r>
              <a:rPr lang="en-US" altLang="zh-CN" dirty="0" smtClean="0"/>
              <a:t>next </a:t>
            </a:r>
            <a:r>
              <a:rPr lang="zh-CN" altLang="en-US" dirty="0" smtClean="0"/>
              <a:t>数组：</a:t>
            </a:r>
            <a:r>
              <a:rPr lang="en-US" altLang="zh-CN" dirty="0" smtClean="0"/>
              <a:t>next[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</a:t>
            </a:r>
            <a:r>
              <a:rPr lang="zh-CN" altLang="en-US" dirty="0" smtClean="0"/>
              <a:t>表示前缀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的最长的且长度小于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的与等长度后缀相同的前缀。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如果 </a:t>
            </a:r>
            <a:r>
              <a:rPr lang="en-US" altLang="zh-CN" dirty="0" smtClean="0"/>
              <a:t>s[next[i-1]+1]=s[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</a:t>
            </a:r>
            <a:r>
              <a:rPr lang="zh-CN" altLang="en-US" dirty="0" smtClean="0"/>
              <a:t>的话，</a:t>
            </a:r>
            <a:r>
              <a:rPr lang="en-US" altLang="zh-CN" dirty="0" smtClean="0"/>
              <a:t>next[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</a:t>
            </a:r>
            <a:r>
              <a:rPr lang="zh-CN" altLang="en-US" dirty="0" smtClean="0"/>
              <a:t>可以直接继承 </a:t>
            </a:r>
            <a:r>
              <a:rPr lang="en-US" altLang="zh-CN" dirty="0" smtClean="0"/>
              <a:t>next[i-1]</a:t>
            </a:r>
            <a:r>
              <a:rPr lang="zh-CN" altLang="en-US" dirty="0" smtClean="0"/>
              <a:t>。否则的话继续沿着 </a:t>
            </a:r>
            <a:r>
              <a:rPr lang="en-US" altLang="zh-CN" dirty="0" smtClean="0"/>
              <a:t>next </a:t>
            </a:r>
            <a:r>
              <a:rPr lang="zh-CN" altLang="en-US" dirty="0" smtClean="0"/>
              <a:t>链跳就好了。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8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贴代码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905000"/>
            <a:ext cx="4788104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6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tips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字符串前缀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的最短循环节为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-next[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在很多题目中可以将 </a:t>
            </a:r>
            <a:r>
              <a:rPr lang="en-US" altLang="zh-CN" dirty="0" smtClean="0"/>
              <a:t>next[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</a:t>
            </a:r>
            <a:r>
              <a:rPr lang="zh-CN" altLang="en-US" dirty="0" smtClean="0"/>
              <a:t>看做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的父亲。这样一来，在一轮匹配过后，每个前缀的出现次数就是子树中所有前缀的被经过次数之和了。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c++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中不能直接使用 </a:t>
            </a:r>
            <a:r>
              <a:rPr lang="en-US" altLang="zh-CN" dirty="0" smtClean="0"/>
              <a:t>next </a:t>
            </a:r>
            <a:r>
              <a:rPr lang="zh-CN" altLang="en-US" dirty="0" smtClean="0"/>
              <a:t>作为变量名 </a:t>
            </a:r>
            <a:r>
              <a:rPr lang="en-US" altLang="zh-CN" dirty="0" smtClean="0"/>
              <a:t>&gt;_&lt;</a:t>
            </a:r>
            <a:r>
              <a:rPr lang="zh-CN" altLang="en-US" dirty="0" smtClean="0"/>
              <a:t>。。。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72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忘记来源的题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给你两个字符串，问两者是否循环同构。若不同构则最大化最长公共前缀。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92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忘记来源的题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将第一个字符串重复一次，使用 </a:t>
            </a:r>
            <a:r>
              <a:rPr lang="en-US" altLang="zh-CN" dirty="0" err="1" smtClean="0"/>
              <a:t>kmp</a:t>
            </a:r>
            <a:r>
              <a:rPr lang="en-US" altLang="zh-CN" dirty="0" smtClean="0"/>
              <a:t> </a:t>
            </a:r>
            <a:r>
              <a:rPr lang="zh-CN" altLang="en-US" dirty="0" smtClean="0"/>
              <a:t>来判断新串里是否有第二个原串即可。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693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UOJ#5 </a:t>
            </a:r>
            <a:r>
              <a:rPr lang="zh-CN" altLang="en-US" dirty="0" smtClean="0"/>
              <a:t>动物园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给你一个字符串，对于每个前缀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求出 </a:t>
                </a:r>
                <a:r>
                  <a:rPr lang="en-US" altLang="zh-CN" dirty="0" err="1" smtClean="0"/>
                  <a:t>num</a:t>
                </a:r>
                <a:r>
                  <a:rPr lang="en-US" altLang="zh-CN" dirty="0" smtClean="0"/>
                  <a:t>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 </a:t>
                </a:r>
                <a:r>
                  <a:rPr lang="zh-CN" altLang="en-US" dirty="0" smtClean="0"/>
                  <a:t>表示该前缀有多少个与等长后缀相同的前缀满足长度小于前缀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的一半。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01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UOJ#5 </a:t>
            </a:r>
            <a:r>
              <a:rPr lang="zh-CN" altLang="en-US" dirty="0" smtClean="0"/>
              <a:t>动物园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我们将 </a:t>
            </a:r>
            <a:r>
              <a:rPr lang="en-US" altLang="zh-CN" dirty="0" smtClean="0"/>
              <a:t>next </a:t>
            </a:r>
            <a:r>
              <a:rPr lang="zh-CN" altLang="en-US" dirty="0" smtClean="0"/>
              <a:t>看做父亲，题目等价为对于每个点求有多少祖先的长度小于它的一半。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比较暴力的方法是对于每个点直接倍增查找满足条件的祖先。。。正解的话可以记录 </a:t>
            </a:r>
            <a:r>
              <a:rPr lang="en-US" altLang="zh-CN" dirty="0" err="1" smtClean="0"/>
              <a:t>pnext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 </a:t>
            </a:r>
            <a:r>
              <a:rPr lang="zh-CN" altLang="en-US" dirty="0" smtClean="0"/>
              <a:t>表示满足条件的第一个祖先，然后这东西直接从 </a:t>
            </a:r>
            <a:r>
              <a:rPr lang="en-US" altLang="zh-CN" dirty="0" err="1" smtClean="0"/>
              <a:t>pnext</a:t>
            </a:r>
            <a:r>
              <a:rPr lang="en-US" altLang="zh-CN" dirty="0" smtClean="0"/>
              <a:t>[i-1] </a:t>
            </a:r>
            <a:r>
              <a:rPr lang="zh-CN" altLang="en-US" dirty="0" smtClean="0"/>
              <a:t>转移一下就好了，过程和求 </a:t>
            </a:r>
            <a:r>
              <a:rPr lang="en-US" altLang="zh-CN" dirty="0" smtClean="0"/>
              <a:t>next </a:t>
            </a:r>
            <a:r>
              <a:rPr lang="zh-CN" altLang="en-US" dirty="0" smtClean="0"/>
              <a:t>一样，只是多了一个判断长度的步骤。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612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AC </a:t>
            </a:r>
            <a:r>
              <a:rPr lang="zh-CN" altLang="en-US" dirty="0" smtClean="0"/>
              <a:t>自动机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名字非常吉利，然而传统算法的复杂度却有些令人头秃：它的复杂度是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叶节点</m:t>
                            </m:r>
                            <m:r>
                              <m:rPr>
                                <m:nor/>
                              </m:rPr>
                              <a:rPr lang="zh-CN" altLang="en-US" dirty="0"/>
                              <m:t>深度和</m:t>
                            </m:r>
                          </m:e>
                        </m:nary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而非</m:t>
                    </m:r>
                  </m:oMath>
                </a14:m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𝑡𝑟𝑖𝑒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树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节点数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。所以我们直接介绍 </a:t>
                </a:r>
                <a:r>
                  <a:rPr lang="en-US" altLang="zh-CN" dirty="0" err="1" smtClean="0"/>
                  <a:t>trie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图的建法。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44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trie</a:t>
            </a:r>
            <a:r>
              <a:rPr lang="en-US" altLang="zh-CN" dirty="0" smtClean="0"/>
              <a:t> </a:t>
            </a:r>
            <a:r>
              <a:rPr lang="zh-CN" altLang="en-US" dirty="0" smtClean="0"/>
              <a:t>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 </a:t>
            </a:r>
            <a:r>
              <a:rPr lang="en-US" altLang="zh-CN" dirty="0" err="1" smtClean="0"/>
              <a:t>trie</a:t>
            </a:r>
            <a:r>
              <a:rPr lang="en-US" altLang="zh-CN" dirty="0" smtClean="0"/>
              <a:t> </a:t>
            </a:r>
            <a:r>
              <a:rPr lang="zh-CN" altLang="en-US" dirty="0" smtClean="0"/>
              <a:t>树上，</a:t>
            </a:r>
            <a:r>
              <a:rPr lang="en-US" altLang="zh-CN" dirty="0" err="1" smtClean="0"/>
              <a:t>ch</a:t>
            </a:r>
            <a:r>
              <a:rPr lang="en-US" altLang="zh-CN" dirty="0" smtClean="0"/>
              <a:t>[x][c] </a:t>
            </a:r>
            <a:r>
              <a:rPr lang="zh-CN" altLang="en-US" dirty="0" smtClean="0"/>
              <a:t>表示 </a:t>
            </a:r>
            <a:r>
              <a:rPr lang="en-US" altLang="zh-CN" dirty="0" smtClean="0"/>
              <a:t>x </a:t>
            </a:r>
            <a:r>
              <a:rPr lang="zh-CN" altLang="en-US" dirty="0" smtClean="0"/>
              <a:t>的字符为 </a:t>
            </a:r>
            <a:r>
              <a:rPr lang="en-US" altLang="zh-CN" dirty="0" smtClean="0"/>
              <a:t>c </a:t>
            </a:r>
            <a:r>
              <a:rPr lang="zh-CN" altLang="en-US" dirty="0" smtClean="0"/>
              <a:t>的儿子。我们扩展一下 </a:t>
            </a:r>
            <a:r>
              <a:rPr lang="en-US" altLang="zh-CN" dirty="0" err="1" smtClean="0"/>
              <a:t>ch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的定义：</a:t>
            </a:r>
            <a:r>
              <a:rPr lang="en-US" altLang="zh-CN" dirty="0" err="1" smtClean="0"/>
              <a:t>ch</a:t>
            </a:r>
            <a:r>
              <a:rPr lang="en-US" altLang="zh-CN" dirty="0" smtClean="0"/>
              <a:t>[x][c] </a:t>
            </a:r>
            <a:r>
              <a:rPr lang="zh-CN" altLang="en-US" dirty="0" smtClean="0"/>
              <a:t>表示当前匹配串匹配到 </a:t>
            </a:r>
            <a:r>
              <a:rPr lang="en-US" altLang="zh-CN" dirty="0" smtClean="0"/>
              <a:t>x </a:t>
            </a:r>
            <a:r>
              <a:rPr lang="zh-CN" altLang="en-US" dirty="0" smtClean="0"/>
              <a:t>节点，且下一个字符为 </a:t>
            </a:r>
            <a:r>
              <a:rPr lang="en-US" altLang="zh-CN" dirty="0" smtClean="0"/>
              <a:t>c </a:t>
            </a:r>
            <a:r>
              <a:rPr lang="zh-CN" altLang="en-US" dirty="0" smtClean="0"/>
              <a:t>时将被定位在的节点编号。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设 </a:t>
            </a:r>
            <a:r>
              <a:rPr lang="en-US" altLang="zh-CN" dirty="0" smtClean="0"/>
              <a:t>f[x] </a:t>
            </a:r>
            <a:r>
              <a:rPr lang="zh-CN" altLang="en-US" dirty="0" smtClean="0"/>
              <a:t>表示 </a:t>
            </a:r>
            <a:r>
              <a:rPr lang="en-US" altLang="zh-CN" dirty="0" smtClean="0"/>
              <a:t>fail </a:t>
            </a:r>
            <a:r>
              <a:rPr lang="zh-CN" altLang="en-US" dirty="0" smtClean="0"/>
              <a:t>链，则对于 </a:t>
            </a:r>
            <a:r>
              <a:rPr lang="en-US" altLang="zh-CN" dirty="0" smtClean="0"/>
              <a:t>x </a:t>
            </a:r>
            <a:r>
              <a:rPr lang="zh-CN" altLang="en-US" dirty="0" smtClean="0"/>
              <a:t>的儿子，</a:t>
            </a:r>
            <a:r>
              <a:rPr lang="en-US" altLang="zh-CN" dirty="0" smtClean="0"/>
              <a:t>f[</a:t>
            </a:r>
            <a:r>
              <a:rPr lang="en-US" altLang="zh-CN" dirty="0" err="1" smtClean="0"/>
              <a:t>ch</a:t>
            </a:r>
            <a:r>
              <a:rPr lang="en-US" altLang="zh-CN" dirty="0" smtClean="0"/>
              <a:t>[x][c]]=</a:t>
            </a:r>
            <a:r>
              <a:rPr lang="en-US" altLang="zh-CN" dirty="0" err="1" smtClean="0"/>
              <a:t>ch</a:t>
            </a:r>
            <a:r>
              <a:rPr lang="en-US" altLang="zh-CN" dirty="0" smtClean="0"/>
              <a:t>[f[x]][c]</a:t>
            </a:r>
            <a:r>
              <a:rPr lang="zh-CN" altLang="en-US" dirty="0" smtClean="0"/>
              <a:t>，否则 </a:t>
            </a:r>
            <a:r>
              <a:rPr lang="en-US" altLang="zh-CN" dirty="0" err="1" smtClean="0"/>
              <a:t>ch</a:t>
            </a:r>
            <a:r>
              <a:rPr lang="en-US" altLang="zh-CN" dirty="0" smtClean="0"/>
              <a:t>[x][c]=</a:t>
            </a:r>
            <a:r>
              <a:rPr lang="en-US" altLang="zh-CN" dirty="0" err="1" smtClean="0"/>
              <a:t>ch</a:t>
            </a:r>
            <a:r>
              <a:rPr lang="en-US" altLang="zh-CN" dirty="0" smtClean="0"/>
              <a:t>[f[x]][c]</a:t>
            </a:r>
            <a:r>
              <a:rPr lang="zh-CN" altLang="en-US" dirty="0" smtClean="0"/>
              <a:t>。注意 </a:t>
            </a:r>
            <a:r>
              <a:rPr lang="en-US" altLang="zh-CN" dirty="0" err="1" smtClean="0"/>
              <a:t>ch</a:t>
            </a:r>
            <a:r>
              <a:rPr lang="en-US" altLang="zh-CN" dirty="0" smtClean="0"/>
              <a:t>[f[x]][c] </a:t>
            </a:r>
            <a:r>
              <a:rPr lang="zh-CN" altLang="en-US" dirty="0" smtClean="0"/>
              <a:t>并不一定是 </a:t>
            </a:r>
            <a:r>
              <a:rPr lang="en-US" altLang="zh-CN" dirty="0" smtClean="0"/>
              <a:t>f[x] </a:t>
            </a:r>
            <a:r>
              <a:rPr lang="zh-CN" altLang="en-US" dirty="0" smtClean="0"/>
              <a:t>的儿子。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讲道理这东西写起来比传统方法方便（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913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贴代码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0"/>
            <a:ext cx="859155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tips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AC </a:t>
            </a:r>
            <a:r>
              <a:rPr lang="zh-CN" altLang="en-US" dirty="0" smtClean="0"/>
              <a:t>自动机（</a:t>
            </a:r>
            <a:r>
              <a:rPr lang="en-US" altLang="zh-CN" dirty="0" err="1" smtClean="0"/>
              <a:t>trie</a:t>
            </a:r>
            <a:r>
              <a:rPr lang="en-US" altLang="zh-CN" dirty="0" smtClean="0"/>
              <a:t> </a:t>
            </a:r>
            <a:r>
              <a:rPr lang="zh-CN" altLang="en-US" dirty="0" smtClean="0"/>
              <a:t>图）往往会配合数据结构出现，且一般情况会在 </a:t>
            </a:r>
            <a:r>
              <a:rPr lang="en-US" altLang="zh-CN" dirty="0" smtClean="0"/>
              <a:t>fail </a:t>
            </a:r>
            <a:r>
              <a:rPr lang="zh-CN" altLang="en-US" dirty="0" smtClean="0"/>
              <a:t>树上做文章。大家做题的时候不妨多往这方面想一想。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由于匹配时经过某个点后影响的是整条 </a:t>
            </a:r>
            <a:r>
              <a:rPr lang="en-US" altLang="zh-CN" dirty="0" smtClean="0"/>
              <a:t>fail </a:t>
            </a:r>
            <a:r>
              <a:rPr lang="zh-CN" altLang="en-US" dirty="0" smtClean="0"/>
              <a:t>链，使用树链剖分的复杂度将是两个 </a:t>
            </a:r>
            <a:r>
              <a:rPr lang="en-US" altLang="zh-CN" dirty="0" smtClean="0"/>
              <a:t>log</a:t>
            </a:r>
            <a:r>
              <a:rPr lang="zh-CN" altLang="en-US" dirty="0" smtClean="0"/>
              <a:t>。其实这种链修改、单点查询是可以直接转化成单点修改、子树查询的。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345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洛谷 </a:t>
            </a:r>
            <a:r>
              <a:rPr lang="en-US" altLang="zh-CN" dirty="0" smtClean="0"/>
              <a:t>P2414 </a:t>
            </a:r>
            <a:r>
              <a:rPr lang="zh-CN" altLang="en-US" dirty="0" smtClean="0"/>
              <a:t>阿狸的打字机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给你一个字符串。对于第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位，若这一位为小写字母，表示在当前串末尾插入该字母；若为 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，表示删除末尾字母；若为 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，表示打印当前字符串。有 </a:t>
                </a:r>
                <a:r>
                  <a:rPr lang="en-US" altLang="zh-CN" dirty="0" smtClean="0"/>
                  <a:t>m </a:t>
                </a:r>
                <a:r>
                  <a:rPr lang="zh-CN" altLang="en-US" dirty="0" smtClean="0"/>
                  <a:t>组询问，每次给定两个整数 </a:t>
                </a:r>
                <a:r>
                  <a:rPr lang="en-US" altLang="zh-CN" dirty="0" err="1" smtClean="0"/>
                  <a:t>x,y</a:t>
                </a:r>
                <a:r>
                  <a:rPr lang="zh-CN" altLang="en-US" dirty="0" smtClean="0"/>
                  <a:t>，问第 </a:t>
                </a:r>
                <a:r>
                  <a:rPr lang="en-US" altLang="zh-CN" dirty="0" smtClean="0"/>
                  <a:t>x </a:t>
                </a:r>
                <a:r>
                  <a:rPr lang="zh-CN" altLang="en-US" dirty="0" smtClean="0"/>
                  <a:t>个打印的字符串在第 </a:t>
                </a:r>
                <a:r>
                  <a:rPr lang="en-US" altLang="zh-CN" dirty="0" smtClean="0"/>
                  <a:t>y </a:t>
                </a:r>
                <a:r>
                  <a:rPr lang="zh-CN" altLang="en-US" dirty="0" smtClean="0"/>
                  <a:t>个字符串中出现了多少次。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10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洛谷 </a:t>
            </a:r>
            <a:r>
              <a:rPr lang="en-US" altLang="zh-CN" dirty="0" smtClean="0"/>
              <a:t>P2414 </a:t>
            </a:r>
            <a:r>
              <a:rPr lang="zh-CN" altLang="en-US" dirty="0" smtClean="0"/>
              <a:t>阿狸的打字机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经典好题啊。。。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建出 </a:t>
            </a:r>
            <a:r>
              <a:rPr lang="en-US" altLang="zh-CN" dirty="0" smtClean="0"/>
              <a:t>AC </a:t>
            </a:r>
            <a:r>
              <a:rPr lang="zh-CN" altLang="en-US" dirty="0" smtClean="0"/>
              <a:t>自动机后，</a:t>
            </a:r>
            <a:r>
              <a:rPr lang="en-US" altLang="zh-CN" dirty="0" smtClean="0"/>
              <a:t>x </a:t>
            </a:r>
            <a:r>
              <a:rPr lang="zh-CN" altLang="en-US" dirty="0" smtClean="0"/>
              <a:t>在</a:t>
            </a:r>
            <a:r>
              <a:rPr lang="en-US" altLang="zh-CN" dirty="0"/>
              <a:t> </a:t>
            </a:r>
            <a:r>
              <a:rPr lang="en-US" altLang="zh-CN" dirty="0" smtClean="0"/>
              <a:t>y </a:t>
            </a:r>
            <a:r>
              <a:rPr lang="zh-CN" altLang="en-US" dirty="0" smtClean="0"/>
              <a:t>中出现的次数等于 </a:t>
            </a:r>
            <a:r>
              <a:rPr lang="en-US" altLang="zh-CN" dirty="0" smtClean="0"/>
              <a:t>y </a:t>
            </a:r>
            <a:r>
              <a:rPr lang="zh-CN" altLang="en-US" dirty="0" smtClean="0"/>
              <a:t>的以 </a:t>
            </a:r>
            <a:r>
              <a:rPr lang="en-US" altLang="zh-CN" dirty="0" smtClean="0"/>
              <a:t>x </a:t>
            </a:r>
            <a:r>
              <a:rPr lang="zh-CN" altLang="en-US" dirty="0" smtClean="0"/>
              <a:t>为后缀的前缀个数。“以 </a:t>
            </a:r>
            <a:r>
              <a:rPr lang="en-US" altLang="zh-CN" dirty="0" smtClean="0"/>
              <a:t>x </a:t>
            </a:r>
            <a:r>
              <a:rPr lang="zh-CN" altLang="en-US" dirty="0" smtClean="0"/>
              <a:t>为后缀”等价于在 </a:t>
            </a:r>
            <a:r>
              <a:rPr lang="en-US" altLang="zh-CN" dirty="0" smtClean="0"/>
              <a:t>fail </a:t>
            </a:r>
            <a:r>
              <a:rPr lang="zh-CN" altLang="en-US" dirty="0" smtClean="0"/>
              <a:t>树上在 </a:t>
            </a:r>
            <a:r>
              <a:rPr lang="en-US" altLang="zh-CN" dirty="0" smtClean="0"/>
              <a:t>x </a:t>
            </a:r>
            <a:r>
              <a:rPr lang="zh-CN" altLang="en-US" dirty="0" smtClean="0"/>
              <a:t>的子树中。于是，我们反过来求 </a:t>
            </a:r>
            <a:r>
              <a:rPr lang="en-US" altLang="zh-CN" dirty="0" smtClean="0"/>
              <a:t>y </a:t>
            </a:r>
            <a:r>
              <a:rPr lang="zh-CN" altLang="en-US" dirty="0" smtClean="0"/>
              <a:t>有多少前缀在 </a:t>
            </a:r>
            <a:r>
              <a:rPr lang="en-US" altLang="zh-CN" dirty="0" smtClean="0"/>
              <a:t>x </a:t>
            </a:r>
            <a:r>
              <a:rPr lang="zh-CN" altLang="en-US" dirty="0" smtClean="0"/>
              <a:t>的子树中。在 </a:t>
            </a:r>
            <a:r>
              <a:rPr lang="en-US" altLang="zh-CN" dirty="0" err="1" smtClean="0"/>
              <a:t>trie</a:t>
            </a:r>
            <a:r>
              <a:rPr lang="en-US" altLang="zh-CN" dirty="0" smtClean="0"/>
              <a:t> </a:t>
            </a:r>
            <a:r>
              <a:rPr lang="zh-CN" altLang="en-US" dirty="0" smtClean="0"/>
              <a:t>树上 </a:t>
            </a:r>
            <a:r>
              <a:rPr lang="en-US" altLang="zh-CN" dirty="0" err="1" smtClean="0"/>
              <a:t>dfs</a:t>
            </a:r>
            <a:r>
              <a:rPr lang="zh-CN" altLang="en-US" dirty="0" smtClean="0"/>
              <a:t>，入栈时将点加入维护 </a:t>
            </a:r>
            <a:r>
              <a:rPr lang="en-US" altLang="zh-CN" dirty="0" smtClean="0"/>
              <a:t>fail </a:t>
            </a:r>
            <a:r>
              <a:rPr lang="zh-CN" altLang="en-US" dirty="0" smtClean="0"/>
              <a:t>树 </a:t>
            </a:r>
            <a:r>
              <a:rPr lang="en-US" altLang="zh-CN" dirty="0" err="1" smtClean="0"/>
              <a:t>dfn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的树状数组，回溯时再取出即可遍历所有点的所有前缀。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0250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AC </a:t>
            </a:r>
            <a:r>
              <a:rPr lang="zh-CN" altLang="en-US" dirty="0" smtClean="0"/>
              <a:t>自动机与 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AC + DP </a:t>
            </a:r>
            <a:r>
              <a:rPr lang="zh-CN" altLang="en-US" dirty="0" smtClean="0"/>
              <a:t>也是不少出题人所钟爱的一种组合。一般出现在求满足某类条件的字符串的题目中。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399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 </a:t>
            </a:r>
            <a:r>
              <a:rPr lang="en-US" altLang="zh-CN" dirty="0" smtClean="0"/>
              <a:t>1</a:t>
            </a:r>
            <a:r>
              <a:rPr lang="en-US" altLang="zh-CN" dirty="0"/>
              <a:t>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个字符串，总长度为 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，求长度为 </a:t>
                </a:r>
                <a:r>
                  <a:rPr lang="en-US" altLang="zh-CN" dirty="0" smtClean="0"/>
                  <a:t>m </a:t>
                </a:r>
                <a:r>
                  <a:rPr lang="zh-CN" altLang="en-US" dirty="0" smtClean="0"/>
                  <a:t>的不包含任何一个字符串的字符串数目。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</m:t>
                    </m:r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2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79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 </a:t>
            </a:r>
            <a:r>
              <a:rPr lang="en-US" altLang="zh-CN" dirty="0"/>
              <a:t>2</a:t>
            </a:r>
            <a:r>
              <a:rPr lang="en-US" altLang="zh-CN" dirty="0" smtClean="0"/>
              <a:t>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个字符串，总长度为 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，求长度为 </a:t>
                </a:r>
                <a:r>
                  <a:rPr lang="en-US" altLang="zh-CN" dirty="0" smtClean="0"/>
                  <a:t>m </a:t>
                </a:r>
                <a:r>
                  <a:rPr lang="zh-CN" altLang="en-US" dirty="0" smtClean="0"/>
                  <a:t>的不包含任何一个字符串的字符串数目。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≤50,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2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90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后缀数组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字符串算法中的一大毒瘤。其核心思想其实还是比较简单的：使用倍增来快速对字符串进行字典西排序。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614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蒯的一张图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754" y="1905000"/>
            <a:ext cx="6023537" cy="4830878"/>
          </a:xfrm>
        </p:spPr>
      </p:pic>
    </p:spTree>
    <p:extLst>
      <p:ext uri="{BB962C8B-B14F-4D97-AF65-F5344CB8AC3E}">
        <p14:creationId xmlns:p14="http://schemas.microsoft.com/office/powerpoint/2010/main" val="359712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后缀数组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关于这种算法的大致思想，相信大家都没有什么问题。推到这一步后，我们每次的排序其实就是对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 </a:t>
                </a:r>
                <a:r>
                  <a:rPr lang="en-US" altLang="zh-CN" dirty="0" smtClean="0"/>
                  <a:t>pair </a:t>
                </a:r>
                <a:r>
                  <a:rPr lang="zh-CN" altLang="en-US" dirty="0" smtClean="0"/>
                  <a:t>排序，其中 </a:t>
                </a:r>
                <a:r>
                  <a:rPr lang="en-US" altLang="zh-CN" dirty="0" smtClean="0"/>
                  <a:t>pair </a:t>
                </a:r>
                <a:r>
                  <a:rPr lang="zh-CN" altLang="en-US" dirty="0" smtClean="0"/>
                  <a:t>中的两个数都在 </a:t>
                </a:r>
                <a:r>
                  <a:rPr lang="en-US" altLang="zh-CN" dirty="0" smtClean="0"/>
                  <a:t>1~n </a:t>
                </a:r>
                <a:r>
                  <a:rPr lang="zh-CN" altLang="en-US" dirty="0" smtClean="0"/>
                  <a:t>的范围内。后缀数组真正令人头秃的其实是这个排序的过程：由于总共有 </a:t>
                </a:r>
                <a:r>
                  <a:rPr lang="en-US" altLang="zh-CN" dirty="0" smtClean="0"/>
                  <a:t>log(n) </a:t>
                </a:r>
                <a:r>
                  <a:rPr lang="zh-CN" altLang="en-US" dirty="0" smtClean="0"/>
                  <a:t>次排序，我们必须保证每次排序的复杂度是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级别</m:t>
                    </m:r>
                  </m:oMath>
                </a14:m>
                <a:r>
                  <a:rPr lang="zh-CN" altLang="en-US" dirty="0" smtClean="0"/>
                  <a:t>的。这就得用到基数排序了。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 smtClean="0"/>
                  <a:t>在一般的后缀数组算法中，我们先利用类似桶排的方式得到 </a:t>
                </a:r>
                <a:r>
                  <a:rPr lang="en-US" altLang="zh-CN" dirty="0" smtClean="0"/>
                  <a:t>id[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 </a:t>
                </a:r>
                <a:r>
                  <a:rPr lang="zh-CN" altLang="en-US" dirty="0" smtClean="0"/>
                  <a:t>表示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 </a:t>
                </a:r>
                <a:r>
                  <a:rPr lang="en-US" altLang="zh-CN" dirty="0" smtClean="0"/>
                  <a:t>pair </a:t>
                </a:r>
                <a:r>
                  <a:rPr lang="zh-CN" altLang="en-US" dirty="0" smtClean="0"/>
                  <a:t>按照第二维排序后的排列。接下来，再</a:t>
                </a:r>
                <a:r>
                  <a:rPr lang="zh-CN" altLang="en-US" dirty="0"/>
                  <a:t>桶</a:t>
                </a:r>
                <a:r>
                  <a:rPr lang="zh-CN" altLang="en-US" dirty="0" smtClean="0"/>
                  <a:t>排第一维，并按照 </a:t>
                </a:r>
                <a:r>
                  <a:rPr lang="en-US" altLang="zh-CN" dirty="0" smtClean="0"/>
                  <a:t>id </a:t>
                </a:r>
                <a:r>
                  <a:rPr lang="zh-CN" altLang="en-US" dirty="0" smtClean="0"/>
                  <a:t>的顺序求出每个 </a:t>
                </a:r>
                <a:r>
                  <a:rPr lang="en-US" altLang="zh-CN" dirty="0" smtClean="0"/>
                  <a:t>pair </a:t>
                </a:r>
                <a:r>
                  <a:rPr lang="zh-CN" altLang="en-US" dirty="0" smtClean="0"/>
                  <a:t>的次序即可。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 r="-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91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619250"/>
            <a:ext cx="934402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0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height </a:t>
            </a:r>
            <a:r>
              <a:rPr lang="zh-CN" altLang="en-US" dirty="0" smtClean="0"/>
              <a:t>数组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height[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] </a:t>
                </a:r>
                <a:r>
                  <a:rPr lang="zh-CN" altLang="en-US" dirty="0" smtClean="0"/>
                  <a:t>表示排名为 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的字符串与排名 </a:t>
                </a:r>
                <a:r>
                  <a:rPr lang="en-US" altLang="zh-CN" dirty="0" smtClean="0"/>
                  <a:t>i-1 </a:t>
                </a:r>
                <a:r>
                  <a:rPr lang="zh-CN" altLang="en-US" dirty="0" smtClean="0"/>
                  <a:t>的字符串的最长公共前缀。这个数组可以用于求两个后缀的 </a:t>
                </a:r>
                <a:r>
                  <a:rPr lang="en-US" altLang="zh-CN" dirty="0" err="1" smtClean="0"/>
                  <a:t>lcp</a:t>
                </a:r>
                <a:r>
                  <a:rPr lang="zh-CN" altLang="en-US" dirty="0" smtClean="0"/>
                  <a:t>：设两个后缀的排名分别为 </a:t>
                </a:r>
                <a:r>
                  <a:rPr lang="en-US" altLang="zh-CN" dirty="0" smtClean="0"/>
                  <a:t>x </a:t>
                </a:r>
                <a:r>
                  <a:rPr lang="zh-CN" altLang="en-US" dirty="0" smtClean="0"/>
                  <a:t>和 </a:t>
                </a:r>
                <a:r>
                  <a:rPr lang="en-US" altLang="zh-CN" dirty="0" smtClean="0"/>
                  <a:t>y</a:t>
                </a:r>
                <a:r>
                  <a:rPr lang="zh-CN" altLang="en-US" dirty="0" smtClean="0"/>
                  <a:t>，则：</a:t>
                </a:r>
                <a:endParaRPr lang="en-US" altLang="zh-CN" dirty="0" smtClean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𝑙𝑐𝑝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h𝑒𝑖𝑔h𝑡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 smtClean="0"/>
              </a:p>
              <a:p>
                <a:pPr algn="ctr"/>
                <a:endParaRPr lang="en-US" altLang="zh-CN" dirty="0"/>
              </a:p>
              <a:p>
                <a:r>
                  <a:rPr lang="en-US" altLang="zh-CN" dirty="0" smtClean="0"/>
                  <a:t>height </a:t>
                </a:r>
                <a:r>
                  <a:rPr lang="zh-CN" altLang="en-US" dirty="0" smtClean="0"/>
                  <a:t>还有一个性质：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h𝑒𝑖𝑔h𝑡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𝑟𝑎𝑘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h𝑒𝑖𝑔h𝑡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𝑟𝑎𝑘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 smtClean="0"/>
                  <a:t>。根据这个性质，我们可以在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 smtClean="0"/>
                  <a:t>时间内求出字符串的 </a:t>
                </a:r>
                <a:r>
                  <a:rPr lang="en-US" altLang="zh-CN" dirty="0" smtClean="0"/>
                  <a:t>height </a:t>
                </a:r>
                <a:r>
                  <a:rPr lang="zh-CN" altLang="en-US" dirty="0" smtClean="0"/>
                  <a:t>数组。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 r="-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317" y="4745648"/>
            <a:ext cx="64579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BZOJ1031 </a:t>
            </a:r>
            <a:r>
              <a:rPr lang="zh-CN" altLang="en-US" dirty="0" smtClean="0"/>
              <a:t>字符加密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给你一个长度为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的字符串，对所有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个与它循环同构的字符串排序（可能有重复）。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6579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BZOJ1031 </a:t>
            </a:r>
            <a:r>
              <a:rPr lang="zh-CN" altLang="en-US" dirty="0" smtClean="0"/>
              <a:t>字符加密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这题其实是裸后缀数组的弱化版，因为你甚至不需要考虑字符串延伸到空串时的情况。。。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dirty="0"/>
                  <a:t>如果</a:t>
                </a:r>
                <a:r>
                  <a:rPr lang="zh-CN" altLang="en-US" dirty="0" smtClean="0"/>
                  <a:t>你忘了后缀数组的基数排序怎么写却发现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不妨直接将对 </a:t>
                </a:r>
                <a:r>
                  <a:rPr lang="en-US" altLang="zh-CN" dirty="0" smtClean="0"/>
                  <a:t>n </a:t>
                </a:r>
                <a:r>
                  <a:rPr lang="zh-CN" altLang="en-US" dirty="0" smtClean="0"/>
                  <a:t>个 </a:t>
                </a:r>
                <a:r>
                  <a:rPr lang="en-US" altLang="zh-CN" dirty="0" smtClean="0"/>
                  <a:t>pair </a:t>
                </a:r>
                <a:r>
                  <a:rPr lang="zh-CN" altLang="en-US" dirty="0" smtClean="0"/>
                  <a:t>的基数排序改成一个潇洒的 </a:t>
                </a:r>
                <a:r>
                  <a:rPr lang="en-US" altLang="zh-CN" dirty="0" smtClean="0"/>
                  <a:t>sort</a:t>
                </a:r>
                <a:r>
                  <a:rPr lang="zh-CN" altLang="en-US" dirty="0" smtClean="0"/>
                  <a:t>（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966694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最长公共子串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给你两个字符串，求它们的最长公共子串。</a:t>
                </a:r>
                <a:endParaRPr lang="en-US" altLang="zh-CN" dirty="0" smtClean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≤100000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4199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最长公共子串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与后缀数组相关的题有一个非常经典的套路：用一个字符（比如</a:t>
            </a:r>
            <a:r>
              <a:rPr lang="en-US" altLang="zh-CN" dirty="0"/>
              <a:t> </a:t>
            </a:r>
            <a:r>
              <a:rPr lang="en-US" altLang="zh-CN" dirty="0" smtClean="0"/>
              <a:t>‘{’</a:t>
            </a:r>
            <a:r>
              <a:rPr lang="zh-CN" altLang="en-US" dirty="0" smtClean="0"/>
              <a:t>）将两个串连起来，这样你就能求出包含两个字符串的所有后缀的后缀数组了。众所周知，子串是字符串的某个后缀的前缀。我们只需找到排名为 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的两个字符串，满足它们属于不同的原串且 </a:t>
            </a:r>
            <a:r>
              <a:rPr lang="en-US" altLang="zh-CN" dirty="0" err="1" smtClean="0"/>
              <a:t>lcp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 </a:t>
            </a:r>
            <a:r>
              <a:rPr lang="zh-CN" altLang="en-US" dirty="0" smtClean="0"/>
              <a:t>最大。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冷静分析发现 </a:t>
            </a:r>
            <a:r>
              <a:rPr lang="en-US" altLang="zh-CN" dirty="0" smtClean="0"/>
              <a:t>y=x+1</a:t>
            </a:r>
            <a:r>
              <a:rPr lang="zh-CN" altLang="en-US" dirty="0" smtClean="0"/>
              <a:t>，直接按照 </a:t>
            </a:r>
            <a:r>
              <a:rPr lang="en-US" altLang="zh-CN" dirty="0" err="1" smtClean="0"/>
              <a:t>sa</a:t>
            </a:r>
            <a:r>
              <a:rPr lang="en-US" altLang="zh-CN" dirty="0" smtClean="0"/>
              <a:t> </a:t>
            </a:r>
            <a:r>
              <a:rPr lang="zh-CN" altLang="en-US" dirty="0" smtClean="0"/>
              <a:t>枚举即可。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147489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2649</TotalTime>
  <Words>3744</Words>
  <Application>Microsoft Office PowerPoint</Application>
  <PresentationFormat>宽屏</PresentationFormat>
  <Paragraphs>340</Paragraphs>
  <Slides>95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04" baseType="lpstr">
      <vt:lpstr>等线</vt:lpstr>
      <vt:lpstr>微软雅黑</vt:lpstr>
      <vt:lpstr>幼圆</vt:lpstr>
      <vt:lpstr>Arial</vt:lpstr>
      <vt:lpstr>Cambria Math</vt:lpstr>
      <vt:lpstr>Century Gothic</vt:lpstr>
      <vt:lpstr>Wingdings 3</vt:lpstr>
      <vt:lpstr>丝状</vt:lpstr>
      <vt:lpstr>公式</vt:lpstr>
      <vt:lpstr>   计数</vt:lpstr>
      <vt:lpstr>组合数学基础</vt:lpstr>
      <vt:lpstr>常用公式</vt:lpstr>
      <vt:lpstr>小问题</vt:lpstr>
      <vt:lpstr>斯特林数</vt:lpstr>
      <vt:lpstr>常用公式</vt:lpstr>
      <vt:lpstr>[BZOJ4710] 分特产</vt:lpstr>
      <vt:lpstr>[BZOJ4710] 分特产</vt:lpstr>
      <vt:lpstr>洛谷 P4609 建筑师</vt:lpstr>
      <vt:lpstr>洛谷 P4609 建筑师</vt:lpstr>
      <vt:lpstr>洛谷 P1450 硬币购物</vt:lpstr>
      <vt:lpstr>洛谷 P1450 硬币购物</vt:lpstr>
      <vt:lpstr>错排</vt:lpstr>
      <vt:lpstr>错排</vt:lpstr>
      <vt:lpstr>走路问题</vt:lpstr>
      <vt:lpstr>走路问题</vt:lpstr>
      <vt:lpstr>杂题选讲</vt:lpstr>
      <vt:lpstr>小水题</vt:lpstr>
      <vt:lpstr>小水题</vt:lpstr>
      <vt:lpstr>中水题</vt:lpstr>
      <vt:lpstr>中水题</vt:lpstr>
      <vt:lpstr>AGC 001 E BBQ Hard</vt:lpstr>
      <vt:lpstr>AGC 001 E BBQ Hard</vt:lpstr>
      <vt:lpstr>LOJ 6089 小 Y 的背包计数问题</vt:lpstr>
      <vt:lpstr>LOJ 6089 小 Y 的背包计数问题</vt:lpstr>
      <vt:lpstr>AGC 001 E BBQ Hard</vt:lpstr>
      <vt:lpstr>YMD 的题</vt:lpstr>
      <vt:lpstr>YMD 的题</vt:lpstr>
      <vt:lpstr>AGC 013 D Piling Up</vt:lpstr>
      <vt:lpstr>AGC 013 D Piling Up</vt:lpstr>
      <vt:lpstr>Codeforces 961G Partitions</vt:lpstr>
      <vt:lpstr>Codeforces 961G Partitions</vt:lpstr>
      <vt:lpstr>Codechef CNTDSETS</vt:lpstr>
      <vt:lpstr>Codechef CNTDSETS</vt:lpstr>
      <vt:lpstr>北大集训 2018 Esperar</vt:lpstr>
      <vt:lpstr>北大集训 2018 Esperar</vt:lpstr>
      <vt:lpstr>王队长的题 (Atcoder 上有)</vt:lpstr>
      <vt:lpstr>王队长的题 (Atcoder 上有)</vt:lpstr>
      <vt:lpstr>关于 Atcoder</vt:lpstr>
      <vt:lpstr>ZJOI 2017 仙人掌</vt:lpstr>
      <vt:lpstr>ZJOI 2017 仙人掌</vt:lpstr>
      <vt:lpstr>总结</vt:lpstr>
      <vt:lpstr>多项式</vt:lpstr>
      <vt:lpstr>生成函数</vt:lpstr>
      <vt:lpstr>生成函数</vt:lpstr>
      <vt:lpstr>Codechef CNTL</vt:lpstr>
      <vt:lpstr>Codechef CNTL</vt:lpstr>
      <vt:lpstr>多项式乘法</vt:lpstr>
      <vt:lpstr>贴代码 - NTT</vt:lpstr>
      <vt:lpstr>多项式求逆</vt:lpstr>
      <vt:lpstr>[BZOJ5093] 图的价值</vt:lpstr>
      <vt:lpstr>[BZOJ5093] 图的价值</vt:lpstr>
      <vt:lpstr>推荐练习</vt:lpstr>
      <vt:lpstr>字符串</vt:lpstr>
      <vt:lpstr>最小表示法</vt:lpstr>
      <vt:lpstr>最小表示法</vt:lpstr>
      <vt:lpstr>哈希算法</vt:lpstr>
      <vt:lpstr>常见运用</vt:lpstr>
      <vt:lpstr>常见运用</vt:lpstr>
      <vt:lpstr>洛谷P3763 DNA</vt:lpstr>
      <vt:lpstr>洛谷P3763 DNA</vt:lpstr>
      <vt:lpstr>UOJ#219 优秀的拆分 (95)</vt:lpstr>
      <vt:lpstr>UOJ#219 优秀的拆分 (95)</vt:lpstr>
      <vt:lpstr>trie 树</vt:lpstr>
      <vt:lpstr>Codeforces Gym 102028K Counting Failures on a Trie  </vt:lpstr>
      <vt:lpstr>Codeforces Gym 102028K Counting Failures on a Trie  </vt:lpstr>
      <vt:lpstr>manacher 算法</vt:lpstr>
      <vt:lpstr>贴代码</vt:lpstr>
      <vt:lpstr>BZOJ2160 拉拉队排练</vt:lpstr>
      <vt:lpstr>BZOJ2160 拉拉队排练</vt:lpstr>
      <vt:lpstr>KMP 算法</vt:lpstr>
      <vt:lpstr>贴代码</vt:lpstr>
      <vt:lpstr>tips</vt:lpstr>
      <vt:lpstr>忘记来源的题</vt:lpstr>
      <vt:lpstr>忘记来源的题</vt:lpstr>
      <vt:lpstr>UOJ#5 动物园</vt:lpstr>
      <vt:lpstr>UOJ#5 动物园</vt:lpstr>
      <vt:lpstr>AC 自动机</vt:lpstr>
      <vt:lpstr>trie 图</vt:lpstr>
      <vt:lpstr>贴代码</vt:lpstr>
      <vt:lpstr>tips</vt:lpstr>
      <vt:lpstr>洛谷 P2414 阿狸的打字机</vt:lpstr>
      <vt:lpstr>洛谷 P2414 阿狸的打字机</vt:lpstr>
      <vt:lpstr>AC 自动机与 DP</vt:lpstr>
      <vt:lpstr>例 1:</vt:lpstr>
      <vt:lpstr>例 2:</vt:lpstr>
      <vt:lpstr>后缀数组</vt:lpstr>
      <vt:lpstr>蒯的一张图</vt:lpstr>
      <vt:lpstr>后缀数组</vt:lpstr>
      <vt:lpstr>代码</vt:lpstr>
      <vt:lpstr>height 数组</vt:lpstr>
      <vt:lpstr>BZOJ1031 字符加密</vt:lpstr>
      <vt:lpstr>BZOJ1031 字符加密</vt:lpstr>
      <vt:lpstr>最长公共子串</vt:lpstr>
      <vt:lpstr>最长公共子串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最短路</dc:title>
  <dc:creator>Anson _</dc:creator>
  <cp:lastModifiedBy>Anson _</cp:lastModifiedBy>
  <cp:revision>187</cp:revision>
  <dcterms:created xsi:type="dcterms:W3CDTF">2019-05-28T06:57:59Z</dcterms:created>
  <dcterms:modified xsi:type="dcterms:W3CDTF">2020-08-03T09:11:19Z</dcterms:modified>
</cp:coreProperties>
</file>