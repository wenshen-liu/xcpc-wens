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74" r:id="rId6"/>
    <p:sldId id="275" r:id="rId7"/>
    <p:sldId id="276" r:id="rId8"/>
    <p:sldId id="266" r:id="rId9"/>
    <p:sldId id="259" r:id="rId10"/>
    <p:sldId id="277" r:id="rId11"/>
    <p:sldId id="267" r:id="rId12"/>
    <p:sldId id="262" r:id="rId13"/>
    <p:sldId id="269" r:id="rId14"/>
    <p:sldId id="278" r:id="rId15"/>
    <p:sldId id="279" r:id="rId16"/>
    <p:sldId id="268" r:id="rId17"/>
    <p:sldId id="292" r:id="rId18"/>
    <p:sldId id="293" r:id="rId19"/>
    <p:sldId id="270" r:id="rId20"/>
    <p:sldId id="257" r:id="rId21"/>
    <p:sldId id="280" r:id="rId22"/>
    <p:sldId id="300" r:id="rId23"/>
    <p:sldId id="301" r:id="rId24"/>
    <p:sldId id="294" r:id="rId25"/>
    <p:sldId id="299" r:id="rId26"/>
    <p:sldId id="295" r:id="rId27"/>
    <p:sldId id="296" r:id="rId28"/>
    <p:sldId id="272" r:id="rId29"/>
    <p:sldId id="271" r:id="rId30"/>
    <p:sldId id="297" r:id="rId31"/>
    <p:sldId id="298" r:id="rId32"/>
    <p:sldId id="260" r:id="rId33"/>
    <p:sldId id="282" r:id="rId34"/>
    <p:sldId id="285" r:id="rId35"/>
    <p:sldId id="287" r:id="rId36"/>
    <p:sldId id="289" r:id="rId37"/>
    <p:sldId id="290" r:id="rId38"/>
    <p:sldId id="291" r:id="rId39"/>
    <p:sldId id="281" r:id="rId40"/>
    <p:sldId id="283" r:id="rId41"/>
    <p:sldId id="288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60541-48B1-409F-AA88-864638FF5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8C7528-7B21-4CD3-802B-C9C4FC9F5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360D5-0B49-4F92-85C2-C3873671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2C64A-A056-4C03-A739-EC4BF14D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EDF58-1802-479D-903D-AF5FE5DD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8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EB978-D5F2-4FF6-902F-FFD15A98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07508-B7E7-467B-A406-13FB0B882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8CD0F-BC4A-4DF1-A9EF-CA174C4B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D6DFE-BADB-4662-A82E-3765F0D8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34C4BD-4AA2-46D1-94C4-F1FDAFA6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4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0786E-8AEE-4A81-A9ED-0E3EE77D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26BAF0-38BE-44DF-B84E-02A8781C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E7FA5-BEAB-41BB-AB48-34F6F27C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7509C-54EC-4847-BC1C-B5F88A98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7776D-462F-400C-8C30-64F0DDBD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68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E2B99-64D3-4F17-89C1-C59F9F1D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875946-246F-4576-845F-E493C1CA7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969D24-189D-474D-A514-F64BAF209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BC4919-8972-43CE-B5FB-B6555ACD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7E6CBD-6AA1-4607-8980-E626A453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974E7B-5513-4F08-9267-5B3920BB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77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9DBE9-0EF3-4E10-B9FB-31290142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6DFB46-F101-4FF1-862B-295D666BB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E9F954-5948-4A5C-969E-1B0B3EA3F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FC2E54-2B2F-46BB-8110-EDCBE339A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3981A2-7B9D-496C-95BE-0F5AB51D4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79A125-522F-41F5-9BCA-AE400468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7345EB-6504-42AD-B370-73258904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A7E2DE-5268-4394-9BCC-3EEE1902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4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2ECE6-CD3F-4203-BF62-A8DC179F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8D3150-4044-45CF-A76E-257C9351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57F5F7-A91B-4552-B9D2-ABEA0E23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3CCA83-6311-4743-9501-3F660870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7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6818FA-629C-47DE-A8E8-FAB3EAF3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0DCB59-1F9D-4D38-8FDC-AC53E7A8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6C638C-9558-4B37-AA30-27FAE77D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74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0C651-814C-4641-AC6F-9BB6C371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01F2F6-B9FB-4949-AF20-138716C14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EFABA0-7954-4945-B311-9196F5C7D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7E1635-E7BF-4B6F-B27C-53A3B0CB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8DABD9-133C-4F44-AB19-55FD1FDB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AEC1E6-A8B5-469C-8ED0-799465A0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70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D6483-19C6-4D29-9190-2A31AFE4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A98CFE-90A1-45FA-B23B-C24DCC9E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F96AAB-3102-4734-B522-95251790E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6BF28D-C9E5-4398-83B6-8A52934E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C17704-85A3-45BF-97F8-D73AEE23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DE7F1-AA5D-411A-83CC-CA446811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54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53DB3-8C1F-4D53-863F-7BBA0A73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97C7C2-C3ED-4993-9ECF-2E90CC239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94B86-FD4A-4720-8B1F-9E52B157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2D706-DAAC-423A-8F50-A9DE9B5B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CA266-662D-49B8-A924-24A51902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62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8165C5-2A2A-4E7D-8635-1B5B633D9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A2DE29-AF00-463A-AB51-4BD84F9A1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89D8F-8325-416D-B893-9ECFF2D0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8E71E2-3F24-4A52-8F81-8D93D8AB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88DED-9FEF-4576-8B5D-D9888E7A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42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5C63C1-CE65-4ABC-92CE-9FEFDAAF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98F7DC-FF63-497A-AF61-1E7AF33DF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E9A0C-B509-47F2-BF57-BFAB32E64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A9C62-A1A0-4672-BD39-496EBAF13C3E}" type="datetimeFigureOut">
              <a:rPr lang="zh-CN" altLang="en-US" smtClean="0"/>
              <a:t>2021/7/9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F3508-7702-4555-AC7A-466DF1960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F3D6B5-9E8F-4B77-B7EA-754037032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E6D7A-3E66-4F54-8C76-7B9AD159B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8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FE05A-96DC-4864-8D01-EC7B72695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基础算法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081F36-5C1A-4894-B1AC-70F9EF225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73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ED410-B706-4485-B1C2-D252E62B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6237F-5678-41EC-986D-137D21EA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常见问题：</a:t>
            </a:r>
            <a:endParaRPr lang="en-US" altLang="zh-CN" dirty="0"/>
          </a:p>
          <a:p>
            <a:r>
              <a:rPr lang="zh-CN" altLang="en-US" dirty="0"/>
              <a:t>选最多的区间，两两不交：右端点排序，能选就选。</a:t>
            </a:r>
            <a:endParaRPr lang="en-US" altLang="zh-CN" dirty="0"/>
          </a:p>
          <a:p>
            <a:r>
              <a:rPr lang="zh-CN" altLang="en-US" dirty="0"/>
              <a:t>选最少的区间，覆盖整个序列：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左端点排序，每次覆盖一个最长的前缀。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r>
              <a:rPr lang="zh-CN" altLang="en-US" dirty="0"/>
              <a:t>选最少的点，覆盖所有区间：去掉包含其他区间的区间，然后能不选就不选。</a:t>
            </a:r>
            <a:endParaRPr lang="en-US" altLang="zh-CN" dirty="0"/>
          </a:p>
          <a:p>
            <a:r>
              <a:rPr lang="zh-CN" altLang="en-US" dirty="0"/>
              <a:t>给一棵树，每个点可以覆盖距离不超过</a:t>
            </a:r>
            <a:r>
              <a:rPr lang="en-US" altLang="zh-CN" dirty="0"/>
              <a:t>k</a:t>
            </a:r>
            <a:r>
              <a:rPr lang="zh-CN" altLang="en-US" dirty="0"/>
              <a:t>的点，用最少的点覆盖整棵树：从下往上，能不放就不放。</a:t>
            </a:r>
          </a:p>
        </p:txBody>
      </p:sp>
    </p:spTree>
    <p:extLst>
      <p:ext uri="{BB962C8B-B14F-4D97-AF65-F5344CB8AC3E}">
        <p14:creationId xmlns:p14="http://schemas.microsoft.com/office/powerpoint/2010/main" val="114598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055D8-BECC-449A-992F-296CA39D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BF503-8905-46C0-B461-AC2F08A10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一些经典模型：</a:t>
            </a:r>
            <a:endParaRPr lang="en-US" altLang="zh-CN" dirty="0"/>
          </a:p>
          <a:p>
            <a:r>
              <a:rPr lang="zh-CN" altLang="en-US" dirty="0"/>
              <a:t>给出一个顺序，最大化某个函数。改变相邻两个数的顺序并不影响全局，并且满足传递性</a:t>
            </a:r>
            <a:r>
              <a:rPr lang="en-US" altLang="zh-CN" dirty="0"/>
              <a:t>(a&lt;</a:t>
            </a:r>
            <a:r>
              <a:rPr lang="en-US" altLang="zh-CN" dirty="0" err="1"/>
              <a:t>b,b</a:t>
            </a:r>
            <a:r>
              <a:rPr lang="en-US" altLang="zh-CN" dirty="0"/>
              <a:t>&lt;c=&gt;a&lt;c)</a:t>
            </a:r>
            <a:r>
              <a:rPr lang="zh-CN" altLang="en-US" dirty="0"/>
              <a:t>，所以可以按照这个大小关系直接排序。（后面有例题）</a:t>
            </a:r>
            <a:endParaRPr lang="en-US" altLang="zh-CN" dirty="0"/>
          </a:p>
          <a:p>
            <a:r>
              <a:rPr lang="zh-CN" altLang="en-US" dirty="0"/>
              <a:t>最小化字典序。先让第一位最小，再让第二位最小，依此类推。</a:t>
            </a:r>
            <a:endParaRPr lang="en-US" altLang="zh-CN" dirty="0"/>
          </a:p>
          <a:p>
            <a:r>
              <a:rPr lang="zh-CN" altLang="en-US" dirty="0"/>
              <a:t>特殊的最大流模型。（详细说明在下一页）</a:t>
            </a:r>
          </a:p>
        </p:txBody>
      </p:sp>
    </p:spTree>
    <p:extLst>
      <p:ext uri="{BB962C8B-B14F-4D97-AF65-F5344CB8AC3E}">
        <p14:creationId xmlns:p14="http://schemas.microsoft.com/office/powerpoint/2010/main" val="165380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21BFE-2DE3-4BB7-B246-B38DD6AB2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7FD31-4356-4DDD-94BC-7099FEB65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特殊的最大流模型：</a:t>
            </a:r>
            <a:endParaRPr lang="en-US" altLang="zh-CN" dirty="0"/>
          </a:p>
          <a:p>
            <a:r>
              <a:rPr lang="zh-CN" altLang="en-US" dirty="0"/>
              <a:t>左边点</a:t>
            </a:r>
            <a:r>
              <a:rPr lang="en-US" altLang="zh-CN" dirty="0" err="1"/>
              <a:t>i</a:t>
            </a:r>
            <a:r>
              <a:rPr lang="zh-CN" altLang="en-US" dirty="0"/>
              <a:t>向右边</a:t>
            </a:r>
            <a:r>
              <a:rPr lang="en-US" altLang="zh-CN" dirty="0"/>
              <a:t>1~pre[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连</a:t>
            </a:r>
            <a:r>
              <a:rPr lang="en-US" altLang="zh-CN" dirty="0"/>
              <a:t>inf</a:t>
            </a:r>
            <a:r>
              <a:rPr lang="zh-CN" altLang="en-US" dirty="0"/>
              <a:t>边（</a:t>
            </a:r>
            <a:r>
              <a:rPr lang="en-US" altLang="zh-CN" dirty="0"/>
              <a:t>s</a:t>
            </a:r>
            <a:r>
              <a:rPr lang="zh-CN" altLang="en-US" dirty="0"/>
              <a:t>向左边点，右边点向</a:t>
            </a:r>
            <a:r>
              <a:rPr lang="en-US" altLang="zh-CN" dirty="0"/>
              <a:t>t</a:t>
            </a:r>
            <a:r>
              <a:rPr lang="zh-CN" altLang="en-US" dirty="0"/>
              <a:t>容量任意）：以任意顺序让每个左边点流最大能流的点。</a:t>
            </a:r>
            <a:endParaRPr lang="en-US" altLang="zh-CN" dirty="0"/>
          </a:p>
          <a:p>
            <a:r>
              <a:rPr lang="zh-CN" altLang="en-US" dirty="0"/>
              <a:t>左边点</a:t>
            </a:r>
            <a:r>
              <a:rPr lang="en-US" altLang="zh-CN" dirty="0" err="1"/>
              <a:t>i</a:t>
            </a:r>
            <a:r>
              <a:rPr lang="zh-CN" altLang="en-US" dirty="0"/>
              <a:t>向右边</a:t>
            </a:r>
            <a:r>
              <a:rPr lang="en-US" altLang="zh-CN" dirty="0"/>
              <a:t>l[</a:t>
            </a:r>
            <a:r>
              <a:rPr lang="en-US" altLang="zh-CN" dirty="0" err="1"/>
              <a:t>i</a:t>
            </a:r>
            <a:r>
              <a:rPr lang="en-US" altLang="zh-CN" dirty="0"/>
              <a:t>]~r[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连</a:t>
            </a:r>
            <a:r>
              <a:rPr lang="en-US" altLang="zh-CN" dirty="0"/>
              <a:t>inf</a:t>
            </a:r>
            <a:r>
              <a:rPr lang="zh-CN" altLang="en-US" dirty="0"/>
              <a:t>边：按顺序枚举右边点，每次让左边能流的</a:t>
            </a:r>
            <a:r>
              <a:rPr lang="en-US" altLang="zh-CN" dirty="0"/>
              <a:t>r</a:t>
            </a:r>
            <a:r>
              <a:rPr lang="zh-CN" altLang="en-US" dirty="0"/>
              <a:t>最小的点流。</a:t>
            </a:r>
            <a:endParaRPr lang="en-US" altLang="zh-CN" dirty="0"/>
          </a:p>
          <a:p>
            <a:r>
              <a:rPr lang="zh-CN" altLang="en-US" dirty="0"/>
              <a:t>右边点</a:t>
            </a:r>
            <a:r>
              <a:rPr lang="en-US" altLang="zh-CN" dirty="0" err="1"/>
              <a:t>i</a:t>
            </a:r>
            <a:r>
              <a:rPr lang="zh-CN" altLang="en-US" dirty="0"/>
              <a:t>有坐标</a:t>
            </a:r>
            <a:r>
              <a:rPr lang="en-US" altLang="zh-CN" dirty="0"/>
              <a:t>(x[</a:t>
            </a:r>
            <a:r>
              <a:rPr lang="en-US" altLang="zh-CN" dirty="0" err="1"/>
              <a:t>i</a:t>
            </a:r>
            <a:r>
              <a:rPr lang="en-US" altLang="zh-CN" dirty="0"/>
              <a:t>],y[</a:t>
            </a:r>
            <a:r>
              <a:rPr lang="en-US" altLang="zh-CN" dirty="0" err="1"/>
              <a:t>i</a:t>
            </a:r>
            <a:r>
              <a:rPr lang="en-US" altLang="zh-CN" dirty="0"/>
              <a:t>]),</a:t>
            </a:r>
            <a:r>
              <a:rPr lang="zh-CN" altLang="en-US" dirty="0"/>
              <a:t>左边向右边所有</a:t>
            </a:r>
            <a:r>
              <a:rPr lang="en-US" altLang="zh-CN" dirty="0"/>
              <a:t>x[</a:t>
            </a:r>
            <a:r>
              <a:rPr lang="en-US" altLang="zh-CN" dirty="0" err="1"/>
              <a:t>i</a:t>
            </a:r>
            <a:r>
              <a:rPr lang="en-US" altLang="zh-CN" dirty="0"/>
              <a:t>]&lt;=a[</a:t>
            </a:r>
            <a:r>
              <a:rPr lang="en-US" altLang="zh-CN" dirty="0" err="1"/>
              <a:t>i</a:t>
            </a:r>
            <a:r>
              <a:rPr lang="en-US" altLang="zh-CN" dirty="0"/>
              <a:t>],y[</a:t>
            </a:r>
            <a:r>
              <a:rPr lang="en-US" altLang="zh-CN" dirty="0" err="1"/>
              <a:t>i</a:t>
            </a:r>
            <a:r>
              <a:rPr lang="en-US" altLang="zh-CN" dirty="0"/>
              <a:t>]&lt;=b[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连</a:t>
            </a:r>
            <a:r>
              <a:rPr lang="en-US" altLang="zh-CN" dirty="0"/>
              <a:t>inf</a:t>
            </a:r>
            <a:r>
              <a:rPr lang="zh-CN" altLang="en-US" dirty="0"/>
              <a:t>边：按第一维坐标扫描线，扫到右边点加入一个以</a:t>
            </a:r>
            <a:r>
              <a:rPr lang="en-US" altLang="zh-CN" dirty="0"/>
              <a:t>y</a:t>
            </a:r>
            <a:r>
              <a:rPr lang="zh-CN" altLang="en-US" dirty="0"/>
              <a:t>排序的</a:t>
            </a:r>
            <a:r>
              <a:rPr lang="en-US" altLang="zh-CN" dirty="0"/>
              <a:t>multiset</a:t>
            </a:r>
            <a:r>
              <a:rPr lang="zh-CN" altLang="en-US" dirty="0"/>
              <a:t>，扫到左边点贪心流能流的</a:t>
            </a:r>
            <a:r>
              <a:rPr lang="en-US" altLang="zh-CN" dirty="0"/>
              <a:t>y</a:t>
            </a:r>
            <a:r>
              <a:rPr lang="zh-CN" altLang="en-US" dirty="0"/>
              <a:t>最大的右边点。</a:t>
            </a:r>
            <a:endParaRPr lang="en-US" altLang="zh-CN" dirty="0"/>
          </a:p>
          <a:p>
            <a:r>
              <a:rPr lang="zh-CN" altLang="en-US" dirty="0"/>
              <a:t>还有其他模型，具体问题具体分析。</a:t>
            </a:r>
          </a:p>
        </p:txBody>
      </p:sp>
    </p:spTree>
    <p:extLst>
      <p:ext uri="{BB962C8B-B14F-4D97-AF65-F5344CB8AC3E}">
        <p14:creationId xmlns:p14="http://schemas.microsoft.com/office/powerpoint/2010/main" val="3909404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0CA8E-2CDB-4FA7-8AD9-FAFC4E1F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</a:rPr>
              <a:t>Noip2012 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国王游戏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0A2523-BDF0-4EF9-B8BB-E769F5DF2C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有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个人，每个人有</a:t>
                </a:r>
                <a:r>
                  <a:rPr lang="en-US" altLang="zh-CN" dirty="0"/>
                  <a:t>a[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],b[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。现在要给这些人排序，最小化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a[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],b[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]&gt;=1</a:t>
                </a:r>
              </a:p>
              <a:p>
                <a:r>
                  <a:rPr lang="en-US" altLang="zh-CN" dirty="0"/>
                  <a:t>Solution</a:t>
                </a:r>
              </a:p>
              <a:p>
                <a:r>
                  <a:rPr lang="zh-CN" altLang="en-US" dirty="0"/>
                  <a:t>考虑最终序列相邻两个人</a:t>
                </a:r>
                <a:r>
                  <a:rPr lang="en-US" altLang="zh-CN" dirty="0"/>
                  <a:t>i,i+1,</a:t>
                </a:r>
                <a:r>
                  <a:rPr lang="zh-CN" altLang="en-US" dirty="0"/>
                  <a:t>若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在前面对答案的贡献更小，则</a:t>
                </a:r>
                <a:r>
                  <a:rPr lang="en-US" altLang="zh-CN" dirty="0"/>
                  <a:t>max(S/b[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],S*a[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]/b[i+1])&lt;max(S/b[i+1],S*a[i+1]/b[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])</a:t>
                </a:r>
              </a:p>
              <a:p>
                <a:r>
                  <a:rPr lang="zh-CN" altLang="en-US" dirty="0"/>
                  <a:t>即</a:t>
                </a:r>
                <a:r>
                  <a:rPr lang="en-US" altLang="zh-CN" dirty="0"/>
                  <a:t>S*a[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]/b[i+1]&lt;S*a[i+1]/b[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，即</a:t>
                </a:r>
                <a:r>
                  <a:rPr lang="en-US" altLang="zh-CN" dirty="0"/>
                  <a:t>a[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]*b[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]&lt;a[i+1]*b[i+1]</a:t>
                </a:r>
                <a:r>
                  <a:rPr lang="zh-CN" altLang="en-US" dirty="0"/>
                  <a:t>。这显然满足传递性，直接排序即可。</a:t>
                </a:r>
                <a:endParaRPr lang="en-US" altLang="zh-CN" dirty="0"/>
              </a:p>
              <a:p>
                <a:r>
                  <a:rPr lang="zh-CN" altLang="en-US" dirty="0"/>
                  <a:t>为什么这样排序完就是最优解呢？因为不满足该排序的都可以通过交换得到更优解。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0A2523-BDF0-4EF9-B8BB-E769F5DF2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55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612F0-51C8-4E26-868F-5732ACA4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AGC023F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897CF4-6846-4781-87EF-BB0D870C3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给出一棵 </a:t>
            </a:r>
            <a:r>
              <a:rPr lang="en-US" altLang="zh-CN" dirty="0"/>
              <a:t>n </a:t>
            </a:r>
            <a:r>
              <a:rPr lang="zh-CN" altLang="en-US" dirty="0"/>
              <a:t>个节点的树，以及一个空序列。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每个节点上有一个取值在 </a:t>
            </a:r>
            <a:r>
              <a:rPr lang="en-US" altLang="zh-CN" dirty="0"/>
              <a:t>{0,1}</a:t>
            </a:r>
            <a:r>
              <a:rPr lang="zh-CN" altLang="en-US" dirty="0"/>
              <a:t>中的数。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每次你可以选择没有父亲节点的点删除，并且将这个节点上的数字放在当前数列末尾。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请你求出这个数列可能得到的最小逆序对数。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n≤2×10^5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04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0814F-3D9E-4863-BC09-613E6343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AGC023F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EEEE89-53A0-4F7D-8472-3E78673A7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Solution:</a:t>
                </a:r>
              </a:p>
              <a:p>
                <a:r>
                  <a:rPr lang="zh-CN" altLang="en-US" dirty="0"/>
                  <a:t>考虑相邻交换的思想，对于两个相邻的段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，若它们交换后仍然合法且 </a:t>
                </a:r>
                <a:r>
                  <a:rPr lang="en-US" altLang="zh-CN" dirty="0"/>
                  <a:t>s1[x]s0[y]&lt;=s1[y]s0[x] </a:t>
                </a:r>
                <a:r>
                  <a:rPr lang="zh-CN" altLang="en-US" dirty="0"/>
                  <a:t>，我们交换它们后答案不会变劣。</a:t>
                </a:r>
              </a:p>
              <a:p>
                <a:r>
                  <a:rPr lang="zh-CN" altLang="en-US" dirty="0"/>
                  <a:t>现在对于树上的情况，我们取出目前没有被选且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altLang="zh-CN" dirty="0"/>
                  <a:t>​</a:t>
                </a:r>
                <a:r>
                  <a:rPr lang="zh-CN" altLang="en-US" dirty="0"/>
                  <a:t>最小的连通块，若它的根的父亲已经被选，我们就选了它，否则容易证明它一定会在它的根的父亲被选后立刻被选，于是我们可以将它和根的父亲所在的连通块合并，得到一个新的连通块。</a:t>
                </a:r>
              </a:p>
              <a:p>
                <a:r>
                  <a:rPr lang="zh-CN" altLang="en-US" dirty="0"/>
                  <a:t>实现的时候用并查集维护连通块，用堆维护当前最小的连通块即可。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EEEE89-53A0-4F7D-8472-3E78673A7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 r="-4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97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A57FD-78D6-415E-ADF1-B82D0C3B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3A8E33-A3CD-4D60-9AF8-F40EB449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在一堆元素中找出一个合法的。</a:t>
            </a:r>
            <a:endParaRPr lang="en-US" altLang="zh-CN" dirty="0"/>
          </a:p>
          <a:p>
            <a:r>
              <a:rPr lang="zh-CN" altLang="en-US" dirty="0"/>
              <a:t>关键在于如何有效地判定一段区间内是否有想要的元素。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456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6E47E-EDC2-407B-94C5-E2FF8303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CF1148F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0B8A6-A39C-46B4-AE20-34B610C17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你有 </a:t>
            </a:r>
            <a:r>
              <a:rPr lang="en-US" altLang="zh-CN" dirty="0"/>
              <a:t>n </a:t>
            </a:r>
            <a:r>
              <a:rPr lang="zh-CN" altLang="en-US" dirty="0"/>
              <a:t>个物品，每个物品有两个权值 </a:t>
            </a:r>
            <a:r>
              <a:rPr lang="en-US" altLang="zh-CN" dirty="0" err="1"/>
              <a:t>val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mask 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你可以选择一个数 </a:t>
            </a:r>
            <a:r>
              <a:rPr lang="en-US" altLang="zh-CN" dirty="0"/>
              <a:t>s </a:t>
            </a:r>
            <a:r>
              <a:rPr lang="zh-CN" altLang="en-US" dirty="0"/>
              <a:t>，然后修改所有数的 </a:t>
            </a:r>
            <a:r>
              <a:rPr lang="en-US" altLang="zh-CN" dirty="0" err="1"/>
              <a:t>val</a:t>
            </a:r>
            <a:r>
              <a:rPr lang="en-US" altLang="zh-CN" dirty="0"/>
              <a:t> </a:t>
            </a:r>
            <a:r>
              <a:rPr lang="zh-CN" altLang="en-US" dirty="0"/>
              <a:t>，如果 </a:t>
            </a:r>
            <a:r>
              <a:rPr lang="en-US" altLang="zh-CN" dirty="0"/>
              <a:t>s &amp; mask </a:t>
            </a:r>
            <a:r>
              <a:rPr lang="zh-CN" altLang="en-US" dirty="0"/>
              <a:t>有奇数个 </a:t>
            </a:r>
            <a:r>
              <a:rPr lang="en-US" altLang="zh-CN" dirty="0"/>
              <a:t>1 </a:t>
            </a:r>
            <a:r>
              <a:rPr lang="zh-CN" altLang="en-US" dirty="0"/>
              <a:t>就把 </a:t>
            </a:r>
            <a:r>
              <a:rPr lang="en-US" altLang="zh-CN" dirty="0" err="1"/>
              <a:t>val</a:t>
            </a:r>
            <a:r>
              <a:rPr lang="en-US" altLang="zh-CN" dirty="0"/>
              <a:t> </a:t>
            </a:r>
            <a:r>
              <a:rPr lang="zh-CN" altLang="en-US" dirty="0"/>
              <a:t>变成 </a:t>
            </a:r>
            <a:r>
              <a:rPr lang="en-US" altLang="zh-CN" dirty="0"/>
              <a:t>-</a:t>
            </a:r>
            <a:r>
              <a:rPr lang="en-US" altLang="zh-CN" dirty="0" err="1"/>
              <a:t>val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输出一个 </a:t>
            </a:r>
            <a:r>
              <a:rPr lang="en-US" altLang="zh-CN" dirty="0"/>
              <a:t>s </a:t>
            </a:r>
            <a:r>
              <a:rPr lang="zh-CN" altLang="en-US" dirty="0"/>
              <a:t>，使得权值和符号变反。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028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62A64-A6A0-4E33-B777-FFEC3E2D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CF1148F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C14872C-0D1A-465A-BC42-12CADF647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Solution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zh-CN" altLang="en-US" dirty="0"/>
                  <a:t>先把∑</a:t>
                </a:r>
                <a:r>
                  <a:rPr lang="en-US" altLang="zh-CN" dirty="0" err="1"/>
                  <a:t>val</a:t>
                </a:r>
                <a:r>
                  <a:rPr lang="zh-CN" altLang="en-US" dirty="0"/>
                  <a:t>变成正的。</a:t>
                </a:r>
                <a:endParaRPr lang="en-US" altLang="zh-CN" dirty="0"/>
              </a:p>
              <a:p>
                <a:r>
                  <a:rPr lang="zh-CN" altLang="en-US" dirty="0"/>
                  <a:t>设</a:t>
                </a:r>
                <a:r>
                  <a:rPr lang="en-US" altLang="zh-CN" dirty="0" err="1"/>
                  <a:t>ans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表示</a:t>
                </a:r>
                <a:r>
                  <a:rPr lang="en-US" altLang="zh-CN" dirty="0"/>
                  <a:t>s=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时</a:t>
                </a:r>
                <a:r>
                  <a:rPr lang="en-US" altLang="zh-CN" dirty="0" err="1"/>
                  <a:t>val</a:t>
                </a:r>
                <a:r>
                  <a:rPr lang="zh-CN" altLang="en-US" dirty="0"/>
                  <a:t>的总和，可以发现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𝑎𝑛𝑠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dirty="0"/>
                  <a:t>想一想，为什么？），并且</a:t>
                </a:r>
                <a:r>
                  <a:rPr lang="en-US" altLang="zh-CN" dirty="0" err="1"/>
                  <a:t>ans</a:t>
                </a:r>
                <a:r>
                  <a:rPr lang="en-US" altLang="zh-CN" dirty="0"/>
                  <a:t>[0]&gt;0</a:t>
                </a:r>
                <a:r>
                  <a:rPr lang="zh-CN" altLang="en-US" dirty="0"/>
                  <a:t>，因此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𝑎𝑛𝑠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。一堆数加起来</a:t>
                </a:r>
                <a:r>
                  <a:rPr lang="en-US" altLang="zh-CN" dirty="0"/>
                  <a:t>&lt;0</a:t>
                </a:r>
                <a:r>
                  <a:rPr lang="zh-CN" altLang="en-US" dirty="0"/>
                  <a:t>说明一定有至少一个数</a:t>
                </a:r>
                <a:r>
                  <a:rPr lang="en-US" altLang="zh-CN" dirty="0"/>
                  <a:t>&lt;0</a:t>
                </a:r>
                <a:r>
                  <a:rPr lang="zh-CN" altLang="en-US" dirty="0"/>
                  <a:t>，在这段区间二分即可。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C14872C-0D1A-465A-BC42-12CADF647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4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10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7ACBC-82D3-46BA-A54C-10A47452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070545-A9C2-459F-BC71-E2029854A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一般用于快速在每个点出度为</a:t>
            </a:r>
            <a:r>
              <a:rPr lang="en-US" altLang="zh-CN" dirty="0"/>
              <a:t>1</a:t>
            </a:r>
            <a:r>
              <a:rPr lang="zh-CN" altLang="en-US" dirty="0"/>
              <a:t>的图上往后跳。</a:t>
            </a:r>
            <a:endParaRPr lang="en-US" altLang="zh-CN" dirty="0"/>
          </a:p>
          <a:p>
            <a:r>
              <a:rPr lang="zh-CN" altLang="en-US" dirty="0"/>
              <a:t>有时候可以通过先倍增再二分优化复杂度。</a:t>
            </a:r>
          </a:p>
        </p:txBody>
      </p:sp>
    </p:spTree>
    <p:extLst>
      <p:ext uri="{BB962C8B-B14F-4D97-AF65-F5344CB8AC3E}">
        <p14:creationId xmlns:p14="http://schemas.microsoft.com/office/powerpoint/2010/main" val="304990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179E1-FC55-4392-A332-3680FFB7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CF1142B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37C992-A85E-4A70-AC68-8AF0B76DA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最近 </a:t>
            </a:r>
            <a:r>
              <a:rPr lang="en-US" altLang="zh-CN" dirty="0"/>
              <a:t>Lynyrd </a:t>
            </a:r>
            <a:r>
              <a:rPr lang="zh-CN" altLang="en-US" dirty="0"/>
              <a:t>和 </a:t>
            </a:r>
            <a:r>
              <a:rPr lang="en-US" altLang="zh-CN" dirty="0"/>
              <a:t>Skynyrd </a:t>
            </a:r>
            <a:r>
              <a:rPr lang="zh-CN" altLang="en-US" dirty="0"/>
              <a:t>去了一个商店，在那里 </a:t>
            </a:r>
            <a:r>
              <a:rPr lang="en-US" altLang="zh-CN" dirty="0"/>
              <a:t>Lynyrd </a:t>
            </a:r>
            <a:r>
              <a:rPr lang="zh-CN" altLang="en-US" dirty="0"/>
              <a:t>买了一个长度为</a:t>
            </a:r>
            <a:r>
              <a:rPr lang="en-US" altLang="zh-CN" dirty="0"/>
              <a:t>n</a:t>
            </a:r>
            <a:r>
              <a:rPr lang="zh-CN" altLang="en-US" dirty="0"/>
              <a:t>的排列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Skynyrd </a:t>
            </a:r>
            <a:r>
              <a:rPr lang="zh-CN" altLang="en-US" dirty="0"/>
              <a:t>买了一个一个长度为</a:t>
            </a:r>
            <a:r>
              <a:rPr lang="en-US" altLang="zh-CN" dirty="0"/>
              <a:t>m</a:t>
            </a:r>
            <a:r>
              <a:rPr lang="zh-CN" altLang="en-US" dirty="0"/>
              <a:t>的数列</a:t>
            </a:r>
            <a:r>
              <a:rPr lang="en-US" altLang="zh-CN" dirty="0"/>
              <a:t>a</a:t>
            </a:r>
            <a:r>
              <a:rPr lang="zh-CN" altLang="en-US" dirty="0"/>
              <a:t>，并且</a:t>
            </a:r>
            <a:r>
              <a:rPr lang="en-US" altLang="zh-CN" dirty="0"/>
              <a:t>ai∈[1,n],</a:t>
            </a:r>
            <a:r>
              <a:rPr lang="en-US" altLang="zh-CN" dirty="0" err="1"/>
              <a:t>ai∈Z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Lynyrd </a:t>
            </a:r>
            <a:r>
              <a:rPr lang="zh-CN" altLang="en-US" dirty="0"/>
              <a:t>和 </a:t>
            </a:r>
            <a:r>
              <a:rPr lang="en-US" altLang="zh-CN" dirty="0"/>
              <a:t>Skynyrd </a:t>
            </a:r>
            <a:r>
              <a:rPr lang="zh-CN" altLang="en-US" dirty="0"/>
              <a:t>感到无聊，所以他们给了你</a:t>
            </a:r>
            <a:r>
              <a:rPr lang="en-US" altLang="zh-CN" dirty="0"/>
              <a:t>q</a:t>
            </a:r>
            <a:r>
              <a:rPr lang="zh-CN" altLang="en-US" dirty="0"/>
              <a:t>个询问，每个询问格式如同：“</a:t>
            </a:r>
            <a:r>
              <a:rPr lang="en-US" altLang="zh-CN" dirty="0"/>
              <a:t>a</a:t>
            </a:r>
            <a:r>
              <a:rPr lang="zh-CN" altLang="en-US" dirty="0"/>
              <a:t>的子段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是否有一个子序列</a:t>
            </a:r>
            <a:r>
              <a:rPr lang="en-US" altLang="zh-CN" dirty="0"/>
              <a:t>s</a:t>
            </a:r>
            <a:r>
              <a:rPr lang="zh-CN" altLang="en-US" dirty="0"/>
              <a:t>，满足</a:t>
            </a:r>
            <a:r>
              <a:rPr lang="en-US" altLang="zh-CN" dirty="0"/>
              <a:t>s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zh-CN" altLang="en-US" dirty="0"/>
              <a:t>的一个循环移位？”请你回答这些询问。</a:t>
            </a:r>
            <a:endParaRPr lang="en-US" altLang="zh-CN" dirty="0"/>
          </a:p>
          <a:p>
            <a:r>
              <a:rPr lang="en-US" altLang="zh-CN" dirty="0"/>
              <a:t>1&lt;=</a:t>
            </a:r>
            <a:r>
              <a:rPr lang="en-US" altLang="zh-CN" dirty="0" err="1"/>
              <a:t>n,m,q</a:t>
            </a:r>
            <a:r>
              <a:rPr lang="en-US" altLang="zh-CN" dirty="0"/>
              <a:t>&lt;=2*10^5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6885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1906F-8CDB-4D49-BF21-9E628D30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CF1142B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F29AA-E3B7-43C5-9BC2-5C1F728B4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对于序列的每个位置，假设这个位置上的数是</a:t>
            </a:r>
            <a:r>
              <a:rPr lang="en-US" altLang="zh-CN" dirty="0"/>
              <a:t>p[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，找出它后面第一个</a:t>
            </a:r>
            <a:r>
              <a:rPr lang="en-US" altLang="zh-CN" dirty="0"/>
              <a:t>p[i+1]</a:t>
            </a:r>
            <a:r>
              <a:rPr lang="zh-CN" altLang="en-US" dirty="0"/>
              <a:t>的出现位置（定义</a:t>
            </a:r>
            <a:r>
              <a:rPr lang="en-US" altLang="zh-CN" dirty="0"/>
              <a:t>p[n+1]=p[1]</a:t>
            </a:r>
            <a:r>
              <a:rPr lang="zh-CN" altLang="en-US" dirty="0"/>
              <a:t>），记之为</a:t>
            </a:r>
            <a:r>
              <a:rPr lang="en-US" altLang="zh-CN" dirty="0" err="1"/>
              <a:t>nxt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。这样从每个</a:t>
            </a:r>
            <a:r>
              <a:rPr lang="en-US" altLang="zh-CN" dirty="0" err="1"/>
              <a:t>i</a:t>
            </a:r>
            <a:r>
              <a:rPr lang="zh-CN" altLang="en-US" dirty="0"/>
              <a:t>向后连续跳</a:t>
            </a:r>
            <a:r>
              <a:rPr lang="en-US" altLang="zh-CN" dirty="0"/>
              <a:t>n-1</a:t>
            </a:r>
            <a:r>
              <a:rPr lang="zh-CN" altLang="en-US" dirty="0"/>
              <a:t>次</a:t>
            </a:r>
            <a:r>
              <a:rPr lang="en-US" altLang="zh-CN" dirty="0" err="1"/>
              <a:t>nxt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后即可找到一个</a:t>
            </a:r>
            <a:r>
              <a:rPr lang="en-US" altLang="zh-CN" dirty="0"/>
              <a:t>p</a:t>
            </a:r>
            <a:r>
              <a:rPr lang="zh-CN" altLang="en-US" dirty="0"/>
              <a:t>的循环表示。对每个位置求出它往后跳</a:t>
            </a:r>
            <a:r>
              <a:rPr lang="en-US" altLang="zh-CN" dirty="0"/>
              <a:t>n-1</a:t>
            </a:r>
            <a:r>
              <a:rPr lang="zh-CN" altLang="en-US" dirty="0"/>
              <a:t>次</a:t>
            </a:r>
            <a:r>
              <a:rPr lang="en-US" altLang="zh-CN" dirty="0" err="1"/>
              <a:t>nxt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会跳到哪里，记为</a:t>
            </a:r>
            <a:r>
              <a:rPr lang="en-US" altLang="zh-CN" dirty="0" err="1"/>
              <a:t>ans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，这个可以使用倍增实现。询问时只需要查询区间</a:t>
            </a:r>
            <a:r>
              <a:rPr lang="en-US" altLang="zh-CN" dirty="0"/>
              <a:t>[</a:t>
            </a:r>
            <a:r>
              <a:rPr lang="en-US" altLang="zh-CN" dirty="0" err="1"/>
              <a:t>l;r</a:t>
            </a:r>
            <a:r>
              <a:rPr lang="en-US" altLang="zh-CN" dirty="0"/>
              <a:t>]</a:t>
            </a:r>
            <a:r>
              <a:rPr lang="zh-CN" altLang="en-US" dirty="0"/>
              <a:t>内</a:t>
            </a:r>
            <a:r>
              <a:rPr lang="en-US" altLang="zh-CN" dirty="0" err="1"/>
              <a:t>ans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的最小值是否小于等于</a:t>
            </a:r>
            <a:r>
              <a:rPr lang="en-US" altLang="zh-CN" dirty="0"/>
              <a:t>r</a:t>
            </a:r>
            <a:r>
              <a:rPr lang="zh-CN" altLang="en-US" dirty="0"/>
              <a:t>，用</a:t>
            </a:r>
            <a:r>
              <a:rPr lang="en-US" altLang="zh-CN" dirty="0"/>
              <a:t>ST</a:t>
            </a:r>
            <a:r>
              <a:rPr lang="zh-CN" altLang="en-US" dirty="0"/>
              <a:t>表维护。</a:t>
            </a:r>
          </a:p>
        </p:txBody>
      </p:sp>
    </p:spTree>
    <p:extLst>
      <p:ext uri="{BB962C8B-B14F-4D97-AF65-F5344CB8AC3E}">
        <p14:creationId xmlns:p14="http://schemas.microsoft.com/office/powerpoint/2010/main" val="3386446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57291-653F-4189-83CC-72E8E1D2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CTT2019 D1T2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4F790DD-E712-4AC7-8753-0A98FDA91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定义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本质不同的公共子串数量，一个字符串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b="0" dirty="0"/>
                  <a:t>的权值为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𝑣𝑎𝑙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])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要求将给定的字符串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b="0" dirty="0"/>
                  <a:t>分成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段，使得权值最大的段的权值最小。</a:t>
                </a:r>
                <a:endParaRPr lang="en-US" altLang="zh-CN" b="0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≤50000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4F790DD-E712-4AC7-8753-0A98FDA91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773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CC327-E6A3-4F48-997C-8EB522EB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CTT2019 D1T2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20488B-A290-4ADF-B9ED-E2887501E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Solution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zh-CN" altLang="en-US" dirty="0"/>
                  <a:t>熟悉</a:t>
                </a:r>
                <a:r>
                  <a:rPr lang="en-US" altLang="zh-CN" dirty="0"/>
                  <a:t>SAM</a:t>
                </a:r>
                <a:r>
                  <a:rPr lang="zh-CN" altLang="en-US" dirty="0"/>
                  <a:t>的很容易知道可以在</a:t>
                </a:r>
                <a:r>
                  <a:rPr lang="en-US" altLang="zh-CN" dirty="0"/>
                  <a:t>O(|T|)</a:t>
                </a:r>
                <a:r>
                  <a:rPr lang="zh-CN" altLang="en-US" dirty="0"/>
                  <a:t>时间内求出字符串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的权值，这里不多赘述。</a:t>
                </a:r>
                <a:endParaRPr lang="en-US" altLang="zh-CN" dirty="0"/>
              </a:p>
              <a:p>
                <a:r>
                  <a:rPr lang="zh-CN" altLang="en-US" dirty="0"/>
                  <a:t>考虑二分答案，然后尽可能长的划分段。</a:t>
                </a:r>
                <a:endParaRPr lang="en-US" altLang="zh-CN" dirty="0"/>
              </a:p>
              <a:p>
                <a:r>
                  <a:rPr lang="zh-CN" altLang="en-US" dirty="0"/>
                  <a:t>如何有效地知道当前段最长能划分到哪里呢？考虑倍增，依次假设当前段长度为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8······</a:t>
                </a:r>
                <a:r>
                  <a:rPr lang="zh-CN" altLang="en-US" dirty="0"/>
                  <a:t>并判定这么长是否合法，直到某个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dirty="0"/>
                  <a:t>发现过长了，就在</a:t>
                </a:r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范围内二分。</a:t>
                </a:r>
                <a:endParaRPr lang="en-US" altLang="zh-CN" dirty="0"/>
              </a:p>
              <a:p>
                <a:r>
                  <a:rPr lang="zh-CN" altLang="en-US" dirty="0"/>
                  <a:t>假设划分出的一段长度为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，则在划分的过程中会尝试移动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次</m:t>
                    </m:r>
                  </m:oMath>
                </a14:m>
                <a:r>
                  <a:rPr lang="zh-CN" altLang="en-US" dirty="0"/>
                  <a:t>，每次求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权值</m:t>
                    </m:r>
                  </m:oMath>
                </a14:m>
                <a:r>
                  <a:rPr lang="zh-CN" altLang="en-US" dirty="0"/>
                  <a:t>的复杂度为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zh-CN" altLang="en-US" dirty="0"/>
                  <a:t>，因此划分一次的时间复杂度为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20488B-A290-4ADF-B9ED-E2887501E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 r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5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58BD8-CBA0-419F-B88D-34FCD919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97EB4E-79F9-4835-96CD-D637FF50D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普通的分治：取序列中点。</a:t>
            </a:r>
            <a:endParaRPr lang="en-US" altLang="zh-CN" dirty="0"/>
          </a:p>
          <a:p>
            <a:r>
              <a:rPr lang="zh-CN" altLang="en-US" dirty="0"/>
              <a:t>最小（大）值分治：取序列中的最小</a:t>
            </a:r>
            <a:r>
              <a:rPr lang="en-US" altLang="zh-CN" dirty="0"/>
              <a:t>/</a:t>
            </a:r>
            <a:r>
              <a:rPr lang="zh-CN" altLang="en-US" dirty="0"/>
              <a:t>最大值作为分治中心。在一些与最小值、最大值相关的题目中比较方便，但需要通过一些额外的处理保证复杂度。</a:t>
            </a:r>
            <a:endParaRPr lang="en-US" altLang="zh-CN" dirty="0"/>
          </a:p>
          <a:p>
            <a:r>
              <a:rPr lang="en-US" altLang="zh-CN" dirty="0"/>
              <a:t>CDQ</a:t>
            </a:r>
            <a:r>
              <a:rPr lang="zh-CN" altLang="en-US" dirty="0"/>
              <a:t>分治：分治过程中考虑左边对右边（</a:t>
            </a:r>
            <a:r>
              <a:rPr lang="zh-CN" altLang="en-US"/>
              <a:t>或者反过来）的</a:t>
            </a:r>
            <a:r>
              <a:rPr lang="zh-CN" altLang="en-US" dirty="0"/>
              <a:t>贡献。</a:t>
            </a:r>
            <a:endParaRPr lang="en-US" altLang="zh-CN" dirty="0"/>
          </a:p>
          <a:p>
            <a:r>
              <a:rPr lang="zh-CN" altLang="en-US" dirty="0"/>
              <a:t>还有线段树分治、点分治等等，这些就是数据结构的事了。</a:t>
            </a:r>
          </a:p>
        </p:txBody>
      </p:sp>
    </p:spTree>
    <p:extLst>
      <p:ext uri="{BB962C8B-B14F-4D97-AF65-F5344CB8AC3E}">
        <p14:creationId xmlns:p14="http://schemas.microsoft.com/office/powerpoint/2010/main" val="242874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99AA0-8A9C-424F-B9D5-3BEA0BF2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[ZJOI2016]</a:t>
            </a:r>
            <a:r>
              <a:rPr lang="zh-CN" altLang="en-US" dirty="0"/>
              <a:t>旅行者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835F53-6FC2-41CE-917F-0F714F967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n*m</a:t>
            </a:r>
            <a:r>
              <a:rPr lang="zh-CN" altLang="en-US" dirty="0"/>
              <a:t>的网格图，</a:t>
            </a:r>
            <a:r>
              <a:rPr lang="en-US" altLang="zh-CN" dirty="0"/>
              <a:t>q</a:t>
            </a:r>
            <a:r>
              <a:rPr lang="zh-CN" altLang="en-US" dirty="0"/>
              <a:t>次询问两点最短路。</a:t>
            </a:r>
            <a:endParaRPr lang="en-US" altLang="zh-CN" dirty="0"/>
          </a:p>
          <a:p>
            <a:r>
              <a:rPr lang="en-US" altLang="zh-CN" dirty="0"/>
              <a:t>n*m&lt;=20000,q&lt;=10^5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499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22390-C9D5-4828-885E-0C09867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[ZJOI2016]</a:t>
            </a:r>
            <a:r>
              <a:rPr lang="zh-CN" altLang="en-US" dirty="0"/>
              <a:t>旅行者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4194E-7126-42A7-A5DB-91682C2CB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63153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/>
              <a:t>这个题应该见过一万次了，但我还是要放上来（没题放了）</a:t>
            </a:r>
            <a:endParaRPr lang="en-US" altLang="zh-CN" dirty="0"/>
          </a:p>
          <a:p>
            <a:r>
              <a:rPr lang="zh-CN" altLang="en-US" dirty="0"/>
              <a:t>将询问离线。</a:t>
            </a:r>
            <a:endParaRPr lang="en-US" altLang="zh-CN" dirty="0"/>
          </a:p>
          <a:p>
            <a:r>
              <a:rPr lang="zh-CN" altLang="en-US" dirty="0"/>
              <a:t>考虑使用分治，我们用一条线 </a:t>
            </a:r>
            <a:r>
              <a:rPr lang="en-US" altLang="zh-CN" dirty="0"/>
              <a:t>l </a:t>
            </a:r>
            <a:r>
              <a:rPr lang="zh-CN" altLang="en-US" dirty="0"/>
              <a:t>将原网格图一分为二，那么对于两端点在两个不同块中的询问，所有的路径必须经过线 </a:t>
            </a:r>
            <a:r>
              <a:rPr lang="en-US" altLang="zh-CN" dirty="0"/>
              <a:t>l</a:t>
            </a:r>
            <a:r>
              <a:rPr lang="zh-CN" altLang="en-US" dirty="0"/>
              <a:t>，从而我们可以枚举 </a:t>
            </a:r>
            <a:r>
              <a:rPr lang="en-US" altLang="zh-CN" dirty="0"/>
              <a:t>l</a:t>
            </a:r>
            <a:r>
              <a:rPr lang="zh-CN" altLang="en-US" dirty="0"/>
              <a:t>上的点，使用 </a:t>
            </a:r>
            <a:r>
              <a:rPr lang="en-US" altLang="zh-CN" dirty="0"/>
              <a:t>Dijkstra </a:t>
            </a:r>
            <a:r>
              <a:rPr lang="zh-CN" altLang="en-US" dirty="0"/>
              <a:t>跑最短路后将两端结果相加即可。</a:t>
            </a:r>
            <a:endParaRPr lang="en-US" altLang="zh-CN" dirty="0"/>
          </a:p>
          <a:p>
            <a:r>
              <a:rPr lang="zh-CN" altLang="en-US" dirty="0"/>
              <a:t>如果询问的两个端点在同一块，那么分两种情况：</a:t>
            </a:r>
          </a:p>
          <a:p>
            <a:r>
              <a:rPr lang="zh-CN" altLang="en-US" dirty="0"/>
              <a:t>如果最短路经过线 </a:t>
            </a:r>
            <a:r>
              <a:rPr lang="en-US" altLang="zh-CN" dirty="0"/>
              <a:t>l </a:t>
            </a:r>
            <a:r>
              <a:rPr lang="zh-CN" altLang="en-US" dirty="0"/>
              <a:t>则它一定会在这一轮被更新到。</a:t>
            </a:r>
          </a:p>
          <a:p>
            <a:r>
              <a:rPr lang="zh-CN" altLang="en-US" dirty="0"/>
              <a:t>否则，最短路一定在那个块内，可以发现它已经变成了原问题的一个子问题，因此递归解决即可。</a:t>
            </a:r>
            <a:endParaRPr lang="en-US" altLang="zh-CN" dirty="0"/>
          </a:p>
          <a:p>
            <a:r>
              <a:rPr lang="zh-CN" altLang="en-US" dirty="0"/>
              <a:t>为了分得尽量均匀，我们选择长、宽中较短的那条中线作为</a:t>
            </a:r>
            <a:r>
              <a:rPr lang="en-US" altLang="zh-CN" dirty="0"/>
              <a:t>l</a:t>
            </a:r>
            <a:r>
              <a:rPr lang="zh-CN" altLang="en-US" dirty="0"/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2E6C73-3A03-413F-AE08-2462ACDDF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92939"/>
            <a:ext cx="10752381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49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C6790-7BE3-4B71-8873-CBD95F0E31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题目选讲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55FA6984-7087-4704-8340-7E7CCDBD97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817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F5EE0-3F0B-4F29-8B0A-04C2FBDC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 source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A3FB7-7B84-4D19-B194-999D0ECCBF57}"/>
              </a:ext>
            </a:extLst>
          </p:cNvPr>
          <p:cNvSpPr>
            <a:spLocks noGrp="1"/>
          </p:cNvSpPr>
          <p:nvPr>
            <p:ph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/>
              <a:t>已知</a:t>
            </a:r>
            <a:r>
              <a:rPr lang="en-US" altLang="zh-CN" dirty="0"/>
              <a:t>n</a:t>
            </a:r>
            <a:r>
              <a:rPr lang="zh-CN" altLang="en-US" dirty="0"/>
              <a:t>个整数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个整数</a:t>
            </a:r>
            <a:r>
              <a:rPr lang="en-US" altLang="zh-CN" dirty="0"/>
              <a:t>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（</a:t>
            </a:r>
            <a:r>
              <a:rPr lang="en-US" altLang="zh-CN" dirty="0"/>
              <a:t>1 ≤ </a:t>
            </a:r>
            <a:r>
              <a:rPr lang="en-US" altLang="zh-CN" dirty="0" err="1"/>
              <a:t>i</a:t>
            </a:r>
            <a:r>
              <a:rPr lang="en-US" altLang="zh-CN" dirty="0"/>
              <a:t> ≤ n</a:t>
            </a:r>
            <a:r>
              <a:rPr lang="zh-CN" altLang="en-US" dirty="0"/>
              <a:t>），则可以找到</a:t>
            </a:r>
            <a:r>
              <a:rPr lang="en-US" altLang="zh-CN" dirty="0"/>
              <a:t>n</a:t>
            </a:r>
            <a:r>
              <a:rPr lang="zh-CN" altLang="en-US" dirty="0"/>
              <a:t>个整数</a:t>
            </a:r>
            <a:r>
              <a:rPr lang="en-US" altLang="zh-CN" dirty="0"/>
              <a:t>x[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（</a:t>
            </a:r>
            <a:r>
              <a:rPr lang="en-US" altLang="zh-CN" dirty="0"/>
              <a:t>1 ≤ </a:t>
            </a:r>
            <a:r>
              <a:rPr lang="en-US" altLang="zh-CN" dirty="0" err="1"/>
              <a:t>i</a:t>
            </a:r>
            <a:r>
              <a:rPr lang="en-US" altLang="zh-CN" dirty="0"/>
              <a:t> ≤ n</a:t>
            </a:r>
            <a:r>
              <a:rPr lang="zh-CN" altLang="en-US" dirty="0"/>
              <a:t>）满足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≤ x[</a:t>
            </a:r>
            <a:r>
              <a:rPr lang="en-US" altLang="zh-CN" dirty="0" err="1"/>
              <a:t>i</a:t>
            </a:r>
            <a:r>
              <a:rPr lang="en-US" altLang="zh-CN" dirty="0"/>
              <a:t>] ≤ 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（</a:t>
            </a:r>
            <a:r>
              <a:rPr lang="en-US" altLang="zh-CN" dirty="0"/>
              <a:t>1 ≤ </a:t>
            </a:r>
            <a:r>
              <a:rPr lang="en-US" altLang="zh-CN" dirty="0" err="1"/>
              <a:t>i</a:t>
            </a:r>
            <a:r>
              <a:rPr lang="en-US" altLang="zh-CN" dirty="0"/>
              <a:t> ≤ n</a:t>
            </a:r>
            <a:r>
              <a:rPr lang="zh-CN" altLang="en-US" dirty="0"/>
              <a:t>）且</a:t>
            </a:r>
            <a:r>
              <a:rPr lang="el-GR" altLang="zh-CN" dirty="0"/>
              <a:t>Σ</a:t>
            </a:r>
            <a:r>
              <a:rPr lang="en-US" altLang="zh-CN" dirty="0"/>
              <a:t>x[</a:t>
            </a:r>
            <a:r>
              <a:rPr lang="en-US" altLang="zh-CN" dirty="0" err="1"/>
              <a:t>i</a:t>
            </a:r>
            <a:r>
              <a:rPr lang="en-US" altLang="zh-CN" dirty="0"/>
              <a:t>] =m</a:t>
            </a:r>
            <a:r>
              <a:rPr lang="zh-CN" altLang="en-US" dirty="0"/>
              <a:t>（</a:t>
            </a:r>
            <a:r>
              <a:rPr lang="en-US" altLang="zh-CN" dirty="0"/>
              <a:t>m</a:t>
            </a:r>
            <a:r>
              <a:rPr lang="zh-CN" altLang="en-US" dirty="0"/>
              <a:t>为给定整数）。求</a:t>
            </a:r>
            <a:r>
              <a:rPr lang="en-US" altLang="zh-CN" dirty="0"/>
              <a:t>x[1]</a:t>
            </a:r>
            <a:r>
              <a:rPr lang="zh-CN" altLang="en-US" dirty="0"/>
              <a:t>，</a:t>
            </a:r>
            <a:r>
              <a:rPr lang="en-US" altLang="zh-CN" dirty="0"/>
              <a:t>x[2].... x[n] </a:t>
            </a:r>
            <a:r>
              <a:rPr lang="zh-CN" altLang="en-US" dirty="0"/>
              <a:t>中位数可能的最大值。输入保证有解， 即 </a:t>
            </a:r>
            <a:r>
              <a:rPr lang="el-GR" altLang="zh-CN" dirty="0"/>
              <a:t>Σ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≤ m ≤ </a:t>
            </a:r>
            <a:r>
              <a:rPr lang="el-GR" altLang="zh-CN" dirty="0"/>
              <a:t>Σ </a:t>
            </a:r>
            <a:r>
              <a:rPr lang="en-US" altLang="zh-CN" dirty="0"/>
              <a:t>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1 ≤ n &lt; 100000</a:t>
            </a:r>
            <a:r>
              <a:rPr lang="zh-CN" altLang="en-US" dirty="0"/>
              <a:t>、</a:t>
            </a:r>
            <a:r>
              <a:rPr lang="en-US" altLang="zh-CN" dirty="0"/>
              <a:t>m &lt; 10</a:t>
            </a:r>
            <a:r>
              <a:rPr lang="en-US" altLang="zh-CN" baseline="30000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为奇数</a:t>
            </a:r>
          </a:p>
        </p:txBody>
      </p:sp>
    </p:spTree>
    <p:extLst>
      <p:ext uri="{BB962C8B-B14F-4D97-AF65-F5344CB8AC3E}">
        <p14:creationId xmlns:p14="http://schemas.microsoft.com/office/powerpoint/2010/main" val="3621764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719B9-F268-4A90-A72E-B65BB757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 source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33C5B-AD1E-44B8-BDBB-3D3A4A617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Solution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中位数不好处理，因为你难以保证某个数恰好就是中位数。考虑二分答案</a:t>
            </a:r>
            <a:r>
              <a:rPr lang="en-US" altLang="zh-CN" dirty="0"/>
              <a:t>mid</a:t>
            </a:r>
            <a:r>
              <a:rPr lang="zh-CN" altLang="en-US" dirty="0"/>
              <a:t>，中位数</a:t>
            </a:r>
            <a:r>
              <a:rPr lang="en-US" altLang="zh-CN" dirty="0"/>
              <a:t>&gt;=mid</a:t>
            </a:r>
            <a:r>
              <a:rPr lang="zh-CN" altLang="en-US" dirty="0"/>
              <a:t>等价于至少有</a:t>
            </a:r>
            <a:r>
              <a:rPr lang="en-US" altLang="zh-CN" dirty="0"/>
              <a:t>(n+1)/2</a:t>
            </a:r>
            <a:r>
              <a:rPr lang="zh-CN" altLang="en-US" dirty="0"/>
              <a:t>个数</a:t>
            </a:r>
            <a:r>
              <a:rPr lang="en-US" altLang="zh-CN" dirty="0"/>
              <a:t>&gt;=mid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假设我们钦定某</a:t>
            </a:r>
            <a:r>
              <a:rPr lang="en-US" altLang="zh-CN" dirty="0"/>
              <a:t>(n+1)/2</a:t>
            </a:r>
            <a:r>
              <a:rPr lang="zh-CN" altLang="en-US" dirty="0"/>
              <a:t>个数</a:t>
            </a:r>
            <a:r>
              <a:rPr lang="en-US" altLang="zh-CN" dirty="0"/>
              <a:t>&gt;=mid</a:t>
            </a:r>
            <a:r>
              <a:rPr lang="zh-CN" altLang="en-US" dirty="0"/>
              <a:t>，那么对于这些数，</a:t>
            </a:r>
            <a:r>
              <a:rPr lang="en-US" altLang="zh-CN" dirty="0"/>
              <a:t>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显然要</a:t>
            </a:r>
            <a:r>
              <a:rPr lang="en-US" altLang="zh-CN" dirty="0"/>
              <a:t>&gt;=mid</a:t>
            </a:r>
            <a:r>
              <a:rPr lang="zh-CN" altLang="en-US" dirty="0"/>
              <a:t>。在此前提下，为了满足条件，这些数的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需要与</a:t>
            </a:r>
            <a:r>
              <a:rPr lang="en-US" altLang="zh-CN" dirty="0"/>
              <a:t>mid</a:t>
            </a:r>
            <a:r>
              <a:rPr lang="zh-CN" altLang="en-US" dirty="0"/>
              <a:t>取</a:t>
            </a:r>
            <a:r>
              <a:rPr lang="en-US" altLang="zh-CN" dirty="0"/>
              <a:t>max</a:t>
            </a:r>
            <a:r>
              <a:rPr lang="zh-CN" altLang="en-US" dirty="0"/>
              <a:t>。我们的目标是，找</a:t>
            </a:r>
            <a:r>
              <a:rPr lang="en-US" altLang="zh-CN" dirty="0"/>
              <a:t>(n+1)/2</a:t>
            </a:r>
            <a:r>
              <a:rPr lang="zh-CN" altLang="en-US" dirty="0"/>
              <a:t>个</a:t>
            </a:r>
            <a:r>
              <a:rPr lang="en-US" altLang="zh-CN" dirty="0"/>
              <a:t>b[</a:t>
            </a:r>
            <a:r>
              <a:rPr lang="en-US" altLang="zh-CN" dirty="0" err="1"/>
              <a:t>i</a:t>
            </a:r>
            <a:r>
              <a:rPr lang="en-US" altLang="zh-CN" dirty="0"/>
              <a:t>]&gt;=mid</a:t>
            </a:r>
            <a:r>
              <a:rPr lang="zh-CN" altLang="en-US" dirty="0"/>
              <a:t>的数，将其的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与</a:t>
            </a:r>
            <a:r>
              <a:rPr lang="en-US" altLang="zh-CN" dirty="0"/>
              <a:t>mid</a:t>
            </a:r>
            <a:r>
              <a:rPr lang="zh-CN" altLang="en-US" dirty="0"/>
              <a:t>取</a:t>
            </a:r>
            <a:r>
              <a:rPr lang="en-US" altLang="zh-CN" dirty="0"/>
              <a:t>max</a:t>
            </a:r>
            <a:r>
              <a:rPr lang="zh-CN" altLang="en-US" dirty="0"/>
              <a:t>，并保证之后</a:t>
            </a:r>
            <a:r>
              <a:rPr lang="el-GR" altLang="zh-CN" dirty="0"/>
              <a:t>Σ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≤ m ≤ </a:t>
            </a:r>
            <a:r>
              <a:rPr lang="el-GR" altLang="zh-CN" dirty="0"/>
              <a:t>Σ </a:t>
            </a:r>
            <a:r>
              <a:rPr lang="en-US" altLang="zh-CN" dirty="0"/>
              <a:t>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b[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没变，只需保证</a:t>
            </a:r>
            <a:r>
              <a:rPr lang="el-GR" altLang="zh-CN" dirty="0"/>
              <a:t>Σ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≤ m </a:t>
            </a:r>
            <a:r>
              <a:rPr lang="zh-CN" altLang="en-US" dirty="0"/>
              <a:t>即可。因此，我们贪心地选出</a:t>
            </a:r>
            <a:r>
              <a:rPr lang="en-US" altLang="zh-CN" dirty="0"/>
              <a:t>(n+1)/2</a:t>
            </a:r>
            <a:r>
              <a:rPr lang="zh-CN" altLang="en-US" dirty="0"/>
              <a:t>个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与</a:t>
            </a:r>
            <a:r>
              <a:rPr lang="en-US" altLang="zh-CN" dirty="0"/>
              <a:t>mid</a:t>
            </a:r>
            <a:r>
              <a:rPr lang="zh-CN" altLang="en-US" dirty="0"/>
              <a:t>取</a:t>
            </a:r>
            <a:r>
              <a:rPr lang="en-US" altLang="zh-CN" dirty="0"/>
              <a:t>max</a:t>
            </a:r>
            <a:r>
              <a:rPr lang="zh-CN" altLang="en-US" dirty="0"/>
              <a:t>后增量最小的数。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52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7AE37-0379-4AC0-80A9-C850FA2D7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BZOJ4237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A6445-C8E6-43E2-BC08-448C00C8C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</a:t>
            </a:r>
            <a:r>
              <a:rPr lang="en-US" altLang="zh-CN" dirty="0"/>
              <a:t>n</a:t>
            </a:r>
            <a:r>
              <a:rPr lang="zh-CN" altLang="en-US" dirty="0"/>
              <a:t>个点，求左下、右上角分别是给出的点，且中间不含其他点的矩形个数。</a:t>
            </a:r>
            <a:endParaRPr lang="en-US" altLang="zh-CN" dirty="0"/>
          </a:p>
          <a:p>
            <a:r>
              <a:rPr lang="en-US" altLang="zh-CN" dirty="0"/>
              <a:t>n&lt;=2*10^5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1394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05EDC-A8C4-44FB-8D10-E6108C96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BZOJ4237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D164F-9385-452D-87F4-FB6FC82B3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考虑分治，将平面分为上下两半，只考虑左下点在下一半，右上点在上一半的矩形个数。</a:t>
            </a:r>
            <a:endParaRPr lang="en-US" altLang="zh-CN" dirty="0"/>
          </a:p>
          <a:p>
            <a:r>
              <a:rPr lang="zh-CN" altLang="en-US" dirty="0"/>
              <a:t>将所有点按</a:t>
            </a:r>
            <a:r>
              <a:rPr lang="en-US" altLang="zh-CN" dirty="0"/>
              <a:t>x</a:t>
            </a:r>
            <a:r>
              <a:rPr lang="zh-CN" altLang="en-US" dirty="0"/>
              <a:t>坐标排序，依次枚举每个右上点。首先它会受到最右的</a:t>
            </a:r>
            <a:r>
              <a:rPr lang="en-US" altLang="zh-CN" dirty="0" err="1"/>
              <a:t>x,y</a:t>
            </a:r>
            <a:r>
              <a:rPr lang="zh-CN" altLang="en-US" dirty="0"/>
              <a:t>都比自己小的点制约，单调栈维护。</a:t>
            </a:r>
            <a:endParaRPr lang="en-US" altLang="zh-CN" dirty="0"/>
          </a:p>
          <a:p>
            <a:r>
              <a:rPr lang="zh-CN" altLang="en-US" dirty="0"/>
              <a:t>枚举到一个右上点时，加入所有下一半中横坐标小于自己的点。类似地，若加入的点中存在</a:t>
            </a:r>
            <a:r>
              <a:rPr lang="en-US" altLang="zh-CN" dirty="0"/>
              <a:t>(x1,y1)</a:t>
            </a:r>
            <a:r>
              <a:rPr lang="zh-CN" altLang="en-US" dirty="0"/>
              <a:t>与</a:t>
            </a:r>
            <a:r>
              <a:rPr lang="en-US" altLang="zh-CN" dirty="0"/>
              <a:t>(x2,y2)</a:t>
            </a:r>
            <a:r>
              <a:rPr lang="zh-CN" altLang="en-US" dirty="0"/>
              <a:t>，满足</a:t>
            </a:r>
            <a:r>
              <a:rPr lang="en-US" altLang="zh-CN" dirty="0"/>
              <a:t>x1&lt;x2</a:t>
            </a:r>
            <a:r>
              <a:rPr lang="zh-CN" altLang="en-US" dirty="0"/>
              <a:t>且</a:t>
            </a:r>
            <a:r>
              <a:rPr lang="en-US" altLang="zh-CN" dirty="0"/>
              <a:t>y1&lt;y2</a:t>
            </a:r>
            <a:r>
              <a:rPr lang="zh-CN" altLang="en-US" dirty="0"/>
              <a:t>，那么</a:t>
            </a:r>
            <a:r>
              <a:rPr lang="en-US" altLang="zh-CN" dirty="0"/>
              <a:t>(x1,y1)</a:t>
            </a:r>
            <a:r>
              <a:rPr lang="zh-CN" altLang="en-US" dirty="0"/>
              <a:t>是没用的。用单调栈维护这个东西，然后求出该右上点受到的横坐标约束</a:t>
            </a:r>
            <a:r>
              <a:rPr lang="en-US" altLang="zh-CN" dirty="0" err="1"/>
              <a:t>lim</a:t>
            </a:r>
            <a:r>
              <a:rPr lang="zh-CN" altLang="en-US" dirty="0"/>
              <a:t>，要求的就是单调栈中</a:t>
            </a:r>
            <a:r>
              <a:rPr lang="en-US" altLang="zh-CN" dirty="0"/>
              <a:t>x&gt;=</a:t>
            </a:r>
            <a:r>
              <a:rPr lang="en-US" altLang="zh-CN" dirty="0" err="1"/>
              <a:t>lim</a:t>
            </a:r>
            <a:r>
              <a:rPr lang="zh-CN" altLang="en-US" dirty="0"/>
              <a:t>的个数，二分即可。</a:t>
            </a:r>
          </a:p>
        </p:txBody>
      </p:sp>
    </p:spTree>
    <p:extLst>
      <p:ext uri="{BB962C8B-B14F-4D97-AF65-F5344CB8AC3E}">
        <p14:creationId xmlns:p14="http://schemas.microsoft.com/office/powerpoint/2010/main" val="2913614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A8709-5884-4A63-BDBD-5EC6EDE7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CF1103B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0EB2BBFB-E173-4B47-AC78-13C5E15EB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77255"/>
            <a:ext cx="11099679" cy="907889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E370A10-8C17-4523-9FA5-FF9205E0A92C}"/>
              </a:ext>
            </a:extLst>
          </p:cNvPr>
          <p:cNvSpPr txBox="1"/>
          <p:nvPr/>
        </p:nvSpPr>
        <p:spPr>
          <a:xfrm>
            <a:off x="906011" y="2971711"/>
            <a:ext cx="2545890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1&lt;=a&lt;=10^9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08424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B1EA1-C337-4763-82FE-04778FC4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CF1103B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30AA42-5A58-48CB-AFD5-AC3A4A9E5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8478"/>
          </a:xfrm>
        </p:spPr>
        <p:txBody>
          <a:bodyPr/>
          <a:lstStyle/>
          <a:p>
            <a:r>
              <a:rPr lang="en-US" altLang="zh-CN" dirty="0"/>
              <a:t>f(x)=x mod a</a:t>
            </a:r>
            <a:r>
              <a:rPr lang="zh-CN" altLang="en-US" dirty="0"/>
              <a:t>的图像如下：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F6EE1C-AB31-445A-A6A9-2D00A1503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42" y="2463392"/>
            <a:ext cx="2279665" cy="1311084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0790625-28A8-4931-A35C-C65F1DC0939A}"/>
              </a:ext>
            </a:extLst>
          </p:cNvPr>
          <p:cNvSpPr txBox="1">
            <a:spLocks/>
          </p:cNvSpPr>
          <p:nvPr/>
        </p:nvSpPr>
        <p:spPr>
          <a:xfrm>
            <a:off x="838200" y="3975318"/>
            <a:ext cx="10515600" cy="20584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该函数除</a:t>
            </a:r>
            <a:r>
              <a:rPr lang="en-US" altLang="zh-CN" dirty="0"/>
              <a:t>x=0</a:t>
            </a:r>
            <a:r>
              <a:rPr lang="zh-CN" altLang="en-US" dirty="0"/>
              <a:t>以外的第一个零点就是答案。</a:t>
            </a:r>
            <a:endParaRPr lang="en-US" altLang="zh-CN" dirty="0"/>
          </a:p>
          <a:p>
            <a:r>
              <a:rPr lang="zh-CN" altLang="en-US" dirty="0"/>
              <a:t>考虑询问</a:t>
            </a:r>
            <a:r>
              <a:rPr lang="en-US" altLang="zh-CN" dirty="0"/>
              <a:t>(1,2),(2,4),(4,8)…</a:t>
            </a:r>
            <a:r>
              <a:rPr lang="zh-CN" altLang="en-US" dirty="0"/>
              <a:t>直到某一个</a:t>
            </a:r>
            <a:r>
              <a:rPr lang="en-US" altLang="zh-CN" dirty="0"/>
              <a:t>(l,2l)</a:t>
            </a:r>
            <a:r>
              <a:rPr lang="zh-CN" altLang="en-US" dirty="0"/>
              <a:t>第一次返回前者更大，我们就可以知道第一个零点一定在</a:t>
            </a:r>
            <a:r>
              <a:rPr lang="en-US" altLang="zh-CN" dirty="0"/>
              <a:t>(l,2l]</a:t>
            </a:r>
            <a:r>
              <a:rPr lang="zh-CN" altLang="en-US" dirty="0"/>
              <a:t>内。在这一段区间内询问</a:t>
            </a:r>
            <a:r>
              <a:rPr lang="en-US" altLang="zh-CN" dirty="0"/>
              <a:t>(</a:t>
            </a:r>
            <a:r>
              <a:rPr lang="en-US" altLang="zh-CN" dirty="0" err="1"/>
              <a:t>l,x</a:t>
            </a:r>
            <a:r>
              <a:rPr lang="en-US" altLang="zh-CN" dirty="0"/>
              <a:t>)</a:t>
            </a:r>
            <a:r>
              <a:rPr lang="zh-CN" altLang="en-US" dirty="0"/>
              <a:t>，如果</a:t>
            </a:r>
            <a:r>
              <a:rPr lang="en-US" altLang="zh-CN" dirty="0"/>
              <a:t>x&lt;</a:t>
            </a:r>
            <a:r>
              <a:rPr lang="zh-CN" altLang="en-US" dirty="0"/>
              <a:t>第一个零点则会返回后者更大，否则返回前者更大，二分即可。</a:t>
            </a:r>
          </a:p>
        </p:txBody>
      </p:sp>
    </p:spTree>
    <p:extLst>
      <p:ext uri="{BB962C8B-B14F-4D97-AF65-F5344CB8AC3E}">
        <p14:creationId xmlns:p14="http://schemas.microsoft.com/office/powerpoint/2010/main" val="1766051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24F37-BAE3-4413-913A-E353DAD0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CF626G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40612-A686-49F7-BD05-35FADB84B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EF58EC-CAD0-4A8E-B9C5-6B6202FD7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091671" cy="288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08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0ABEF-47A0-48E2-8B2F-8B99B718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CF626G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BC1922-1A62-426B-9332-23403BE57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EA68DC-AC81-4CEC-A9EE-C22B35F6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352381" cy="4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47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75E69-5EFE-42D8-ACC4-4DF8D4D2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 source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CDC3D-F38F-47E6-AD39-817427F94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2*n</a:t>
            </a:r>
            <a:r>
              <a:rPr lang="zh-CN" altLang="en-US" dirty="0"/>
              <a:t>的网格图，每个点有点权，边无边权。求网格图上的点两两最短路之和。</a:t>
            </a:r>
            <a:endParaRPr lang="en-US" altLang="zh-CN" dirty="0"/>
          </a:p>
          <a:p>
            <a:r>
              <a:rPr lang="en-US" altLang="zh-CN" dirty="0"/>
              <a:t>n&lt;=10^5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5881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A1FC7-F407-4CC3-A937-CE2CDBC4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 source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FC279-01DB-4903-9AAF-F00B7DDDC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路径从第 </a:t>
            </a:r>
            <a:r>
              <a:rPr lang="en-US" altLang="zh-CN" dirty="0"/>
              <a:t>j </a:t>
            </a:r>
            <a:r>
              <a:rPr lang="zh-CN" altLang="en-US" dirty="0"/>
              <a:t>列经过后不会在离开第 </a:t>
            </a:r>
            <a:r>
              <a:rPr lang="en-US" altLang="zh-CN" dirty="0"/>
              <a:t>j </a:t>
            </a:r>
            <a:r>
              <a:rPr lang="zh-CN" altLang="en-US" dirty="0"/>
              <a:t>列后重新回到第 </a:t>
            </a:r>
            <a:r>
              <a:rPr lang="en-US" altLang="zh-CN" dirty="0"/>
              <a:t>j </a:t>
            </a:r>
            <a:r>
              <a:rPr lang="zh-CN" altLang="en-US" dirty="0"/>
              <a:t>列上，否则我们直接走第 </a:t>
            </a:r>
            <a:r>
              <a:rPr lang="en-US" altLang="zh-CN" dirty="0"/>
              <a:t>j </a:t>
            </a:r>
            <a:r>
              <a:rPr lang="zh-CN" altLang="en-US" dirty="0"/>
              <a:t>列两个点的连边答案不会变劣。</a:t>
            </a:r>
            <a:endParaRPr lang="en-US" altLang="zh-CN" dirty="0"/>
          </a:p>
          <a:p>
            <a:r>
              <a:rPr lang="zh-CN" altLang="en-US" dirty="0"/>
              <a:t>因此将网格按中线分为左右两部分，跨过分界线的点对最短路恰好经过网格最中间上下两个点之一，两部分内部的点对最短路不会穿过另一部分。</a:t>
            </a:r>
            <a:endParaRPr lang="en-US" altLang="zh-CN" dirty="0"/>
          </a:p>
          <a:p>
            <a:r>
              <a:rPr lang="zh-CN" altLang="en-US" dirty="0"/>
              <a:t>考虑分治，求出中间两个点的单源最短路，用一个简单的二维偏序统计跨过分界线的点对的贡献，然后递归处理左右两部分。</a:t>
            </a:r>
          </a:p>
        </p:txBody>
      </p:sp>
    </p:spTree>
    <p:extLst>
      <p:ext uri="{BB962C8B-B14F-4D97-AF65-F5344CB8AC3E}">
        <p14:creationId xmlns:p14="http://schemas.microsoft.com/office/powerpoint/2010/main" val="1783878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7495B-1228-4A08-827D-59D8294E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Luogu</a:t>
            </a:r>
            <a:r>
              <a:rPr lang="en-US" altLang="zh-CN" dirty="0"/>
              <a:t> 4747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AF812FB-632E-4709-8AA8-4249C8718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0952862" cy="4173217"/>
          </a:xfrm>
        </p:spPr>
      </p:pic>
    </p:spTree>
    <p:extLst>
      <p:ext uri="{BB962C8B-B14F-4D97-AF65-F5344CB8AC3E}">
        <p14:creationId xmlns:p14="http://schemas.microsoft.com/office/powerpoint/2010/main" val="3130219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B28F-6A7E-4CE2-9430-0A1CA799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Luogu</a:t>
            </a:r>
            <a:r>
              <a:rPr lang="en-US" altLang="zh-CN" dirty="0"/>
              <a:t> 4747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6862B-15C6-4483-9447-4277C5DA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首先考虑求出</a:t>
            </a:r>
            <a:r>
              <a:rPr lang="en-US" altLang="zh-CN" dirty="0" err="1"/>
              <a:t>ans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为包含区间</a:t>
            </a:r>
            <a:r>
              <a:rPr lang="en-US" altLang="zh-CN" dirty="0"/>
              <a:t>[i,i+1]</a:t>
            </a:r>
            <a:r>
              <a:rPr lang="zh-CN" altLang="en-US" dirty="0"/>
              <a:t>的最小连续段。</a:t>
            </a:r>
            <a:endParaRPr lang="en-US" altLang="zh-CN" dirty="0"/>
          </a:p>
          <a:p>
            <a:r>
              <a:rPr lang="zh-CN" altLang="en-US" dirty="0"/>
              <a:t>考虑分治，令</a:t>
            </a:r>
            <a:r>
              <a:rPr lang="en-US" altLang="zh-CN" dirty="0"/>
              <a:t>solve(</a:t>
            </a:r>
            <a:r>
              <a:rPr lang="en-US" altLang="zh-CN" dirty="0" err="1"/>
              <a:t>l,r</a:t>
            </a:r>
            <a:r>
              <a:rPr lang="en-US" altLang="zh-CN" dirty="0"/>
              <a:t>)</a:t>
            </a:r>
            <a:r>
              <a:rPr lang="zh-CN" altLang="en-US" dirty="0"/>
              <a:t>表示只考虑所有严格在区间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内的连续段，</a:t>
            </a:r>
            <a:r>
              <a:rPr lang="en-US" altLang="zh-CN" dirty="0" err="1"/>
              <a:t>ans</a:t>
            </a:r>
            <a:r>
              <a:rPr lang="en-US" altLang="zh-CN" dirty="0"/>
              <a:t>[l],</a:t>
            </a:r>
            <a:r>
              <a:rPr lang="en-US" altLang="zh-CN" dirty="0" err="1"/>
              <a:t>ans</a:t>
            </a:r>
            <a:r>
              <a:rPr lang="en-US" altLang="zh-CN" dirty="0"/>
              <a:t>[l+1],…,</a:t>
            </a:r>
            <a:r>
              <a:rPr lang="en-US" altLang="zh-CN" dirty="0" err="1"/>
              <a:t>ans</a:t>
            </a:r>
            <a:r>
              <a:rPr lang="en-US" altLang="zh-CN" dirty="0"/>
              <a:t>[r-1]</a:t>
            </a:r>
            <a:r>
              <a:rPr lang="zh-CN" altLang="en-US" dirty="0"/>
              <a:t>的值。</a:t>
            </a:r>
            <a:endParaRPr lang="en-US" altLang="zh-CN" dirty="0"/>
          </a:p>
          <a:p>
            <a:r>
              <a:rPr lang="zh-CN" altLang="en-US" dirty="0"/>
              <a:t>考虑左半部分的</a:t>
            </a:r>
            <a:r>
              <a:rPr lang="en-US" altLang="zh-CN" dirty="0" err="1"/>
              <a:t>ans</a:t>
            </a:r>
            <a:r>
              <a:rPr lang="zh-CN" altLang="en-US" dirty="0"/>
              <a:t>，右半部分同理。</a:t>
            </a:r>
            <a:endParaRPr lang="en-US" altLang="zh-CN" dirty="0"/>
          </a:p>
          <a:p>
            <a:r>
              <a:rPr lang="zh-CN" altLang="en-US" dirty="0"/>
              <a:t>第一种情况是连续段严格在左半部分，</a:t>
            </a:r>
            <a:r>
              <a:rPr lang="en-US" altLang="zh-CN" dirty="0"/>
              <a:t>solve(</a:t>
            </a:r>
            <a:r>
              <a:rPr lang="en-US" altLang="zh-CN" dirty="0" err="1"/>
              <a:t>l,mid</a:t>
            </a:r>
            <a:r>
              <a:rPr lang="en-US" altLang="zh-CN" dirty="0"/>
              <a:t>)</a:t>
            </a:r>
            <a:r>
              <a:rPr lang="zh-CN" altLang="en-US" dirty="0"/>
              <a:t>递归处理即可。</a:t>
            </a:r>
            <a:endParaRPr lang="en-US" altLang="zh-CN" dirty="0"/>
          </a:p>
          <a:p>
            <a:r>
              <a:rPr lang="zh-CN" altLang="en-US" dirty="0"/>
              <a:t>第二种情况是连续段跨过</a:t>
            </a:r>
            <a:r>
              <a:rPr lang="en-US" altLang="zh-CN" dirty="0"/>
              <a:t>[mid,mid+1]</a:t>
            </a:r>
            <a:r>
              <a:rPr lang="zh-CN" altLang="en-US" dirty="0"/>
              <a:t>。那么，从</a:t>
            </a:r>
            <a:r>
              <a:rPr lang="en-US" altLang="zh-CN" dirty="0"/>
              <a:t>[mid,mid+1]</a:t>
            </a:r>
            <a:r>
              <a:rPr lang="zh-CN" altLang="en-US" dirty="0"/>
              <a:t>出发，模拟一遍求出包含</a:t>
            </a:r>
            <a:r>
              <a:rPr lang="en-US" altLang="zh-CN" dirty="0"/>
              <a:t>[mid,mid+1]</a:t>
            </a:r>
            <a:r>
              <a:rPr lang="zh-CN" altLang="en-US" dirty="0"/>
              <a:t>的最小连续段，设为</a:t>
            </a:r>
            <a:r>
              <a:rPr lang="en-US" altLang="zh-CN" dirty="0"/>
              <a:t>[</a:t>
            </a:r>
            <a:r>
              <a:rPr lang="en-US" altLang="zh-CN" dirty="0" err="1"/>
              <a:t>x,y</a:t>
            </a:r>
            <a:r>
              <a:rPr lang="en-US" altLang="zh-CN" dirty="0"/>
              <a:t>]</a:t>
            </a:r>
            <a:r>
              <a:rPr lang="zh-CN" altLang="en-US" dirty="0"/>
              <a:t>。那么，</a:t>
            </a:r>
            <a:r>
              <a:rPr lang="en-US" altLang="zh-CN" dirty="0" err="1"/>
              <a:t>ans</a:t>
            </a:r>
            <a:r>
              <a:rPr lang="en-US" altLang="zh-CN" dirty="0"/>
              <a:t>[x],…,</a:t>
            </a:r>
            <a:r>
              <a:rPr lang="en-US" altLang="zh-CN" dirty="0" err="1"/>
              <a:t>ans</a:t>
            </a:r>
            <a:r>
              <a:rPr lang="en-US" altLang="zh-CN" dirty="0"/>
              <a:t>[mid]</a:t>
            </a:r>
            <a:r>
              <a:rPr lang="zh-CN" altLang="en-US" dirty="0"/>
              <a:t>会等于</a:t>
            </a:r>
            <a:r>
              <a:rPr lang="en-US" altLang="zh-CN" dirty="0"/>
              <a:t>[</a:t>
            </a:r>
            <a:r>
              <a:rPr lang="en-US" altLang="zh-CN" dirty="0" err="1"/>
              <a:t>x,y</a:t>
            </a:r>
            <a:r>
              <a:rPr lang="en-US" altLang="zh-CN" dirty="0"/>
              <a:t>]</a:t>
            </a:r>
            <a:r>
              <a:rPr lang="zh-CN" altLang="en-US" dirty="0"/>
              <a:t>。对于</a:t>
            </a:r>
            <a:r>
              <a:rPr lang="en-US" altLang="zh-CN" dirty="0" err="1"/>
              <a:t>i</a:t>
            </a:r>
            <a:r>
              <a:rPr lang="en-US" altLang="zh-CN" dirty="0"/>
              <a:t>&lt;x</a:t>
            </a:r>
            <a:r>
              <a:rPr lang="zh-CN" altLang="en-US" dirty="0"/>
              <a:t>的</a:t>
            </a:r>
            <a:r>
              <a:rPr lang="en-US" altLang="zh-CN" dirty="0" err="1"/>
              <a:t>ans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，连续段必须得包含它，那么我们让</a:t>
            </a:r>
            <a:r>
              <a:rPr lang="en-US" altLang="zh-CN" dirty="0"/>
              <a:t>x</a:t>
            </a:r>
            <a:r>
              <a:rPr lang="zh-CN" altLang="en-US" dirty="0"/>
              <a:t>减去</a:t>
            </a:r>
            <a:r>
              <a:rPr lang="en-US" altLang="zh-CN" dirty="0"/>
              <a:t>1</a:t>
            </a:r>
            <a:r>
              <a:rPr lang="zh-CN" altLang="en-US" dirty="0"/>
              <a:t>再继续像上面一样做，直到超出区间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对于询问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，答案就是</a:t>
            </a:r>
            <a:r>
              <a:rPr lang="en-US" altLang="zh-CN" dirty="0" err="1"/>
              <a:t>ans</a:t>
            </a:r>
            <a:r>
              <a:rPr lang="en-US" altLang="zh-CN" dirty="0"/>
              <a:t>[l],</a:t>
            </a:r>
            <a:r>
              <a:rPr lang="en-US" altLang="zh-CN" dirty="0" err="1"/>
              <a:t>ans</a:t>
            </a:r>
            <a:r>
              <a:rPr lang="en-US" altLang="zh-CN" dirty="0"/>
              <a:t>[l+1],…,</a:t>
            </a:r>
            <a:r>
              <a:rPr lang="en-US" altLang="zh-CN" dirty="0" err="1"/>
              <a:t>ans</a:t>
            </a:r>
            <a:r>
              <a:rPr lang="en-US" altLang="zh-CN" dirty="0"/>
              <a:t>[r-1]</a:t>
            </a:r>
            <a:r>
              <a:rPr lang="zh-CN" altLang="en-US" dirty="0"/>
              <a:t>的并。</a:t>
            </a:r>
          </a:p>
        </p:txBody>
      </p:sp>
    </p:spTree>
    <p:extLst>
      <p:ext uri="{BB962C8B-B14F-4D97-AF65-F5344CB8AC3E}">
        <p14:creationId xmlns:p14="http://schemas.microsoft.com/office/powerpoint/2010/main" val="236739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F2998-A5E7-46C7-93E7-6B7A2D2F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 GYM 101221G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1DA87-8295-43D5-9A32-916A0CF79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CN" dirty="0" err="1"/>
                  <a:t>Yulia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在一家位于叶卡捷林堡的金属加工厂工作。这家金属加工厂加工采自于乌拉尔山的矿石，从矿石中中提取黄铜、白金和黄金。每个月，这家加工厂收到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堆未经加工的货物。</a:t>
                </a:r>
                <a:r>
                  <a:rPr lang="en-US" altLang="zh-CN" dirty="0"/>
                  <a:t>. </a:t>
                </a:r>
                <a:r>
                  <a:rPr lang="en-US" altLang="zh-CN" dirty="0" err="1"/>
                  <a:t>Yulia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需要把这些货物根据它们的相似程度分成两堆。这样，每组货物会被送到两间矿石加工间中的一个。</a:t>
                </a:r>
              </a:p>
              <a:p>
                <a:r>
                  <a:rPr lang="zh-CN" altLang="en-US" dirty="0"/>
                  <a:t>为了进行这样的划分， </a:t>
                </a:r>
                <a:r>
                  <a:rPr lang="en-US" altLang="zh-CN" dirty="0" err="1"/>
                  <a:t>Yulia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首先对于每对货物 </a:t>
                </a:r>
                <a:r>
                  <a:rPr lang="en-US" altLang="zh-CN" dirty="0"/>
                  <a:t>1≤i≤n,1≤j≤n </a:t>
                </a:r>
                <a:r>
                  <a:rPr lang="zh-CN" altLang="en-US" dirty="0"/>
                  <a:t>计算了它们距离值 </a:t>
                </a:r>
                <a:r>
                  <a:rPr lang="en-US" altLang="zh-CN" dirty="0"/>
                  <a:t>d(</a:t>
                </a:r>
                <a:r>
                  <a:rPr lang="en-US" altLang="zh-CN" dirty="0" err="1"/>
                  <a:t>i,j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，使得这个距离值越小，编号为 </a:t>
                </a:r>
                <a:r>
                  <a:rPr lang="en-US" altLang="zh-CN" dirty="0" err="1"/>
                  <a:t>i,j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的两堆货物就越相似。对于一个货物的子集 </a:t>
                </a:r>
                <a:r>
                  <a:rPr lang="en-US" altLang="zh-CN" dirty="0"/>
                  <a:t>S⊆{1,⋯,n}, </a:t>
                </a:r>
                <a:r>
                  <a:rPr lang="zh-CN" altLang="en-US" dirty="0"/>
                  <a:t>她定义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的差异程度 </a:t>
                </a:r>
                <a:r>
                  <a:rPr lang="en-US" altLang="zh-CN" dirty="0"/>
                  <a:t>D(S) </a:t>
                </a:r>
                <a:r>
                  <a:rPr lang="zh-CN" altLang="en-US" dirty="0"/>
                  <a:t>为在子集中的每对货物的距离最大值，也就是说</a:t>
                </a:r>
                <a:r>
                  <a:rPr lang="en-US" altLang="zh-CN" dirty="0"/>
                  <a:t>:</a:t>
                </a:r>
              </a:p>
              <a:p>
                <a:r>
                  <a:rPr lang="en-US" altLang="zh-CN" dirty="0"/>
                  <a:t>D(S)=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dirty="0" smtClean="0"/>
                          <m:t>max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dirty="0" smtClean="0"/>
                          <m:t>i</m:t>
                        </m:r>
                        <m:r>
                          <m:rPr>
                            <m:nor/>
                          </m:rPr>
                          <a:rPr lang="en-US" altLang="zh-CN" dirty="0" smtClean="0"/>
                          <m:t>,</m:t>
                        </m:r>
                        <m:r>
                          <m:rPr>
                            <m:nor/>
                          </m:rPr>
                          <a:rPr lang="en-US" altLang="zh-CN" dirty="0" smtClean="0"/>
                          <m:t>j</m:t>
                        </m:r>
                        <m:r>
                          <m:rPr>
                            <m:nor/>
                          </m:rPr>
                          <a:rPr lang="en-US" altLang="zh-CN" dirty="0" smtClean="0"/>
                          <m:t>∈</m:t>
                        </m:r>
                        <m:r>
                          <m:rPr>
                            <m:nor/>
                          </m:rPr>
                          <a:rPr lang="en-US" altLang="zh-CN" dirty="0" smtClean="0"/>
                          <m:t>S</m:t>
                        </m:r>
                      </m:sub>
                    </m:sSub>
                  </m:oMath>
                </a14:m>
                <a:r>
                  <a:rPr lang="en-US" altLang="zh-CN" dirty="0" err="1"/>
                  <a:t>d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i,j</a:t>
                </a:r>
                <a:r>
                  <a:rPr lang="en-US" altLang="zh-CN" dirty="0"/>
                  <a:t>) </a:t>
                </a:r>
              </a:p>
              <a:p>
                <a:r>
                  <a:rPr lang="en-US" altLang="zh-CN" dirty="0" err="1"/>
                  <a:t>Yulia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之后要把货物分成两个子集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B, </a:t>
                </a:r>
                <a:r>
                  <a:rPr lang="zh-CN" altLang="en-US" dirty="0"/>
                  <a:t>使得它们的差异程度之和 </a:t>
                </a:r>
                <a:r>
                  <a:rPr lang="en-US" altLang="zh-CN" dirty="0"/>
                  <a:t>D(A)+D(B) </a:t>
                </a:r>
                <a:r>
                  <a:rPr lang="zh-CN" altLang="en-US" dirty="0"/>
                  <a:t>最小。你的任务是帮他找到这样的划分。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特别的，当 </a:t>
                </a:r>
                <a:r>
                  <a:rPr lang="en-US" altLang="zh-CN" dirty="0"/>
                  <a:t>S=∅ </a:t>
                </a:r>
                <a:r>
                  <a:rPr lang="zh-CN" altLang="en-US" dirty="0"/>
                  <a:t>时</a:t>
                </a:r>
                <a:r>
                  <a:rPr lang="en-US" altLang="zh-CN" dirty="0"/>
                  <a:t>, D(S)=0)</a:t>
                </a:r>
              </a:p>
              <a:p>
                <a:r>
                  <a:rPr lang="en-US" altLang="zh-CN" dirty="0"/>
                  <a:t>1≤n≤200</a:t>
                </a:r>
                <a:r>
                  <a:rPr lang="zh-CN" altLang="en-US" dirty="0"/>
                  <a:t>（其实可以做更大）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1DA87-8295-43D5-9A32-916A0CF79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 r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564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4367B-FAD9-4122-9807-3B8D33C6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 GYM 101221G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FD140-D235-4E98-A4E2-BAD91551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Solution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一个朴素的想法是，双指针扫描两个集合的权值，</a:t>
            </a:r>
            <a:r>
              <a:rPr lang="en-US" altLang="zh-CN" dirty="0"/>
              <a:t>2-sat</a:t>
            </a:r>
            <a:r>
              <a:rPr lang="zh-CN" altLang="en-US" dirty="0"/>
              <a:t>判定是否合法。复杂度过高难以接受。</a:t>
            </a:r>
            <a:endParaRPr lang="en-US" altLang="zh-CN" dirty="0"/>
          </a:p>
          <a:p>
            <a:r>
              <a:rPr lang="zh-CN" altLang="en-US" dirty="0"/>
              <a:t>容易发现，对大部分值的</a:t>
            </a:r>
            <a:r>
              <a:rPr lang="en-US" altLang="zh-CN" dirty="0"/>
              <a:t>check</a:t>
            </a:r>
            <a:r>
              <a:rPr lang="zh-CN" altLang="en-US" dirty="0"/>
              <a:t>都是无意义的。假设两个集合的权值分别为</a:t>
            </a:r>
            <a:r>
              <a:rPr lang="en-US" altLang="zh-CN" dirty="0" err="1"/>
              <a:t>x,y</a:t>
            </a:r>
            <a:r>
              <a:rPr lang="en-US" altLang="zh-CN" dirty="0"/>
              <a:t>(x&lt;=y)</a:t>
            </a:r>
            <a:r>
              <a:rPr lang="zh-CN" altLang="en-US" dirty="0"/>
              <a:t>，那么限制是：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&gt;y</a:t>
            </a:r>
            <a:r>
              <a:rPr lang="zh-CN" altLang="en-US" dirty="0"/>
              <a:t>的边，其两端点不能在同一集合中。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]</a:t>
            </a:r>
            <a:r>
              <a:rPr lang="zh-CN" altLang="en-US" dirty="0"/>
              <a:t>的边，其两端点只能同时在第一个集合中。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&lt;=x</a:t>
            </a:r>
            <a:r>
              <a:rPr lang="zh-CN" altLang="en-US" dirty="0"/>
              <a:t>的边，无限制。</a:t>
            </a:r>
            <a:endParaRPr lang="en-US" altLang="zh-CN" dirty="0"/>
          </a:p>
          <a:p>
            <a:r>
              <a:rPr lang="zh-CN" altLang="en-US" dirty="0"/>
              <a:t>一个关键的观察：第一条限制只与</a:t>
            </a:r>
            <a:r>
              <a:rPr lang="en-US" altLang="zh-CN" dirty="0"/>
              <a:t>&gt;y</a:t>
            </a:r>
            <a:r>
              <a:rPr lang="zh-CN" altLang="en-US" dirty="0"/>
              <a:t>的边形成的图的生成树及图中是否有奇环有关。因此，对于给定输入数据，本质不同的第一条限制只有</a:t>
            </a:r>
            <a:r>
              <a:rPr lang="en-US" altLang="zh-CN" dirty="0"/>
              <a:t>O(n)</a:t>
            </a:r>
            <a:r>
              <a:rPr lang="zh-CN" altLang="en-US" dirty="0"/>
              <a:t>种。</a:t>
            </a:r>
          </a:p>
        </p:txBody>
      </p:sp>
    </p:spTree>
    <p:extLst>
      <p:ext uri="{BB962C8B-B14F-4D97-AF65-F5344CB8AC3E}">
        <p14:creationId xmlns:p14="http://schemas.microsoft.com/office/powerpoint/2010/main" val="3150956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4367B-FAD9-4122-9807-3B8D33C6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 GYM 101221G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FD140-D235-4E98-A4E2-BAD91551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Solution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如果将</a:t>
            </a:r>
            <a:r>
              <a:rPr lang="en-US" altLang="zh-CN" dirty="0"/>
              <a:t>y</a:t>
            </a:r>
            <a:r>
              <a:rPr lang="zh-CN" altLang="en-US" dirty="0"/>
              <a:t>变为</a:t>
            </a:r>
            <a:r>
              <a:rPr lang="en-US" altLang="zh-CN" dirty="0"/>
              <a:t>y-1</a:t>
            </a:r>
            <a:r>
              <a:rPr lang="zh-CN" altLang="en-US" dirty="0"/>
              <a:t>并不会增加新的限制，则变为</a:t>
            </a:r>
            <a:r>
              <a:rPr lang="en-US" altLang="zh-CN" dirty="0"/>
              <a:t>y-1</a:t>
            </a:r>
            <a:r>
              <a:rPr lang="zh-CN" altLang="en-US" dirty="0"/>
              <a:t>一定更优。又因为本质不同的第一条限制只有</a:t>
            </a:r>
            <a:r>
              <a:rPr lang="en-US" altLang="zh-CN" dirty="0"/>
              <a:t>O(n)</a:t>
            </a:r>
            <a:r>
              <a:rPr lang="zh-CN" altLang="en-US" dirty="0"/>
              <a:t>种，而第二、三条限制不会因为</a:t>
            </a:r>
            <a:r>
              <a:rPr lang="en-US" altLang="zh-CN" dirty="0"/>
              <a:t>y</a:t>
            </a:r>
            <a:r>
              <a:rPr lang="zh-CN" altLang="en-US" dirty="0"/>
              <a:t>的减小而变得更紧，所以实际上有用的</a:t>
            </a:r>
            <a:r>
              <a:rPr lang="en-US" altLang="zh-CN" dirty="0"/>
              <a:t>y</a:t>
            </a:r>
            <a:r>
              <a:rPr lang="zh-CN" altLang="en-US" dirty="0"/>
              <a:t>只有</a:t>
            </a:r>
            <a:r>
              <a:rPr lang="en-US" altLang="zh-CN" dirty="0"/>
              <a:t>O(n)</a:t>
            </a:r>
            <a:r>
              <a:rPr lang="zh-CN" altLang="en-US" dirty="0"/>
              <a:t>种。</a:t>
            </a:r>
            <a:endParaRPr lang="en-US" altLang="zh-CN" dirty="0"/>
          </a:p>
          <a:p>
            <a:r>
              <a:rPr lang="zh-CN" altLang="en-US" dirty="0"/>
              <a:t>但是，如果继续使用双指针，要扫描的</a:t>
            </a:r>
            <a:r>
              <a:rPr lang="en-US" altLang="zh-CN" dirty="0"/>
              <a:t>x</a:t>
            </a:r>
            <a:r>
              <a:rPr lang="zh-CN" altLang="en-US" dirty="0"/>
              <a:t>还是有</a:t>
            </a:r>
            <a:r>
              <a:rPr lang="en-US" altLang="zh-CN" dirty="0"/>
              <a:t>O(n^2)</a:t>
            </a:r>
            <a:r>
              <a:rPr lang="zh-CN" altLang="en-US" dirty="0"/>
              <a:t>种，无法优化复杂度。</a:t>
            </a:r>
            <a:endParaRPr lang="en-US" altLang="zh-CN" dirty="0"/>
          </a:p>
          <a:p>
            <a:r>
              <a:rPr lang="zh-CN" altLang="en-US" dirty="0"/>
              <a:t>因此，我们改用二分。枚举一个有用的</a:t>
            </a:r>
            <a:r>
              <a:rPr lang="en-US" altLang="zh-CN" dirty="0"/>
              <a:t>y</a:t>
            </a:r>
            <a:r>
              <a:rPr lang="zh-CN" altLang="en-US" dirty="0"/>
              <a:t>后，二分出最小的合法的</a:t>
            </a:r>
            <a:r>
              <a:rPr lang="en-US" altLang="zh-CN" dirty="0"/>
              <a:t>x</a:t>
            </a:r>
            <a:r>
              <a:rPr lang="zh-CN" altLang="en-US" dirty="0"/>
              <a:t>。复杂度降为</a:t>
            </a:r>
            <a:r>
              <a:rPr lang="en-US" altLang="zh-CN" dirty="0"/>
              <a:t>O(n^3logn)</a:t>
            </a:r>
            <a:r>
              <a:rPr lang="zh-CN" altLang="en-US" dirty="0"/>
              <a:t>，可以通过。</a:t>
            </a:r>
            <a:endParaRPr lang="en-US" altLang="zh-CN" dirty="0"/>
          </a:p>
          <a:p>
            <a:r>
              <a:rPr lang="zh-CN" altLang="en-US" dirty="0"/>
              <a:t>实际上可以继续优化。我们将有用的</a:t>
            </a:r>
            <a:r>
              <a:rPr lang="en-US" altLang="zh-CN" dirty="0"/>
              <a:t>y </a:t>
            </a:r>
            <a:r>
              <a:rPr lang="en-US" altLang="zh-CN" dirty="0" err="1"/>
              <a:t>random_shuffle</a:t>
            </a:r>
            <a:r>
              <a:rPr lang="zh-CN" altLang="en-US" dirty="0"/>
              <a:t>，按照</a:t>
            </a:r>
            <a:r>
              <a:rPr lang="en-US" altLang="zh-CN" dirty="0"/>
              <a:t>shuffle</a:t>
            </a:r>
            <a:r>
              <a:rPr lang="zh-CN" altLang="en-US" dirty="0"/>
              <a:t>后的顺序依次枚举</a:t>
            </a:r>
            <a:r>
              <a:rPr lang="en-US" altLang="zh-CN" dirty="0"/>
              <a:t>y</a:t>
            </a:r>
            <a:r>
              <a:rPr lang="zh-CN" altLang="en-US" dirty="0"/>
              <a:t>。假设枚举到现在的</a:t>
            </a:r>
            <a:r>
              <a:rPr lang="en-US" altLang="zh-CN" dirty="0"/>
              <a:t>y</a:t>
            </a:r>
            <a:r>
              <a:rPr lang="zh-CN" altLang="en-US" dirty="0"/>
              <a:t>时答案为</a:t>
            </a:r>
            <a:r>
              <a:rPr lang="en-US" altLang="zh-CN" dirty="0" err="1"/>
              <a:t>ans</a:t>
            </a:r>
            <a:r>
              <a:rPr lang="zh-CN" altLang="en-US" dirty="0"/>
              <a:t>，则先</a:t>
            </a:r>
            <a:r>
              <a:rPr lang="en-US" altLang="zh-CN" dirty="0"/>
              <a:t>check x=</a:t>
            </a:r>
            <a:r>
              <a:rPr lang="en-US" altLang="zh-CN" dirty="0" err="1"/>
              <a:t>ans</a:t>
            </a:r>
            <a:r>
              <a:rPr lang="en-US" altLang="zh-CN" dirty="0"/>
              <a:t>-y</a:t>
            </a:r>
            <a:r>
              <a:rPr lang="zh-CN" altLang="en-US" dirty="0"/>
              <a:t>是否合法，若不合法则直接</a:t>
            </a:r>
            <a:r>
              <a:rPr lang="en-US" altLang="zh-CN" dirty="0"/>
              <a:t>continue</a:t>
            </a:r>
            <a:r>
              <a:rPr lang="zh-CN" altLang="en-US" dirty="0"/>
              <a:t>，否则进行二分。</a:t>
            </a:r>
            <a:endParaRPr lang="en-US" altLang="zh-CN" dirty="0"/>
          </a:p>
          <a:p>
            <a:r>
              <a:rPr lang="zh-CN" altLang="en-US" dirty="0"/>
              <a:t>随机序列的期望前缀</a:t>
            </a:r>
            <a:r>
              <a:rPr lang="en-US" altLang="zh-CN" dirty="0"/>
              <a:t>max</a:t>
            </a:r>
            <a:r>
              <a:rPr lang="zh-CN" altLang="en-US" dirty="0"/>
              <a:t>个数为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  <a:r>
              <a:rPr lang="zh-CN" altLang="en-US" dirty="0"/>
              <a:t>，因此期望只会对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  <a:r>
              <a:rPr lang="zh-CN" altLang="en-US" dirty="0"/>
              <a:t>个</a:t>
            </a:r>
            <a:r>
              <a:rPr lang="en-US" altLang="zh-CN" dirty="0"/>
              <a:t>y</a:t>
            </a:r>
            <a:r>
              <a:rPr lang="zh-CN" altLang="en-US" dirty="0"/>
              <a:t>进行二分。总复杂度降为</a:t>
            </a:r>
            <a:r>
              <a:rPr lang="en-US" altLang="zh-CN" dirty="0"/>
              <a:t>O(n^3)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44720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957D3-F7FF-4753-B2C9-D4329AF5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CF573E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0674EA-1F55-4D5A-BC5C-FBB6555D8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给定一个长度为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的序列 </a:t>
                </a:r>
                <a:r>
                  <a:rPr lang="en-US" altLang="zh-CN" dirty="0"/>
                  <a:t>a​</a:t>
                </a:r>
                <a:r>
                  <a:rPr lang="zh-CN" altLang="en-US" dirty="0"/>
                  <a:t>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你要求一个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的子序列 </a:t>
                </a:r>
                <a:r>
                  <a:rPr lang="en-US" altLang="zh-CN" dirty="0"/>
                  <a:t>b​</a:t>
                </a:r>
                <a:r>
                  <a:rPr lang="zh-CN" altLang="en-US" dirty="0"/>
                  <a:t>（可以为空），使得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zh-CN" dirty="0"/>
                  <a:t>​ </a:t>
                </a:r>
                <a:r>
                  <a:rPr lang="zh-CN" altLang="en-US" dirty="0"/>
                  <a:t>的值最大。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n&lt;=10^5</a:t>
                </a:r>
                <a:r>
                  <a:rPr lang="zh-CN" altLang="en-US" dirty="0"/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0674EA-1F55-4D5A-BC5C-FBB6555D8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918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EE617-A89E-4649-AC0A-F07A0C06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CF573E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31C9E3-30CC-4B43-B4DB-47092DD62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维护</a:t>
            </a:r>
            <a:r>
              <a:rPr lang="en-US" altLang="zh-CN" dirty="0"/>
              <a:t>Q[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表示选择</a:t>
            </a:r>
            <a:r>
              <a:rPr lang="en-US" altLang="zh-CN" dirty="0" err="1"/>
              <a:t>i</a:t>
            </a:r>
            <a:r>
              <a:rPr lang="zh-CN" altLang="en-US" dirty="0"/>
              <a:t>后答案的增量。设</a:t>
            </a:r>
            <a:r>
              <a:rPr lang="en-US" altLang="zh-CN" dirty="0" err="1"/>
              <a:t>i</a:t>
            </a:r>
            <a:r>
              <a:rPr lang="zh-CN" altLang="en-US" dirty="0"/>
              <a:t>左侧被选中的数有</a:t>
            </a:r>
            <a:r>
              <a:rPr lang="en-US" altLang="zh-CN" dirty="0"/>
              <a:t>k[</a:t>
            </a:r>
            <a:r>
              <a:rPr lang="en-US" altLang="zh-CN" dirty="0" err="1"/>
              <a:t>i</a:t>
            </a:r>
            <a:r>
              <a:rPr lang="en-US" altLang="zh-CN" dirty="0"/>
              <a:t>]-1</a:t>
            </a:r>
            <a:r>
              <a:rPr lang="zh-CN" altLang="en-US" dirty="0"/>
              <a:t>个，</a:t>
            </a:r>
            <a:r>
              <a:rPr lang="en-US" altLang="zh-CN" dirty="0" err="1"/>
              <a:t>i</a:t>
            </a:r>
            <a:r>
              <a:rPr lang="zh-CN" altLang="en-US" dirty="0"/>
              <a:t>右侧被选中的数总和为</a:t>
            </a:r>
            <a:r>
              <a:rPr lang="en-US" altLang="zh-CN" dirty="0" err="1"/>
              <a:t>suf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],</a:t>
            </a:r>
            <a:r>
              <a:rPr lang="zh-CN" altLang="en-US" dirty="0"/>
              <a:t>则</a:t>
            </a:r>
            <a:r>
              <a:rPr lang="en-US" altLang="zh-CN" dirty="0"/>
              <a:t>Q[</a:t>
            </a:r>
            <a:r>
              <a:rPr lang="en-US" altLang="zh-CN" dirty="0" err="1"/>
              <a:t>i</a:t>
            </a:r>
            <a:r>
              <a:rPr lang="en-US" altLang="zh-CN" dirty="0"/>
              <a:t>]=k[</a:t>
            </a:r>
            <a:r>
              <a:rPr lang="en-US" altLang="zh-CN" dirty="0" err="1"/>
              <a:t>i</a:t>
            </a:r>
            <a:r>
              <a:rPr lang="en-US" altLang="zh-CN" dirty="0"/>
              <a:t>]a[</a:t>
            </a:r>
            <a:r>
              <a:rPr lang="en-US" altLang="zh-CN" dirty="0" err="1"/>
              <a:t>i</a:t>
            </a:r>
            <a:r>
              <a:rPr lang="en-US" altLang="zh-CN" dirty="0"/>
              <a:t>]+</a:t>
            </a:r>
            <a:r>
              <a:rPr lang="en-US" altLang="zh-CN" dirty="0" err="1"/>
              <a:t>suf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。考虑一个贪心，从空序列开始，每次选择</a:t>
            </a:r>
            <a:r>
              <a:rPr lang="en-US" altLang="zh-CN" dirty="0"/>
              <a:t>Q[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最大的元素加入序列</a:t>
            </a:r>
            <a:r>
              <a:rPr lang="en-US" altLang="zh-CN" dirty="0"/>
              <a:t>b</a:t>
            </a:r>
            <a:r>
              <a:rPr lang="zh-CN" altLang="en-US" dirty="0"/>
              <a:t>，整个过程得到的答案最大值即为答案。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87FE10-355B-436A-B046-E13F196C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88390"/>
            <a:ext cx="10160296" cy="225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62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3EF01-AA98-4F1A-AF75-62158380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CF573E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756CCEF-1D03-4648-9D55-984E92205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005" y="1325461"/>
            <a:ext cx="8372213" cy="5259897"/>
          </a:xfrm>
        </p:spPr>
      </p:pic>
    </p:spTree>
    <p:extLst>
      <p:ext uri="{BB962C8B-B14F-4D97-AF65-F5344CB8AC3E}">
        <p14:creationId xmlns:p14="http://schemas.microsoft.com/office/powerpoint/2010/main" val="1018527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D036D-E9B2-4FF1-AAE7-4B023792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CF573E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C12D4-F7F8-412C-9D97-DA6CB39D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具体实现中，我们需要实现一个数据结构支持前缀</a:t>
            </a:r>
            <a:r>
              <a:rPr lang="en-US" altLang="zh-CN" dirty="0"/>
              <a:t>+</a:t>
            </a:r>
            <a:r>
              <a:rPr lang="zh-CN" altLang="en-US" dirty="0"/>
              <a:t>常数，后缀</a:t>
            </a:r>
            <a:r>
              <a:rPr lang="en-US" altLang="zh-CN" dirty="0"/>
              <a:t>+a[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，求全局最大值。分块</a:t>
            </a:r>
            <a:r>
              <a:rPr lang="en-US" altLang="zh-CN" dirty="0"/>
              <a:t>+</a:t>
            </a:r>
            <a:r>
              <a:rPr lang="zh-CN" altLang="en-US" dirty="0"/>
              <a:t>凸包可以维护。</a:t>
            </a:r>
          </a:p>
        </p:txBody>
      </p:sp>
    </p:spTree>
    <p:extLst>
      <p:ext uri="{BB962C8B-B14F-4D97-AF65-F5344CB8AC3E}">
        <p14:creationId xmlns:p14="http://schemas.microsoft.com/office/powerpoint/2010/main" val="3534738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A750A-C6DD-42F4-A3E1-26E200EA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 GYM 100299G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6A56D-FEFB-4540-9C46-87002D0F5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 你即将对一些重要的历史事件举办一系列的讲座。总共有</a:t>
            </a:r>
            <a:r>
              <a:rPr lang="en-US" altLang="zh-CN" dirty="0"/>
              <a:t>n</a:t>
            </a:r>
            <a:r>
              <a:rPr lang="zh-CN" altLang="en-US" dirty="0"/>
              <a:t>个事件，每个事件在历史上持续了一段时间</a:t>
            </a:r>
            <a:r>
              <a:rPr lang="en-US" altLang="zh-CN" dirty="0"/>
              <a:t>[</a:t>
            </a:r>
            <a:r>
              <a:rPr lang="en-US" altLang="zh-CN" dirty="0" err="1"/>
              <a:t>ai,bi</a:t>
            </a:r>
            <a:r>
              <a:rPr lang="en-US" altLang="zh-CN" dirty="0"/>
              <a:t>]</a:t>
            </a:r>
            <a:r>
              <a:rPr lang="zh-CN" altLang="en-US" dirty="0"/>
              <a:t>，你将对每个事件开展恰好一次讲座，顺序由你自己决定。称两个事件是相关的，当且仅当这两个事件的时间区间有公共点。把两个相关事件的讲座排在相近的位置是很方便的。同时，关于不相关事件的讲座应该按照事件发生的顺序进行（如果事件</a:t>
            </a:r>
            <a:r>
              <a:rPr lang="en-US" altLang="zh-CN" dirty="0"/>
              <a:t>A</a:t>
            </a:r>
            <a:r>
              <a:rPr lang="zh-CN" altLang="en-US" dirty="0"/>
              <a:t>在不相关事件</a:t>
            </a:r>
            <a:r>
              <a:rPr lang="en-US" altLang="zh-CN" dirty="0"/>
              <a:t>B</a:t>
            </a:r>
            <a:r>
              <a:rPr lang="zh-CN" altLang="en-US" dirty="0"/>
              <a:t>之前，则关于</a:t>
            </a:r>
            <a:r>
              <a:rPr lang="en-US" altLang="zh-CN" dirty="0"/>
              <a:t>A</a:t>
            </a:r>
            <a:r>
              <a:rPr lang="zh-CN" altLang="en-US" dirty="0"/>
              <a:t>的讲座应在关于</a:t>
            </a:r>
            <a:r>
              <a:rPr lang="en-US" altLang="zh-CN" dirty="0"/>
              <a:t>B</a:t>
            </a:r>
            <a:r>
              <a:rPr lang="zh-CN" altLang="en-US" dirty="0"/>
              <a:t>的讲座之前）。</a:t>
            </a:r>
            <a:endParaRPr lang="en-US" altLang="zh-CN" dirty="0"/>
          </a:p>
          <a:p>
            <a:r>
              <a:rPr lang="zh-CN" altLang="en-US" dirty="0"/>
              <a:t>请找到最小的非负整数</a:t>
            </a:r>
            <a:r>
              <a:rPr lang="en-US" altLang="zh-CN" dirty="0"/>
              <a:t>k</a:t>
            </a:r>
            <a:r>
              <a:rPr lang="zh-CN" altLang="en-US" dirty="0"/>
              <a:t>，使得存在某种合法的讲座顺序，满足：任何两个相关事件的讲座的距离不超过</a:t>
            </a:r>
            <a:r>
              <a:rPr lang="en-US" altLang="zh-CN" dirty="0"/>
              <a:t>k</a:t>
            </a:r>
            <a:r>
              <a:rPr lang="zh-CN" altLang="en-US" dirty="0"/>
              <a:t>（排在第</a:t>
            </a:r>
            <a:r>
              <a:rPr lang="en-US" altLang="zh-CN" dirty="0" err="1"/>
              <a:t>i</a:t>
            </a:r>
            <a:r>
              <a:rPr lang="zh-CN" altLang="en-US" dirty="0"/>
              <a:t>个和第</a:t>
            </a:r>
            <a:r>
              <a:rPr lang="en-US" altLang="zh-CN" dirty="0"/>
              <a:t>j</a:t>
            </a:r>
            <a:r>
              <a:rPr lang="zh-CN" altLang="en-US" dirty="0"/>
              <a:t>个的讲座之间的距离为</a:t>
            </a:r>
            <a:r>
              <a:rPr lang="en-US" altLang="zh-CN" dirty="0"/>
              <a:t>|</a:t>
            </a:r>
            <a:r>
              <a:rPr lang="en-US" altLang="zh-CN" dirty="0" err="1"/>
              <a:t>i</a:t>
            </a:r>
            <a:r>
              <a:rPr lang="en-US" altLang="zh-CN" dirty="0"/>
              <a:t>−j|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en-US" altLang="zh-CN" dirty="0"/>
              <a:t>n&lt;=10^5</a:t>
            </a:r>
          </a:p>
        </p:txBody>
      </p:sp>
    </p:spTree>
    <p:extLst>
      <p:ext uri="{BB962C8B-B14F-4D97-AF65-F5344CB8AC3E}">
        <p14:creationId xmlns:p14="http://schemas.microsoft.com/office/powerpoint/2010/main" val="3767414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9C8A1-35B8-4DC9-974D-06D0D67A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 GYM 100299G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B24D2E-7179-47E8-AC5C-36615E4F8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对于最小化最大值，先考虑二分。因此问题转化为是否存在一种排列满足 </a:t>
            </a:r>
            <a:r>
              <a:rPr lang="en-US" altLang="zh-CN" dirty="0"/>
              <a:t>(</a:t>
            </a:r>
            <a:r>
              <a:rPr lang="zh-CN" altLang="en-US" dirty="0"/>
              <a:t>在题目条件下</a:t>
            </a:r>
            <a:r>
              <a:rPr lang="en-US" altLang="zh-CN" dirty="0"/>
              <a:t>) </a:t>
            </a:r>
            <a:r>
              <a:rPr lang="zh-CN" altLang="en-US" dirty="0"/>
              <a:t>对于 </a:t>
            </a:r>
            <a:r>
              <a:rPr lang="en-US" altLang="zh-CN" dirty="0"/>
              <a:t>I[</a:t>
            </a:r>
            <a:r>
              <a:rPr lang="en-US" altLang="zh-CN" dirty="0" err="1"/>
              <a:t>i</a:t>
            </a:r>
            <a:r>
              <a:rPr lang="en-US" altLang="zh-CN" dirty="0"/>
              <a:t>]∩I[j]≠∅ </a:t>
            </a:r>
            <a:r>
              <a:rPr lang="zh-CN" altLang="en-US" dirty="0"/>
              <a:t>均有 </a:t>
            </a:r>
            <a:r>
              <a:rPr lang="en-US" altLang="zh-CN" dirty="0"/>
              <a:t>|</a:t>
            </a:r>
            <a:r>
              <a:rPr lang="en-US" altLang="zh-CN" dirty="0" err="1"/>
              <a:t>i</a:t>
            </a:r>
            <a:r>
              <a:rPr lang="en-US" altLang="zh-CN" dirty="0"/>
              <a:t>−j|≤d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考虑将区间按照左端点升序排序，按顺序依次决定排列中每个位置放哪个区间，每放一个区间我们保证不存在严格在其前面且还未被放置的区间。如果我们已经确定了前 </a:t>
            </a:r>
            <a:r>
              <a:rPr lang="en-US" altLang="zh-CN" dirty="0"/>
              <a:t>k </a:t>
            </a:r>
            <a:r>
              <a:rPr lang="zh-CN" altLang="en-US" dirty="0"/>
              <a:t>个区间，那么根据条件，对于剩下的每个区间，设前 </a:t>
            </a:r>
            <a:r>
              <a:rPr lang="en-US" altLang="zh-CN" dirty="0"/>
              <a:t>k </a:t>
            </a:r>
            <a:r>
              <a:rPr lang="zh-CN" altLang="en-US" dirty="0"/>
              <a:t>个区间中与其相交的区间最早的是第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个，则它的位置就不应超过 </a:t>
            </a:r>
            <a:r>
              <a:rPr lang="en-US" altLang="zh-CN" dirty="0" err="1"/>
              <a:t>i+d</a:t>
            </a:r>
            <a:r>
              <a:rPr lang="zh-CN" altLang="en-US" dirty="0"/>
              <a:t>。设只考虑这个条件得到的第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个区间的位置上限为 </a:t>
            </a:r>
            <a:r>
              <a:rPr lang="en-US" altLang="zh-CN" dirty="0"/>
              <a:t>sup[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考虑第</a:t>
            </a:r>
            <a:r>
              <a:rPr lang="en-US" altLang="zh-CN" dirty="0"/>
              <a:t>k+1</a:t>
            </a:r>
            <a:r>
              <a:rPr lang="zh-CN" altLang="en-US" dirty="0"/>
              <a:t>个区间放什么。首先，重标号剩下的区间，设为 </a:t>
            </a:r>
            <a:r>
              <a:rPr lang="en-US" altLang="zh-CN" dirty="0">
                <a:effectLst/>
              </a:rPr>
              <a:t>1∼n-k</a:t>
            </a:r>
            <a:r>
              <a:rPr lang="zh-CN" altLang="en-US" dirty="0"/>
              <a:t>。根据题目条件，</a:t>
            </a:r>
            <a:r>
              <a:rPr lang="en-US" altLang="zh-CN" dirty="0"/>
              <a:t>sup[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是不降的。若对于某个剩下的区间</a:t>
            </a:r>
            <a:r>
              <a:rPr lang="en-US" altLang="zh-CN" dirty="0" err="1"/>
              <a:t>i</a:t>
            </a:r>
            <a:r>
              <a:rPr lang="zh-CN" altLang="en-US" dirty="0"/>
              <a:t>有</a:t>
            </a:r>
            <a:r>
              <a:rPr lang="en-US" altLang="zh-CN" dirty="0"/>
              <a:t>sup[</a:t>
            </a:r>
            <a:r>
              <a:rPr lang="en-US" altLang="zh-CN" dirty="0" err="1"/>
              <a:t>i</a:t>
            </a:r>
            <a:r>
              <a:rPr lang="en-US" altLang="zh-CN" dirty="0"/>
              <a:t>]&lt;</a:t>
            </a:r>
            <a:r>
              <a:rPr lang="en-US" altLang="zh-CN" dirty="0" err="1"/>
              <a:t>i</a:t>
            </a:r>
            <a:r>
              <a:rPr lang="zh-CN" altLang="en-US" dirty="0"/>
              <a:t>，则显然不合法。</a:t>
            </a:r>
          </a:p>
        </p:txBody>
      </p:sp>
    </p:spTree>
    <p:extLst>
      <p:ext uri="{BB962C8B-B14F-4D97-AF65-F5344CB8AC3E}">
        <p14:creationId xmlns:p14="http://schemas.microsoft.com/office/powerpoint/2010/main" val="2478826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8E9C1-DA86-4098-9364-2604CF44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 GYM 100299G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50DA1-1A0F-4375-80EC-D3D2FD6F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否则，考虑最小的</a:t>
            </a:r>
            <a:r>
              <a:rPr lang="en-US" altLang="zh-CN" dirty="0"/>
              <a:t>t</a:t>
            </a:r>
            <a:r>
              <a:rPr lang="zh-CN" altLang="en-US" dirty="0"/>
              <a:t>满足</a:t>
            </a:r>
            <a:r>
              <a:rPr lang="en-US" altLang="zh-CN" dirty="0"/>
              <a:t>sup[t]=t</a:t>
            </a:r>
            <a:r>
              <a:rPr lang="zh-CN" altLang="en-US" dirty="0"/>
              <a:t>，那么第</a:t>
            </a:r>
            <a:r>
              <a:rPr lang="en-US" altLang="zh-CN" dirty="0"/>
              <a:t>k+1</a:t>
            </a:r>
            <a:r>
              <a:rPr lang="zh-CN" altLang="en-US" dirty="0"/>
              <a:t>个位置只能在前</a:t>
            </a:r>
            <a:r>
              <a:rPr lang="en-US" altLang="zh-CN" dirty="0"/>
              <a:t>t</a:t>
            </a:r>
            <a:r>
              <a:rPr lang="zh-CN" altLang="en-US" dirty="0"/>
              <a:t>个区间中选。在此基础上，我们希望选出的区间合法，且最小化其对后续</a:t>
            </a:r>
            <a:r>
              <a:rPr lang="en-US" altLang="zh-CN" dirty="0"/>
              <a:t>sup</a:t>
            </a:r>
            <a:r>
              <a:rPr lang="zh-CN" altLang="en-US" dirty="0"/>
              <a:t>的限制。因此，可以贪心地考虑选择其中右端点最小的区间，设该区间为</a:t>
            </a:r>
            <a:r>
              <a:rPr lang="en-US" altLang="zh-CN" dirty="0"/>
              <a:t>I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证明：合法性显然满足，若不合法，则</a:t>
            </a:r>
            <a:r>
              <a:rPr lang="en-US" altLang="zh-CN" dirty="0"/>
              <a:t>I</a:t>
            </a:r>
            <a:r>
              <a:rPr lang="zh-CN" altLang="en-US" dirty="0"/>
              <a:t>不是右端点最小的区间。</a:t>
            </a:r>
            <a:endParaRPr lang="en-US" altLang="zh-CN" dirty="0"/>
          </a:p>
          <a:p>
            <a:r>
              <a:rPr lang="zh-CN" altLang="en-US" dirty="0"/>
              <a:t>假设当前位置是</a:t>
            </a:r>
            <a:r>
              <a:rPr lang="en-US" altLang="zh-CN" dirty="0"/>
              <a:t>p</a:t>
            </a:r>
            <a:r>
              <a:rPr lang="zh-CN" altLang="en-US" dirty="0"/>
              <a:t>，存在一组解使得</a:t>
            </a:r>
            <a:r>
              <a:rPr lang="en-US" altLang="zh-CN" dirty="0"/>
              <a:t>I</a:t>
            </a:r>
            <a:r>
              <a:rPr lang="zh-CN" altLang="en-US" dirty="0"/>
              <a:t>放在位置</a:t>
            </a:r>
            <a:r>
              <a:rPr lang="en-US" altLang="zh-CN" dirty="0"/>
              <a:t>q</a:t>
            </a:r>
            <a:r>
              <a:rPr lang="zh-CN" altLang="en-US" dirty="0"/>
              <a:t>。那么，</a:t>
            </a:r>
            <a:r>
              <a:rPr lang="en-US" altLang="zh-CN" dirty="0"/>
              <a:t>[</a:t>
            </a:r>
            <a:r>
              <a:rPr lang="en-US" altLang="zh-CN" dirty="0" err="1"/>
              <a:t>p,q</a:t>
            </a:r>
            <a:r>
              <a:rPr lang="en-US" altLang="zh-CN" dirty="0"/>
              <a:t>]</a:t>
            </a:r>
            <a:r>
              <a:rPr lang="zh-CN" altLang="en-US" dirty="0"/>
              <a:t>位置上的区间两两有交，因为它们都包含</a:t>
            </a:r>
            <a:r>
              <a:rPr lang="en-US" altLang="zh-CN" dirty="0"/>
              <a:t>I</a:t>
            </a:r>
            <a:r>
              <a:rPr lang="zh-CN" altLang="en-US" dirty="0"/>
              <a:t>的右端点。</a:t>
            </a:r>
            <a:endParaRPr lang="en-US" altLang="zh-CN" dirty="0"/>
          </a:p>
          <a:p>
            <a:r>
              <a:rPr lang="zh-CN" altLang="en-US" dirty="0"/>
              <a:t>另一方面，一定存在</a:t>
            </a:r>
            <a:r>
              <a:rPr lang="en-US" altLang="zh-CN" dirty="0" err="1"/>
              <a:t>i</a:t>
            </a:r>
            <a:r>
              <a:rPr lang="zh-CN" altLang="en-US" dirty="0">
                <a:effectLst/>
              </a:rPr>
              <a:t>∈</a:t>
            </a:r>
            <a:r>
              <a:rPr lang="en-US" altLang="zh-CN" dirty="0">
                <a:effectLst/>
              </a:rPr>
              <a:t>[</a:t>
            </a:r>
            <a:r>
              <a:rPr lang="en-US" altLang="zh-CN" dirty="0" err="1">
                <a:effectLst/>
              </a:rPr>
              <a:t>p,q</a:t>
            </a:r>
            <a:r>
              <a:rPr lang="en-US" altLang="zh-CN" dirty="0"/>
              <a:t>)</a:t>
            </a:r>
            <a:r>
              <a:rPr lang="zh-CN" altLang="en-US" dirty="0"/>
              <a:t>满足位置</a:t>
            </a:r>
            <a:r>
              <a:rPr lang="en-US" altLang="zh-CN" dirty="0" err="1"/>
              <a:t>i</a:t>
            </a:r>
            <a:r>
              <a:rPr lang="zh-CN" altLang="en-US" dirty="0"/>
              <a:t>的区间的</a:t>
            </a:r>
            <a:r>
              <a:rPr lang="en-US" altLang="zh-CN" dirty="0"/>
              <a:t>sup</a:t>
            </a:r>
            <a:r>
              <a:rPr lang="zh-CN" altLang="en-US" dirty="0"/>
              <a:t>值</a:t>
            </a:r>
            <a:r>
              <a:rPr lang="en-US" altLang="zh-CN" dirty="0"/>
              <a:t>&gt;=q</a:t>
            </a:r>
            <a:r>
              <a:rPr lang="zh-CN" altLang="en-US" dirty="0"/>
              <a:t>，否则</a:t>
            </a:r>
            <a:r>
              <a:rPr lang="en-US" altLang="zh-CN" dirty="0"/>
              <a:t>t</a:t>
            </a:r>
            <a:r>
              <a:rPr lang="zh-CN" altLang="en-US" dirty="0"/>
              <a:t>不是最小的。</a:t>
            </a:r>
            <a:endParaRPr lang="en-US" altLang="zh-CN" dirty="0"/>
          </a:p>
          <a:p>
            <a:r>
              <a:rPr lang="zh-CN" altLang="en-US" dirty="0"/>
              <a:t>那么，我们可以将</a:t>
            </a:r>
            <a:r>
              <a:rPr lang="en-US" altLang="zh-CN" dirty="0"/>
              <a:t>I</a:t>
            </a:r>
            <a:r>
              <a:rPr lang="zh-CN" altLang="en-US" dirty="0"/>
              <a:t>与位置</a:t>
            </a:r>
            <a:r>
              <a:rPr lang="en-US" altLang="zh-CN" dirty="0" err="1"/>
              <a:t>i</a:t>
            </a:r>
            <a:r>
              <a:rPr lang="zh-CN" altLang="en-US" dirty="0"/>
              <a:t>的区间交换。因为两两有交，交换后仍然合法。且因为将右端点更小的区间换到前面去，后续区间的</a:t>
            </a:r>
            <a:r>
              <a:rPr lang="en-US" altLang="zh-CN" dirty="0"/>
              <a:t>sup</a:t>
            </a:r>
            <a:r>
              <a:rPr lang="zh-CN" altLang="en-US" dirty="0"/>
              <a:t>值也不会增加。</a:t>
            </a:r>
            <a:endParaRPr lang="en-US" altLang="zh-CN" dirty="0"/>
          </a:p>
          <a:p>
            <a:r>
              <a:rPr lang="zh-CN" altLang="en-US" dirty="0"/>
              <a:t>具体实现可以用线段树维护在剩下的区间中，对于每个 </a:t>
            </a:r>
            <a:r>
              <a:rPr lang="en-US" altLang="zh-CN" dirty="0"/>
              <a:t>t</a:t>
            </a:r>
            <a:r>
              <a:rPr lang="zh-CN" altLang="en-US" dirty="0"/>
              <a:t>有多少个 </a:t>
            </a:r>
            <a:r>
              <a:rPr lang="en-US" altLang="zh-CN" dirty="0"/>
              <a:t>sup[</a:t>
            </a:r>
            <a:r>
              <a:rPr lang="en-US" altLang="zh-CN" dirty="0" err="1"/>
              <a:t>i</a:t>
            </a:r>
            <a:r>
              <a:rPr lang="en-US" altLang="zh-CN" dirty="0"/>
              <a:t>]=t </a:t>
            </a:r>
            <a:r>
              <a:rPr lang="zh-CN" altLang="en-US" dirty="0"/>
              <a:t>的区间 </a:t>
            </a:r>
            <a:r>
              <a:rPr lang="en-US" altLang="zh-CN" dirty="0"/>
              <a:t>A[t]</a:t>
            </a:r>
            <a:r>
              <a:rPr lang="zh-CN" altLang="en-US" dirty="0"/>
              <a:t>，然后就可以在线段树上二分得到第一个 ∑</a:t>
            </a:r>
            <a:r>
              <a:rPr lang="en-US" altLang="zh-CN" dirty="0"/>
              <a:t> A[t] ≤t </a:t>
            </a:r>
            <a:r>
              <a:rPr lang="zh-CN" altLang="en-US" dirty="0"/>
              <a:t>的位置，寻找区间 </a:t>
            </a:r>
            <a:r>
              <a:rPr lang="en-US" altLang="zh-CN" dirty="0"/>
              <a:t>I </a:t>
            </a:r>
            <a:r>
              <a:rPr lang="zh-CN" altLang="en-US" dirty="0"/>
              <a:t>也可以转化为一次线段树上的最值查找。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193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4226</Words>
  <Application>Microsoft Office PowerPoint</Application>
  <PresentationFormat>宽屏</PresentationFormat>
  <Paragraphs>167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7" baseType="lpstr">
      <vt:lpstr>等线</vt:lpstr>
      <vt:lpstr>等线 Light</vt:lpstr>
      <vt:lpstr>Arial</vt:lpstr>
      <vt:lpstr>Cambria Math</vt:lpstr>
      <vt:lpstr>Wingdings</vt:lpstr>
      <vt:lpstr>Office 主题​​</vt:lpstr>
      <vt:lpstr>基础算法</vt:lpstr>
      <vt:lpstr>贪心</vt:lpstr>
      <vt:lpstr>贪心</vt:lpstr>
      <vt:lpstr>贪心</vt:lpstr>
      <vt:lpstr>Noip2012 国王游戏</vt:lpstr>
      <vt:lpstr>AGC023F</vt:lpstr>
      <vt:lpstr>AGC023F</vt:lpstr>
      <vt:lpstr>二分</vt:lpstr>
      <vt:lpstr>CF1148F</vt:lpstr>
      <vt:lpstr>CF1148F</vt:lpstr>
      <vt:lpstr>倍增</vt:lpstr>
      <vt:lpstr>CF1142B</vt:lpstr>
      <vt:lpstr>CF1142B</vt:lpstr>
      <vt:lpstr>CTT2019 D1T2</vt:lpstr>
      <vt:lpstr>CTT2019 D1T2</vt:lpstr>
      <vt:lpstr>分治</vt:lpstr>
      <vt:lpstr>[ZJOI2016]旅行者</vt:lpstr>
      <vt:lpstr>[ZJOI2016]旅行者</vt:lpstr>
      <vt:lpstr>题目选讲</vt:lpstr>
      <vt:lpstr>No source</vt:lpstr>
      <vt:lpstr>No source</vt:lpstr>
      <vt:lpstr>BZOJ4237</vt:lpstr>
      <vt:lpstr>BZOJ4237</vt:lpstr>
      <vt:lpstr>CF1103B</vt:lpstr>
      <vt:lpstr>CF1103B</vt:lpstr>
      <vt:lpstr>CF626G</vt:lpstr>
      <vt:lpstr>CF626G</vt:lpstr>
      <vt:lpstr>No source</vt:lpstr>
      <vt:lpstr>No source</vt:lpstr>
      <vt:lpstr>Luogu 4747</vt:lpstr>
      <vt:lpstr>Luogu 4747</vt:lpstr>
      <vt:lpstr>CF GYM 101221G</vt:lpstr>
      <vt:lpstr>CF GYM 101221G</vt:lpstr>
      <vt:lpstr>CF GYM 101221G</vt:lpstr>
      <vt:lpstr>CF573E</vt:lpstr>
      <vt:lpstr>CF573E</vt:lpstr>
      <vt:lpstr>CF573E</vt:lpstr>
      <vt:lpstr>CF573E</vt:lpstr>
      <vt:lpstr>CF GYM 100299G</vt:lpstr>
      <vt:lpstr>CF GYM 100299G</vt:lpstr>
      <vt:lpstr>CF GYM 100299G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基础算法</dc:title>
  <dc:creator>X2 Fury</dc:creator>
  <cp:lastModifiedBy>X2 Fury</cp:lastModifiedBy>
  <cp:revision>719</cp:revision>
  <dcterms:created xsi:type="dcterms:W3CDTF">2021-07-04T10:18:26Z</dcterms:created>
  <dcterms:modified xsi:type="dcterms:W3CDTF">2021-07-09T03:54:34Z</dcterms:modified>
</cp:coreProperties>
</file>