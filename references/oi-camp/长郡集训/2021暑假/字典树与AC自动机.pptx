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2AC06-5621-4B49-9073-ED3D29841415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6E990-CD4F-4BBE-8DD6-CADA4D3EA5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76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F93098-55F1-48B9-912D-19A895ED4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E81433-566C-49B0-B734-BD7ABC93E3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C924E0-8689-4C76-A781-5AA7A9B9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9F25D9-5EBD-4930-AF91-CE0E2DBE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0891" y="6356349"/>
            <a:ext cx="4114800" cy="365125"/>
          </a:xfrm>
        </p:spPr>
        <p:txBody>
          <a:bodyPr/>
          <a:lstStyle>
            <a:lvl1pPr>
              <a:defRPr sz="2400" b="1">
                <a:solidFill>
                  <a:srgbClr val="00B0F0"/>
                </a:solidFill>
                <a:latin typeface="FangSong" panose="02010609060101010101" pitchFamily="49" charset="-122"/>
                <a:ea typeface="FangSong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5D9A92-36F1-46A8-8CAA-5687F82A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72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F9E08-60FC-4E41-95E6-D295656A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416B11-47D3-4760-AD52-16180EFFB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EAFB21-BE25-4A75-B443-BB28928A4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BBC1B6-813E-426E-9BD6-7C314D54D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4B7963-CB74-4485-AA01-22F8FF557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675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48BF2-EC64-4DE2-B029-EEE3C2DBF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80DF37-8AB9-4C53-B692-46C99E2A2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7FF59C-EBDE-40DB-9FCC-B851B609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B87386-583E-4898-8B65-0173897EE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BA4DC2-3C28-487E-AF6B-6656580F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57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79273-B4F9-4D80-BF88-CB710EBF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0B524-CB7A-4171-87C0-EDD0BA880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8740A3-EBF0-48A9-93F9-5530A1E8D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0F2571-9FB7-424E-990C-B6EFF114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D0C3EF-BD5D-448A-9860-6017010A8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27A6E0-CD13-412F-AD82-A1B3A9FD0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32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2E535-978C-4F03-B171-CF4903E6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AEB35F-4C76-4449-86D2-B14E4EC56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9D4D5C-207B-4EE5-B41D-24C2D4A74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7707D1-D008-4D6A-930C-D8AC26AE9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DBE5DD-9444-4444-8D1B-B79F0FAA9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916FB2-1C0B-40F5-9B4D-2E6BA2B12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554A9E6-8620-4103-80D1-0771456EF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B1590B-7DA2-417E-AD33-B97705AD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284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128EC-CDB3-417C-8053-7AA2DF6FB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032555E-5E05-4A41-8D95-18DB7BBA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DB930F-D304-4EAF-BBE4-8DD2E0AE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9ED9BC-75C1-4047-8B31-30CC870F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018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1951D60-BE8A-443C-9D06-180D87B4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A52ADF-1531-4D0B-B8F6-700761937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C3293D-008A-41E0-B082-F410BF94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05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56B68-BAD0-4330-BF17-29566574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DA1CFF-2123-46B7-BAE2-CCDEA6F19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2B096E-E566-40EA-B3B4-5C8622FA4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BD3024-6DF5-4687-8B06-35CEBA21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F9B030-D9E4-4D75-8447-E187C5171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03B935-E43A-4FA3-A2E5-85C46759E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76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1B274-F786-4767-9F5B-D0AFDB40B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92E611F-24A4-479E-A7C4-ECA01C2CF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2A39AD-3BE8-4036-9577-3E4114D0A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6DB1D0-96E6-455D-888A-2A15B2840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4EA8A5-7DEC-4BEF-BD98-3E3F6C82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CDF231-E735-4C00-9E01-A1D3FA7F7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03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7E2C02-4435-4CB9-B188-59AE8F959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16DEC9-1974-4C88-8734-50A014A4C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13C77-A24B-4331-95A9-58C949F3C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AE4CA3-6A0F-4B4A-B171-6847DFF0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7331B3-858F-4564-93F0-91C1BFB5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045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D09FD8D-D2E2-4A48-B982-E71DE0ED77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6B682F-45F5-4E30-8878-153EBADCB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F7A760-3B05-4D00-9D72-380E20965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4CF99-7949-49D9-9C3E-95AEECC7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DDFAB7-A080-42DC-86F7-67343A60D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388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C34165-58B7-44B8-A573-A69059FE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AD792E-D781-450D-97E7-A06CC8A04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977942-7C3D-474E-B75E-EC6C93FD0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397873-7356-482D-99E6-820AD095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EF0E5EB-ABDB-4470-98C5-8BDB181E27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2FFFE"/>
              </a:clrFrom>
              <a:clrTo>
                <a:srgbClr val="F2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56" y="365125"/>
            <a:ext cx="1577210" cy="15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00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BE8497-0D78-4A9F-8599-2F834F30E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D35C72-D3C8-4941-BB99-B24373AC3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1D7521-03DC-42C2-A1E3-51E45D2FA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FBDE27-F2C5-4B22-9782-70CC44D9A3BF}" type="datetimeFigureOut">
              <a:rPr lang="zh-CN" altLang="en-US" smtClean="0"/>
              <a:t>2021/7/8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0196E4-8556-45FD-9280-488727D3F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627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rgbClr val="00B0F0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A62EF4-CDED-4F52-B64C-143A67E2D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F094A-2F38-4661-AB23-9C5855BE110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0D2CE97-ABA2-44C1-8B6F-EBDD4D9EC67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clrChange>
              <a:clrFrom>
                <a:srgbClr val="FDFFFC"/>
              </a:clrFrom>
              <a:clrTo>
                <a:srgbClr val="FDFF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415" y="277625"/>
            <a:ext cx="1577210" cy="1548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CC3085-5D5C-4583-9FFA-8E1A88D2F9F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80" y="4227654"/>
            <a:ext cx="2626062" cy="263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94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5A01F-7DD6-4BA5-9D58-444F41B637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488" y="2402236"/>
            <a:ext cx="9144000" cy="1433191"/>
          </a:xfrm>
        </p:spPr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字典树与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AC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自动机</a:t>
            </a:r>
          </a:p>
        </p:txBody>
      </p:sp>
    </p:spTree>
    <p:extLst>
      <p:ext uri="{BB962C8B-B14F-4D97-AF65-F5344CB8AC3E}">
        <p14:creationId xmlns:p14="http://schemas.microsoft.com/office/powerpoint/2010/main" val="396553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EF17B0-1A4E-4ACA-9BFA-1380A4A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字典树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E6FF17-2952-424E-8E3D-90203081B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又名前缀树，单词查找树，</a:t>
            </a:r>
            <a:r>
              <a:rPr lang="en-US" altLang="zh-CN" dirty="0" err="1">
                <a:latin typeface="Consolas" panose="020B0609020204030204" pitchFamily="49" charset="0"/>
                <a:ea typeface="华文楷体" panose="02010600040101010101" pitchFamily="2" charset="-122"/>
              </a:rPr>
              <a:t>trie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树。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用于统计、排序、保存大量字符串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节约存储空间，查询效率高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字典树显然是一个树形结构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树也是一种图，字典树完全可以看成是一个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DFA(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有限状态自动机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7936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052E4-1227-489B-8767-81F3CAEF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字典树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286616-64A4-4C54-98F4-A29BF8D173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有</a:t>
                </a:r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N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个模式串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S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(</a:t>
                </a:r>
                <a:r>
                  <a:rPr lang="en-US" altLang="zh-CN" dirty="0" err="1">
                    <a:latin typeface="Consolas" panose="020B0609020204030204" pitchFamily="49" charset="0"/>
                    <a:ea typeface="华文楷体" panose="02010600040101010101" pitchFamily="2" charset="-122"/>
                  </a:rPr>
                  <a:t>i</a:t>
                </a:r>
                <a:r>
                  <a:rPr lang="en-US" altLang="zh-CN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=1,2…N)</a:t>
                </a:r>
                <a:r>
                  <a:rPr lang="zh-CN" altLang="en-US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来构建</a:t>
                </a:r>
                <a:r>
                  <a:rPr lang="en-US" altLang="zh-CN" dirty="0" err="1">
                    <a:latin typeface="Consolas" panose="020B0609020204030204" pitchFamily="49" charset="0"/>
                    <a:ea typeface="华文楷体" panose="02010600040101010101" pitchFamily="2" charset="-122"/>
                  </a:rPr>
                  <a:t>trie</a:t>
                </a:r>
                <a:endParaRPr lang="en-US" altLang="zh-CN" dirty="0">
                  <a:latin typeface="Consolas" panose="020B0609020204030204" pitchFamily="49" charset="0"/>
                  <a:ea typeface="华文楷体" panose="02010600040101010101" pitchFamily="2" charset="-122"/>
                </a:endParaRPr>
              </a:p>
              <a:p>
                <a:r>
                  <a:rPr lang="zh-CN" altLang="en-US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字典树上的根到字典树上任意节点构成的路径都对应某个模式串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S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的前缀</a:t>
                </a:r>
                <a:endParaRPr lang="en-US" altLang="zh-CN" dirty="0">
                  <a:latin typeface="Consolas" panose="020B0609020204030204" pitchFamily="49" charset="0"/>
                  <a:ea typeface="华文楷体" panose="02010600040101010101" pitchFamily="2" charset="-122"/>
                </a:endParaRPr>
              </a:p>
              <a:p>
                <a:r>
                  <a:rPr lang="zh-CN" altLang="en-US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自动机概念：</a:t>
                </a:r>
                <a:endParaRPr lang="en-US" altLang="zh-CN" dirty="0">
                  <a:latin typeface="Consolas" panose="020B0609020204030204" pitchFamily="49" charset="0"/>
                  <a:ea typeface="华文楷体" panose="02010600040101010101" pitchFamily="2" charset="-122"/>
                </a:endParaRPr>
              </a:p>
              <a:p>
                <a:pPr lvl="2"/>
                <a:r>
                  <a:rPr lang="zh-CN" altLang="en-US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状态：</a:t>
                </a:r>
                <a:r>
                  <a:rPr lang="zh-CN" altLang="en-US" dirty="0">
                    <a:solidFill>
                      <a:srgbClr val="FF0000"/>
                    </a:solidFill>
                    <a:latin typeface="Consolas" panose="020B0609020204030204" pitchFamily="49" charset="0"/>
                    <a:ea typeface="华文楷体" panose="02010600040101010101" pitchFamily="2" charset="-122"/>
                  </a:rPr>
                  <a:t>将字典树的任何一个结点都看作一个状态，对应某个模式串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S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的前缀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2"/>
                <a:r>
                  <a:rPr lang="zh-CN" altLang="en-US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转移：</a:t>
                </a:r>
                <a:r>
                  <a:rPr lang="zh-CN" altLang="en-US" dirty="0">
                    <a:solidFill>
                      <a:srgbClr val="FF0000"/>
                    </a:solidFill>
                    <a:latin typeface="Consolas" panose="020B0609020204030204" pitchFamily="49" charset="0"/>
                    <a:ea typeface="华文楷体" panose="02010600040101010101" pitchFamily="2" charset="-122"/>
                  </a:rPr>
                  <a:t>任意一个状态添加一个字符得到新的状态</a:t>
                </a:r>
                <a:endParaRPr lang="en-US" altLang="zh-CN" dirty="0">
                  <a:solidFill>
                    <a:srgbClr val="FF0000"/>
                  </a:solidFill>
                  <a:latin typeface="Consolas" panose="020B0609020204030204" pitchFamily="49" charset="0"/>
                  <a:ea typeface="华文楷体" panose="02010600040101010101" pitchFamily="2" charset="-122"/>
                </a:endParaRPr>
              </a:p>
              <a:p>
                <a:pPr lvl="2"/>
                <a:r>
                  <a:rPr lang="zh-CN" altLang="en-US" dirty="0">
                    <a:latin typeface="Consolas" panose="020B0609020204030204" pitchFamily="49" charset="0"/>
                    <a:ea typeface="华文楷体" panose="02010600040101010101" pitchFamily="2" charset="-122"/>
                  </a:rPr>
                  <a:t>可识别：字符串能对应上字典树上的一个状态</a:t>
                </a:r>
                <a:endParaRPr lang="en-US" altLang="zh-CN" dirty="0">
                  <a:latin typeface="Consolas" panose="020B0609020204030204" pitchFamily="49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9286616-64A4-4C54-98F4-A29BF8D173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CE2F7242-4702-4E8A-8420-F6CBC3DED1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3121" y="2370354"/>
            <a:ext cx="4458879" cy="448764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1F9DBD4-CFB4-45B4-B10F-AF96E3F76C7F}"/>
              </a:ext>
            </a:extLst>
          </p:cNvPr>
          <p:cNvSpPr txBox="1"/>
          <p:nvPr/>
        </p:nvSpPr>
        <p:spPr>
          <a:xfrm>
            <a:off x="3007149" y="4934932"/>
            <a:ext cx="457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示例：构建一个字典树</a:t>
            </a:r>
            <a:endParaRPr lang="en-US" altLang="zh-CN" dirty="0"/>
          </a:p>
          <a:p>
            <a:r>
              <a:rPr lang="en-US" altLang="zh-CN" dirty="0" err="1">
                <a:latin typeface="Consolas" panose="020B0609020204030204" pitchFamily="49" charset="0"/>
              </a:rPr>
              <a:t>inn,int,tea,ten,to,in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261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FFD03-6CB8-488B-BA44-43F3A9BC1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字典树功能和基本操作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DEC196-3E11-4367-BC57-A716A1460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字典树为多模式串匹配提供了时间的优化的可能性（为</a:t>
            </a:r>
            <a:r>
              <a:rPr lang="en-US" altLang="zh-CN" dirty="0"/>
              <a:t>AC</a:t>
            </a:r>
            <a:r>
              <a:rPr lang="zh-CN" altLang="en-US" dirty="0"/>
              <a:t>自动机做铺垫）</a:t>
            </a:r>
            <a:endParaRPr lang="en-US" altLang="zh-CN" dirty="0"/>
          </a:p>
          <a:p>
            <a:r>
              <a:rPr lang="zh-CN" altLang="en-US" dirty="0"/>
              <a:t>字典树支持插入和查询操作</a:t>
            </a:r>
            <a:endParaRPr lang="en-US" altLang="zh-CN" dirty="0"/>
          </a:p>
          <a:p>
            <a:pPr lvl="1"/>
            <a:r>
              <a:rPr lang="zh-CN" altLang="en-US" dirty="0"/>
              <a:t>当查询时，我们将需要查询的字符串当成接受状态集，在字典树上执行普通自动机的</a:t>
            </a:r>
            <a:r>
              <a:rPr lang="en-US" altLang="zh-CN" dirty="0"/>
              <a:t>run</a:t>
            </a:r>
            <a:r>
              <a:rPr lang="zh-CN" altLang="en-US" dirty="0"/>
              <a:t>操作，能够到终态的是完整单词，否则不是。</a:t>
            </a:r>
            <a:endParaRPr lang="en-US" altLang="zh-CN" dirty="0"/>
          </a:p>
          <a:p>
            <a:pPr lvl="1"/>
            <a:r>
              <a:rPr lang="zh-CN" altLang="en-US" dirty="0"/>
              <a:t>插入操作与查询操作类似，也是在字典树上</a:t>
            </a:r>
            <a:r>
              <a:rPr lang="en-US" altLang="zh-CN" dirty="0"/>
              <a:t>run</a:t>
            </a:r>
            <a:r>
              <a:rPr lang="zh-CN" altLang="en-US" dirty="0"/>
              <a:t>。当</a:t>
            </a:r>
            <a:r>
              <a:rPr lang="en-US" altLang="zh-CN" dirty="0"/>
              <a:t>run</a:t>
            </a:r>
            <a:r>
              <a:rPr lang="zh-CN" altLang="en-US" dirty="0"/>
              <a:t>到没有对应状态时，新建一个状态。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712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62C4A-2317-4650-B2C0-1D872E0F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字典树代码示例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E3F351-83F9-4E74-B0D8-2EE19340F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661"/>
            <a:ext cx="10515600" cy="471030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struct Node{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int id;//s[id]</a:t>
            </a:r>
            <a:r>
              <a:rPr lang="zh-CN" altLang="en-US" sz="2400" dirty="0">
                <a:latin typeface="Consolas" panose="020B0609020204030204" pitchFamily="49" charset="0"/>
              </a:rPr>
              <a:t>的结尾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Node *</a:t>
            </a:r>
            <a:r>
              <a:rPr lang="en-US" altLang="zh-CN" sz="2400" dirty="0" err="1">
                <a:latin typeface="Consolas" panose="020B0609020204030204" pitchFamily="49" charset="0"/>
              </a:rPr>
              <a:t>nxt</a:t>
            </a:r>
            <a:r>
              <a:rPr lang="en-US" altLang="zh-CN" sz="2400" dirty="0">
                <a:latin typeface="Consolas" panose="020B0609020204030204" pitchFamily="49" charset="0"/>
              </a:rPr>
              <a:t>[26];//int Next[26]</a:t>
            </a:r>
            <a:r>
              <a:rPr lang="zh-CN" altLang="en-US" sz="2400" dirty="0">
                <a:latin typeface="Consolas" panose="020B0609020204030204" pitchFamily="49" charset="0"/>
              </a:rPr>
              <a:t>也可以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}tree[</a:t>
            </a:r>
            <a:r>
              <a:rPr lang="en-US" altLang="zh-CN" sz="2400" dirty="0" err="1">
                <a:latin typeface="Consolas" panose="020B0609020204030204" pitchFamily="49" charset="0"/>
              </a:rPr>
              <a:t>maxn</a:t>
            </a:r>
            <a:r>
              <a:rPr lang="en-US" altLang="zh-CN" sz="2400" dirty="0">
                <a:latin typeface="Consolas" panose="020B0609020204030204" pitchFamily="49" charset="0"/>
              </a:rPr>
              <a:t>],*rt;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Void insert(sting </a:t>
            </a:r>
            <a:r>
              <a:rPr lang="en-US" altLang="zh-CN" sz="2400" dirty="0" err="1">
                <a:latin typeface="Consolas" panose="020B0609020204030204" pitchFamily="49" charset="0"/>
              </a:rPr>
              <a:t>s,int</a:t>
            </a:r>
            <a:r>
              <a:rPr lang="en-US" altLang="zh-CN" sz="2400" dirty="0">
                <a:latin typeface="Consolas" panose="020B0609020204030204" pitchFamily="49" charset="0"/>
              </a:rPr>
              <a:t> id</a:t>
            </a:r>
            <a:r>
              <a:rPr lang="zh-CN" altLang="en-US" sz="2400" dirty="0">
                <a:latin typeface="Consolas" panose="020B0609020204030204" pitchFamily="49" charset="0"/>
              </a:rPr>
              <a:t>）</a:t>
            </a:r>
            <a:r>
              <a:rPr lang="en-US" altLang="zh-CN" sz="2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Node *p = rt;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int c;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for(int 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 = 0;i&lt;</a:t>
            </a:r>
            <a:r>
              <a:rPr lang="en-US" altLang="zh-CN" sz="2400" dirty="0" err="1">
                <a:latin typeface="Consolas" panose="020B0609020204030204" pitchFamily="49" charset="0"/>
              </a:rPr>
              <a:t>s.length</a:t>
            </a:r>
            <a:r>
              <a:rPr lang="en-US" altLang="zh-CN" sz="2400" dirty="0">
                <a:latin typeface="Consolas" panose="020B0609020204030204" pitchFamily="49" charset="0"/>
              </a:rPr>
              <a:t>();++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c = s[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] – ‘a’;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if(p-&gt;</a:t>
            </a:r>
            <a:r>
              <a:rPr lang="en-US" altLang="zh-CN" sz="2400" dirty="0" err="1">
                <a:latin typeface="Consolas" panose="020B0609020204030204" pitchFamily="49" charset="0"/>
              </a:rPr>
              <a:t>nxt</a:t>
            </a:r>
            <a:r>
              <a:rPr lang="en-US" altLang="zh-CN" sz="2400" dirty="0">
                <a:latin typeface="Consolas" panose="020B0609020204030204" pitchFamily="49" charset="0"/>
              </a:rPr>
              <a:t>[c] == NULL)p -&gt;</a:t>
            </a:r>
            <a:r>
              <a:rPr lang="en-US" altLang="zh-CN" sz="2400" dirty="0" err="1">
                <a:latin typeface="Consolas" panose="020B0609020204030204" pitchFamily="49" charset="0"/>
              </a:rPr>
              <a:t>nxt</a:t>
            </a:r>
            <a:r>
              <a:rPr lang="en-US" altLang="zh-CN" sz="2400" dirty="0">
                <a:latin typeface="Consolas" panose="020B0609020204030204" pitchFamily="49" charset="0"/>
              </a:rPr>
              <a:t>[c] = tree[++</a:t>
            </a:r>
            <a:r>
              <a:rPr lang="en-US" altLang="zh-CN" sz="2400" dirty="0" err="1">
                <a:latin typeface="Consolas" panose="020B0609020204030204" pitchFamily="49" charset="0"/>
              </a:rPr>
              <a:t>cnt</a:t>
            </a:r>
            <a:r>
              <a:rPr lang="en-US" altLang="zh-CN" sz="2400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p = p-&gt;</a:t>
            </a:r>
            <a:r>
              <a:rPr lang="en-US" altLang="zh-CN" sz="2400" dirty="0" err="1">
                <a:latin typeface="Consolas" panose="020B0609020204030204" pitchFamily="49" charset="0"/>
              </a:rPr>
              <a:t>nxt</a:t>
            </a:r>
            <a:r>
              <a:rPr lang="en-US" altLang="zh-CN" sz="2400" dirty="0">
                <a:latin typeface="Consolas" panose="020B0609020204030204" pitchFamily="49" charset="0"/>
              </a:rPr>
              <a:t>[c];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if(</a:t>
            </a:r>
            <a:r>
              <a:rPr lang="en-US" altLang="zh-CN" sz="2400" dirty="0" err="1">
                <a:latin typeface="Consolas" panose="020B0609020204030204" pitchFamily="49" charset="0"/>
              </a:rPr>
              <a:t>i</a:t>
            </a:r>
            <a:r>
              <a:rPr lang="en-US" altLang="zh-CN" sz="2400" dirty="0">
                <a:latin typeface="Consolas" panose="020B0609020204030204" pitchFamily="49" charset="0"/>
              </a:rPr>
              <a:t>==</a:t>
            </a:r>
            <a:r>
              <a:rPr lang="en-US" altLang="zh-CN" sz="2400" dirty="0" err="1">
                <a:latin typeface="Consolas" panose="020B0609020204030204" pitchFamily="49" charset="0"/>
              </a:rPr>
              <a:t>s.length</a:t>
            </a:r>
            <a:r>
              <a:rPr lang="en-US" altLang="zh-CN" sz="2400" dirty="0">
                <a:latin typeface="Consolas" panose="020B0609020204030204" pitchFamily="49" charset="0"/>
              </a:rPr>
              <a:t>())p-&gt;id = id;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15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412</Words>
  <Application>Microsoft Office PowerPoint</Application>
  <PresentationFormat>宽屏</PresentationFormat>
  <Paragraphs>36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FangSong</vt:lpstr>
      <vt:lpstr>等线</vt:lpstr>
      <vt:lpstr>等线 Light</vt:lpstr>
      <vt:lpstr>华文楷体</vt:lpstr>
      <vt:lpstr>Arial</vt:lpstr>
      <vt:lpstr>Cambria Math</vt:lpstr>
      <vt:lpstr>Consolas</vt:lpstr>
      <vt:lpstr>Office 主题​​</vt:lpstr>
      <vt:lpstr>字典树与AC自动机</vt:lpstr>
      <vt:lpstr>字典树</vt:lpstr>
      <vt:lpstr>字典树</vt:lpstr>
      <vt:lpstr>字典树功能和基本操作</vt:lpstr>
      <vt:lpstr>字典树代码示例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字典树与AC自动机</dc:title>
  <dc:creator>User</dc:creator>
  <cp:lastModifiedBy>兴宇 周</cp:lastModifiedBy>
  <cp:revision>16</cp:revision>
  <dcterms:created xsi:type="dcterms:W3CDTF">2021-07-04T11:24:20Z</dcterms:created>
  <dcterms:modified xsi:type="dcterms:W3CDTF">2021-07-08T14:25:30Z</dcterms:modified>
</cp:coreProperties>
</file>