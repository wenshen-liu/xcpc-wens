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93098-55F1-48B9-912D-19A895ED4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E81433-566C-49B0-B734-BD7ABC93E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C924E0-8689-4C76-A781-5AA7A9B9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9F25D9-5EBD-4930-AF91-CE0E2DBE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0891" y="6356349"/>
            <a:ext cx="4114800" cy="365125"/>
          </a:xfrm>
        </p:spPr>
        <p:txBody>
          <a:bodyPr/>
          <a:lstStyle>
            <a:lvl1pPr>
              <a:defRPr sz="2400" b="1">
                <a:solidFill>
                  <a:srgbClr val="00B0F0"/>
                </a:solidFill>
                <a:latin typeface="FangSong" panose="02010609060101010101" pitchFamily="49" charset="-122"/>
                <a:ea typeface="FangSong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5D9A92-36F1-46A8-8CAA-5687F82A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38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F9E08-60FC-4E41-95E6-D295656A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416B11-47D3-4760-AD52-16180EFFB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AFB21-BE25-4A75-B443-BB28928A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BC1B6-813E-426E-9BD6-7C314D54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4B7963-CB74-4485-AA01-22F8FF55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49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48BF2-EC64-4DE2-B029-EEE3C2DB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80DF37-8AB9-4C53-B692-46C99E2A2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7FF59C-EBDE-40DB-9FCC-B851B609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87386-583E-4898-8B65-0173897E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BA4DC2-3C28-487E-AF6B-6656580F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68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79273-B4F9-4D80-BF88-CB710EBF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0B524-CB7A-4171-87C0-EDD0BA880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8740A3-EBF0-48A9-93F9-5530A1E8D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0F2571-9FB7-424E-990C-B6EFF114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D0C3EF-BD5D-448A-9860-6017010A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7A6E0-CD13-412F-AD82-A1B3A9FD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99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2E535-978C-4F03-B171-CF4903E6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AEB35F-4C76-4449-86D2-B14E4EC56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9D4D5C-207B-4EE5-B41D-24C2D4A74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7707D1-D008-4D6A-930C-D8AC26AE9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DBE5DD-9444-4444-8D1B-B79F0FAA9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916FB2-1C0B-40F5-9B4D-2E6BA2B1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54A9E6-8620-4103-80D1-0771456E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B1590B-7DA2-417E-AD33-B97705AD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00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128EC-CDB3-417C-8053-7AA2DF6F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32555E-5E05-4A41-8D95-18DB7BBA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DB930F-D304-4EAF-BBE4-8DD2E0AE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9ED9BC-75C1-4047-8B31-30CC870F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67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951D60-BE8A-443C-9D06-180D87B4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A52ADF-1531-4D0B-B8F6-70076193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C3293D-008A-41E0-B082-F410BF94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1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56B68-BAD0-4330-BF17-29566574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A1CFF-2123-46B7-BAE2-CCDEA6F19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2B096E-E566-40EA-B3B4-5C8622FA4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BD3024-6DF5-4687-8B06-35CEBA21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F9B030-D9E4-4D75-8447-E187C5171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03B935-E43A-4FA3-A2E5-85C46759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995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1B274-F786-4767-9F5B-D0AFDB40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2E611F-24A4-479E-A7C4-ECA01C2CF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2A39AD-3BE8-4036-9577-3E4114D0A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6DB1D0-96E6-455D-888A-2A15B2840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4EA8A5-7DEC-4BEF-BD98-3E3F6C82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CDF231-E735-4C00-9E01-A1D3FA7F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21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E2C02-4435-4CB9-B188-59AE8F95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6DEC9-1974-4C88-8734-50A014A4C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13C77-A24B-4331-95A9-58C949F3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E4CA3-6A0F-4B4A-B171-6847DFF0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331B3-858F-4564-93F0-91C1BFB5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12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09FD8D-D2E2-4A48-B982-E71DE0ED7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6B682F-45F5-4E30-8878-153EBADCB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7A760-3B05-4D00-9D72-380E20965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4CF99-7949-49D9-9C3E-95AEECC7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DFAB7-A080-42DC-86F7-67343A60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14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4165-58B7-44B8-A573-A69059FE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AD792E-D781-450D-97E7-A06CC8A0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977942-7C3D-474E-B75E-EC6C93FD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397873-7356-482D-99E6-820AD095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F0E5EB-ABDB-4470-98C5-8BDB181E27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2FFFE"/>
              </a:clrFrom>
              <a:clrTo>
                <a:srgbClr val="F2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56" y="365125"/>
            <a:ext cx="1577210" cy="15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BE8497-0D78-4A9F-8599-2F834F30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D35C72-D3C8-4941-BB99-B24373AC3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D7521-03DC-42C2-A1E3-51E45D2FA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0196E4-8556-45FD-9280-488727D3F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2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rgbClr val="00B0F0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A62EF4-CDED-4F52-B64C-143A67E2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0D2CE97-ABA2-44C1-8B6F-EBDD4D9EC6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DFFFC"/>
              </a:clrFrom>
              <a:clrTo>
                <a:srgbClr val="FDFF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415" y="277625"/>
            <a:ext cx="1577210" cy="154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CC3085-5D5C-4583-9FFA-8E1A88D2F9F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0" y="4227654"/>
            <a:ext cx="2626062" cy="26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3ABA9-17A2-4CBB-86FF-13613D303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字符串哈希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794CB8-1AE1-410F-8016-2D8E07A6E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488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96FA1-C8FA-4AA1-80D6-619F5DCA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字符串哈希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4AA014-AB56-4B1F-900F-526A046C0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简单来说，字符串哈希是将字符串转化为一个整数。</a:t>
            </a:r>
            <a:endParaRPr lang="en-US" altLang="zh-CN" dirty="0"/>
          </a:p>
          <a:p>
            <a:r>
              <a:rPr lang="zh-CN" altLang="en-US" dirty="0"/>
              <a:t>为什么要转化？</a:t>
            </a:r>
            <a:endParaRPr lang="en-US" altLang="zh-CN" dirty="0"/>
          </a:p>
          <a:p>
            <a:pPr lvl="1"/>
            <a:r>
              <a:rPr lang="zh-CN" altLang="en-US" dirty="0"/>
              <a:t>因为整数比较是</a:t>
            </a:r>
            <a:r>
              <a:rPr lang="en-US" altLang="zh-CN" dirty="0">
                <a:latin typeface="Consolas" panose="020B0609020204030204" pitchFamily="49" charset="0"/>
              </a:rPr>
              <a:t>O(1)</a:t>
            </a:r>
            <a:r>
              <a:rPr lang="zh-CN" altLang="en-US" dirty="0"/>
              <a:t>的。</a:t>
            </a:r>
            <a:endParaRPr lang="en-US" altLang="zh-CN" dirty="0"/>
          </a:p>
          <a:p>
            <a:r>
              <a:rPr lang="zh-CN" altLang="en-US" dirty="0"/>
              <a:t>如何转化？</a:t>
            </a:r>
            <a:endParaRPr lang="en-US" altLang="zh-CN" dirty="0"/>
          </a:p>
          <a:p>
            <a:pPr lvl="1"/>
            <a:r>
              <a:rPr lang="zh-CN" altLang="en-US" dirty="0"/>
              <a:t>选一个比字符集大的数当成进制（例如只有小写字母时，可以规定</a:t>
            </a:r>
            <a:r>
              <a:rPr lang="en-US" altLang="zh-CN" dirty="0" err="1">
                <a:latin typeface="Consolas" panose="020B0609020204030204" pitchFamily="49" charset="0"/>
              </a:rPr>
              <a:t>idx</a:t>
            </a:r>
            <a:r>
              <a:rPr lang="en-US" altLang="zh-CN" dirty="0">
                <a:latin typeface="Consolas" panose="020B0609020204030204" pitchFamily="49" charset="0"/>
              </a:rPr>
              <a:t>(x) = x – ‘a’+1</a:t>
            </a:r>
            <a:r>
              <a:rPr lang="zh-CN" altLang="en-US" dirty="0">
                <a:latin typeface="Consolas" panose="020B0609020204030204" pitchFamily="49" charset="0"/>
              </a:rPr>
              <a:t>，也可以直接使用</a:t>
            </a:r>
            <a:r>
              <a:rPr lang="en-US" altLang="zh-CN" b="0" dirty="0">
                <a:solidFill>
                  <a:srgbClr val="4D4D4D"/>
                </a:solidFill>
                <a:effectLst/>
                <a:latin typeface="KaTeX_Math"/>
              </a:rPr>
              <a:t>ASCII</a:t>
            </a:r>
            <a:r>
              <a:rPr lang="zh-CN" altLang="en-US" dirty="0">
                <a:solidFill>
                  <a:srgbClr val="4D4D4D"/>
                </a:solidFill>
                <a:latin typeface="KaTeX_Math"/>
              </a:rPr>
              <a:t>码，这时选择进制数大于</a:t>
            </a:r>
            <a:r>
              <a:rPr lang="en-US" altLang="zh-CN" dirty="0">
                <a:solidFill>
                  <a:srgbClr val="4D4D4D"/>
                </a:solidFill>
                <a:latin typeface="KaTeX_Math"/>
              </a:rPr>
              <a:t>26</a:t>
            </a:r>
            <a:r>
              <a:rPr lang="zh-CN" altLang="en-US" dirty="0">
                <a:solidFill>
                  <a:srgbClr val="4D4D4D"/>
                </a:solidFill>
                <a:latin typeface="KaTeX_Math"/>
              </a:rPr>
              <a:t>或者</a:t>
            </a:r>
            <a:r>
              <a:rPr lang="en-US" altLang="zh-CN" dirty="0">
                <a:solidFill>
                  <a:srgbClr val="4D4D4D"/>
                </a:solidFill>
                <a:latin typeface="KaTeX_Math"/>
              </a:rPr>
              <a:t>122</a:t>
            </a:r>
            <a:r>
              <a:rPr lang="zh-CN" altLang="en-US" dirty="0">
                <a:solidFill>
                  <a:srgbClr val="4D4D4D"/>
                </a:solidFill>
                <a:latin typeface="KaTeX_Math"/>
              </a:rPr>
              <a:t>即可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544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7A84B-8026-42BE-AB2D-A3DE99CF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几种哈希方法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903ABB-C735-4313-8E2A-CC67A626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自然溢出方法</a:t>
            </a:r>
            <a:endParaRPr lang="en-US" altLang="zh-CN" dirty="0"/>
          </a:p>
          <a:p>
            <a:pPr lvl="1"/>
            <a:r>
              <a:rPr lang="zh-CN" altLang="en-US" dirty="0"/>
              <a:t>相当于对存储的最大整数取模</a:t>
            </a:r>
            <a:endParaRPr lang="en-US" altLang="zh-CN" dirty="0"/>
          </a:p>
          <a:p>
            <a:r>
              <a:rPr lang="zh-CN" altLang="en-US" dirty="0"/>
              <a:t>单哈希方法</a:t>
            </a:r>
            <a:endParaRPr lang="en-US" altLang="zh-CN" dirty="0"/>
          </a:p>
          <a:p>
            <a:pPr lvl="1"/>
            <a:r>
              <a:rPr lang="zh-CN" altLang="en-US" dirty="0"/>
              <a:t>自己选取模数取模</a:t>
            </a:r>
            <a:endParaRPr lang="en-US" altLang="zh-CN" dirty="0"/>
          </a:p>
          <a:p>
            <a:r>
              <a:rPr lang="zh-CN" altLang="en-US" dirty="0"/>
              <a:t>双哈希方法</a:t>
            </a:r>
            <a:endParaRPr lang="en-US" altLang="zh-CN" dirty="0"/>
          </a:p>
          <a:p>
            <a:pPr lvl="1"/>
            <a:r>
              <a:rPr lang="zh-CN" altLang="en-US" dirty="0"/>
              <a:t>选取两个模数取模，得到两个</a:t>
            </a:r>
            <a:r>
              <a:rPr lang="en-US" altLang="zh-CN" dirty="0"/>
              <a:t>Hash</a:t>
            </a:r>
            <a:r>
              <a:rPr lang="zh-CN" altLang="en-US" dirty="0"/>
              <a:t>值，能极大提高安全性</a:t>
            </a:r>
          </a:p>
        </p:txBody>
      </p:sp>
    </p:spTree>
    <p:extLst>
      <p:ext uri="{BB962C8B-B14F-4D97-AF65-F5344CB8AC3E}">
        <p14:creationId xmlns:p14="http://schemas.microsoft.com/office/powerpoint/2010/main" val="1613883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EA8D0-2A6A-4BDF-AC0F-7FBCB969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为什么要取模？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7D455B-9E59-44DE-BD6A-F68B6F2B5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681" y="1436326"/>
            <a:ext cx="10515600" cy="1406462"/>
          </a:xfrm>
        </p:spPr>
        <p:txBody>
          <a:bodyPr/>
          <a:lstStyle/>
          <a:p>
            <a:r>
              <a:rPr lang="zh-CN" altLang="en-US" dirty="0"/>
              <a:t>当我们选取的进制数较大时，或者字符串长度较长时，我们会得到非常大的转化值，若不取模，一方面存储困难，另一方面快速比较的优势会逐渐丧失。</a:t>
            </a:r>
          </a:p>
        </p:txBody>
      </p:sp>
    </p:spTree>
    <p:extLst>
      <p:ext uri="{BB962C8B-B14F-4D97-AF65-F5344CB8AC3E}">
        <p14:creationId xmlns:p14="http://schemas.microsoft.com/office/powerpoint/2010/main" val="216853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06765-BC58-4E23-A586-1FB2AA9C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哈希公式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350EB0-ABCC-4F53-86FD-1D23F018EC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自然溢出方法</a:t>
                </a:r>
                <a:endParaRPr lang="en-US" altLang="zh-CN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altLang="zh-CN" dirty="0">
                    <a:latin typeface="Consolas" panose="020B0609020204030204" pitchFamily="49" charset="0"/>
                  </a:rPr>
                  <a:t>unsigned long </a:t>
                </a:r>
                <a:r>
                  <a:rPr lang="en-US" altLang="zh-CN" dirty="0" err="1">
                    <a:latin typeface="Consolas" panose="020B0609020204030204" pitchFamily="49" charset="0"/>
                  </a:rPr>
                  <a:t>long</a:t>
                </a:r>
                <a:r>
                  <a:rPr lang="en-US" altLang="zh-CN" dirty="0">
                    <a:latin typeface="Consolas" panose="020B0609020204030204" pitchFamily="49" charset="0"/>
                  </a:rPr>
                  <a:t> Hash[n]</a:t>
                </a:r>
              </a:p>
              <a:p>
                <a:pPr lvl="1"/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hash[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]=hash[i−1]∗ p + id(s[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]</a:t>
                </a:r>
                <a:r>
                  <a:rPr lang="en-US" altLang="zh-CN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) 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（相当于对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-1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取模</a:t>
                </a:r>
                <a:r>
                  <a:rPr lang="zh-CN" altLang="en-US" dirty="0">
                    <a:latin typeface="Consolas" panose="020B0609020204030204" pitchFamily="49" charset="0"/>
                  </a:rPr>
                  <a:t>）</a:t>
                </a:r>
                <a:endParaRPr lang="en-US" altLang="zh-CN" dirty="0">
                  <a:latin typeface="Consolas" panose="020B0609020204030204" pitchFamily="49" charset="0"/>
                </a:endParaRPr>
              </a:p>
              <a:p>
                <a:r>
                  <a:rPr lang="zh-CN" altLang="en-US" dirty="0">
                    <a:latin typeface="Consolas" panose="020B0609020204030204" pitchFamily="49" charset="0"/>
                  </a:rPr>
                  <a:t>单哈希方法</a:t>
                </a:r>
                <a:endParaRPr lang="en-US" altLang="zh-CN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altLang="zh-CN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hash[</a:t>
                </a:r>
                <a:r>
                  <a:rPr lang="en-US" altLang="zh-CN" b="1" dirty="0" err="1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]=(hash[i−1])∗</a:t>
                </a:r>
                <a:r>
                  <a:rPr lang="en-US" altLang="zh-CN" b="1" dirty="0" err="1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p+idx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(s[</a:t>
                </a:r>
                <a:r>
                  <a:rPr lang="en-US" altLang="zh-CN" b="1" dirty="0" err="1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])%mod </a:t>
                </a:r>
              </a:p>
              <a:p>
                <a:pPr lvl="1"/>
                <a:r>
                  <a:rPr lang="en-US" altLang="zh-CN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p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和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mod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均为质数且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mod&gt;p</a:t>
                </a:r>
              </a:p>
              <a:p>
                <a:r>
                  <a:rPr lang="zh-CN" altLang="en-US" dirty="0">
                    <a:latin typeface="Consolas" panose="020B0609020204030204" pitchFamily="49" charset="0"/>
                  </a:rPr>
                  <a:t>双哈希方法</a:t>
                </a:r>
                <a:endParaRPr lang="en-US" altLang="zh-CN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hash1[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]=(hash1[i−1])∗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p+idx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(s[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]) % mod1</a:t>
                </a:r>
              </a:p>
              <a:p>
                <a:pPr lvl="1"/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hash2[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]=(hash2[i−1])∗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p+idx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(s[</a:t>
                </a:r>
                <a:r>
                  <a:rPr lang="en-US" altLang="zh-CN" b="1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]) % mod2</a:t>
                </a:r>
              </a:p>
              <a:p>
                <a:pPr lvl="1"/>
                <a:r>
                  <a:rPr lang="zh-CN" altLang="en-US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结果为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华文楷体" panose="02010600040101010101" pitchFamily="2" charset="-122"/>
                  </a:rPr>
                  <a:t>&lt;hash1[n],hash2[n]&gt;,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华文楷体" panose="02010600040101010101" pitchFamily="2" charset="-122"/>
                  </a:rPr>
                  <a:t>很安全</a:t>
                </a:r>
                <a:endParaRPr lang="en-US" altLang="zh-CN" b="1" dirty="0">
                  <a:solidFill>
                    <a:srgbClr val="FF0000"/>
                  </a:solidFill>
                  <a:latin typeface="Consolas" panose="020B0609020204030204" pitchFamily="49" charset="0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350EB0-ABCC-4F53-86FD-1D23F018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4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4D4E6-00DF-43F5-83DB-0AFA9B87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获取子串哈希值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D125B3-A2B2-4653-8E98-0BF64BF00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96365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我们可以</a:t>
                </a:r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O(1)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获得长度为</a:t>
                </a: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的字符串的所有前缀哈希值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然后我们可以</a:t>
                </a:r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O(1)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获得任意子串的哈希值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1"/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hash[1]=s1​ </a:t>
                </a:r>
              </a:p>
              <a:p>
                <a:pPr lvl="1"/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hash[2]=s1 ∗ p + s2 </a:t>
                </a:r>
              </a:p>
              <a:p>
                <a:pPr lvl="1"/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​hash[3]=s1 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𝑃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 +s2 ∗ p + s3 </a:t>
                </a:r>
              </a:p>
              <a:p>
                <a:pPr lvl="1"/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hash[4]=s1 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 +s2 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+ s3 ∗ p + s4 </a:t>
                </a:r>
              </a:p>
              <a:p>
                <a:pPr lvl="1"/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​hash[5]=s1 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 +s2 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3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+ s3 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+ s4 ∗ p + s5</a:t>
                </a:r>
              </a:p>
              <a:p>
                <a:pPr lvl="4"/>
                <a:endParaRPr lang="en-US" altLang="zh-CN" dirty="0">
                  <a:latin typeface="Consolas" panose="020B0609020204030204" pitchFamily="49" charset="0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D125B3-A2B2-4653-8E98-0BF64BF00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963658"/>
              </a:xfrm>
              <a:blipFill>
                <a:blip r:embed="rId2"/>
                <a:stretch>
                  <a:fillRect l="-1043" t="-3696" b="-4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683C1F3-B2B3-4499-BF75-041F9D28651F}"/>
                  </a:ext>
                </a:extLst>
              </p:cNvPr>
              <p:cNvSpPr txBox="1"/>
              <p:nvPr/>
            </p:nvSpPr>
            <p:spPr>
              <a:xfrm>
                <a:off x="2362955" y="5414501"/>
                <a:ext cx="9125893" cy="539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altLang="zh-CN" sz="2800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hash=((hash[r]−hash[l−1]∗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altLang="zh-CN" sz="2800" b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p>
                        <m:r>
                          <a:rPr lang="en-US" altLang="zh-CN" sz="2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altLang="zh-CN" sz="2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𝐥</m:t>
                        </m:r>
                        <m:r>
                          <a:rPr lang="en-US" altLang="zh-CN" sz="2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da-DK" altLang="zh-CN" sz="2800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)%MOD+MOD)%MOD</a:t>
                </a:r>
                <a:endParaRPr lang="zh-CN" altLang="en-US" sz="2800" b="1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683C1F3-B2B3-4499-BF75-041F9D286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955" y="5414501"/>
                <a:ext cx="9125893" cy="539443"/>
              </a:xfrm>
              <a:prstGeom prst="rect">
                <a:avLst/>
              </a:prstGeom>
              <a:blipFill>
                <a:blip r:embed="rId3"/>
                <a:stretch>
                  <a:fillRect l="-1403" t="-10112" b="-30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217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F516F-6F76-4F88-904B-C41E79D7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字符串哈希应用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1E2F9-87BA-42B5-B5F6-A7FD1C32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给一个字符串</a:t>
            </a:r>
            <a:r>
              <a:rPr lang="en-US" altLang="zh-CN" dirty="0"/>
              <a:t>S,</a:t>
            </a:r>
            <a:r>
              <a:rPr lang="zh-CN" altLang="en-US" dirty="0"/>
              <a:t>求</a:t>
            </a:r>
            <a:r>
              <a:rPr lang="en-US" altLang="zh-CN" dirty="0"/>
              <a:t>S</a:t>
            </a:r>
            <a:r>
              <a:rPr lang="zh-CN" altLang="en-US" dirty="0"/>
              <a:t>的最长回文子串</a:t>
            </a:r>
            <a:endParaRPr lang="en-US" altLang="zh-CN" dirty="0"/>
          </a:p>
          <a:p>
            <a:pPr lvl="1"/>
            <a:r>
              <a:rPr lang="en-US" altLang="zh-CN" dirty="0"/>
              <a:t>|S|&lt;=1e5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15339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459</Words>
  <Application>Microsoft Office PowerPoint</Application>
  <PresentationFormat>宽屏</PresentationFormat>
  <Paragraphs>39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FangSong</vt:lpstr>
      <vt:lpstr>KaTeX_Math</vt:lpstr>
      <vt:lpstr>等线</vt:lpstr>
      <vt:lpstr>等线 Light</vt:lpstr>
      <vt:lpstr>华文楷体</vt:lpstr>
      <vt:lpstr>Arial</vt:lpstr>
      <vt:lpstr>Cambria Math</vt:lpstr>
      <vt:lpstr>Consolas</vt:lpstr>
      <vt:lpstr>1_Office 主题​​</vt:lpstr>
      <vt:lpstr>字符串哈希</vt:lpstr>
      <vt:lpstr>字符串哈希</vt:lpstr>
      <vt:lpstr>几种哈希方法</vt:lpstr>
      <vt:lpstr>为什么要取模？</vt:lpstr>
      <vt:lpstr>哈希公式</vt:lpstr>
      <vt:lpstr>获取子串哈希值</vt:lpstr>
      <vt:lpstr>字符串哈希应用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字符串哈希</dc:title>
  <dc:creator>兴宇 周</dc:creator>
  <cp:lastModifiedBy>兴宇 周</cp:lastModifiedBy>
  <cp:revision>8</cp:revision>
  <dcterms:created xsi:type="dcterms:W3CDTF">2021-07-08T11:47:32Z</dcterms:created>
  <dcterms:modified xsi:type="dcterms:W3CDTF">2021-07-08T13:15:46Z</dcterms:modified>
</cp:coreProperties>
</file>