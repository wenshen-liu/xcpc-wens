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2" r:id="rId4"/>
    <p:sldId id="257" r:id="rId5"/>
    <p:sldId id="280" r:id="rId6"/>
    <p:sldId id="281" r:id="rId7"/>
    <p:sldId id="265" r:id="rId8"/>
    <p:sldId id="268" r:id="rId9"/>
    <p:sldId id="269" r:id="rId10"/>
    <p:sldId id="258" r:id="rId11"/>
    <p:sldId id="270" r:id="rId12"/>
    <p:sldId id="294" r:id="rId13"/>
    <p:sldId id="263" r:id="rId14"/>
    <p:sldId id="288" r:id="rId15"/>
    <p:sldId id="293" r:id="rId16"/>
    <p:sldId id="260" r:id="rId17"/>
    <p:sldId id="271" r:id="rId18"/>
    <p:sldId id="292" r:id="rId19"/>
    <p:sldId id="275" r:id="rId20"/>
    <p:sldId id="291" r:id="rId21"/>
    <p:sldId id="296" r:id="rId22"/>
    <p:sldId id="297" r:id="rId23"/>
    <p:sldId id="298" r:id="rId24"/>
    <p:sldId id="283" r:id="rId25"/>
    <p:sldId id="264" r:id="rId26"/>
    <p:sldId id="267" r:id="rId27"/>
    <p:sldId id="277" r:id="rId28"/>
    <p:sldId id="272" r:id="rId29"/>
    <p:sldId id="278" r:id="rId30"/>
    <p:sldId id="289" r:id="rId31"/>
    <p:sldId id="290" r:id="rId32"/>
    <p:sldId id="273" r:id="rId33"/>
    <p:sldId id="279" r:id="rId34"/>
    <p:sldId id="274" r:id="rId35"/>
    <p:sldId id="295" r:id="rId36"/>
    <p:sldId id="276" r:id="rId37"/>
    <p:sldId id="282" r:id="rId38"/>
    <p:sldId id="284" r:id="rId39"/>
    <p:sldId id="285" r:id="rId40"/>
    <p:sldId id="286" r:id="rId41"/>
    <p:sldId id="287" r:id="rId4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90" autoAdjust="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604CA8-DF49-4AC1-82BF-2071CBB67C2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1FE3294-7C18-497B-9EEF-E89F439AC9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14FD0F3-DE58-4477-A05F-2999EE096894}"/>
              </a:ext>
            </a:extLst>
          </p:cNvPr>
          <p:cNvSpPr>
            <a:spLocks noGrp="1"/>
          </p:cNvSpPr>
          <p:nvPr>
            <p:ph type="dt" sz="half" idx="10"/>
          </p:nvPr>
        </p:nvSpPr>
        <p:spPr/>
        <p:txBody>
          <a:bodyPr/>
          <a:lstStyle/>
          <a:p>
            <a:fld id="{9261F453-8846-4714-BAAC-7CFDEF669E88}" type="datetimeFigureOut">
              <a:rPr lang="zh-CN" altLang="en-US" smtClean="0"/>
              <a:t>2021/7/9</a:t>
            </a:fld>
            <a:endParaRPr lang="zh-CN" altLang="en-US"/>
          </a:p>
        </p:txBody>
      </p:sp>
      <p:sp>
        <p:nvSpPr>
          <p:cNvPr id="5" name="页脚占位符 4">
            <a:extLst>
              <a:ext uri="{FF2B5EF4-FFF2-40B4-BE49-F238E27FC236}">
                <a16:creationId xmlns:a16="http://schemas.microsoft.com/office/drawing/2014/main" id="{942E2A4A-9167-4AC5-9743-12586D07DCE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652A042-ECCA-4B2E-A60E-4E4AF067D001}"/>
              </a:ext>
            </a:extLst>
          </p:cNvPr>
          <p:cNvSpPr>
            <a:spLocks noGrp="1"/>
          </p:cNvSpPr>
          <p:nvPr>
            <p:ph type="sldNum" sz="quarter" idx="12"/>
          </p:nvPr>
        </p:nvSpPr>
        <p:spPr/>
        <p:txBody>
          <a:bodyPr/>
          <a:lstStyle/>
          <a:p>
            <a:fld id="{8DE5EF79-71B6-4D8B-AB86-81F6EF4CCB9A}" type="slidenum">
              <a:rPr lang="zh-CN" altLang="en-US" smtClean="0"/>
              <a:t>‹#›</a:t>
            </a:fld>
            <a:endParaRPr lang="zh-CN" altLang="en-US"/>
          </a:p>
        </p:txBody>
      </p:sp>
    </p:spTree>
    <p:extLst>
      <p:ext uri="{BB962C8B-B14F-4D97-AF65-F5344CB8AC3E}">
        <p14:creationId xmlns:p14="http://schemas.microsoft.com/office/powerpoint/2010/main" val="1940098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3580C-68D2-4266-958E-C0397998F71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290ACE8-BEF8-4781-9D4D-E96A5BA4B14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EC1B2B0-6A0B-4D36-BA7A-68B234261333}"/>
              </a:ext>
            </a:extLst>
          </p:cNvPr>
          <p:cNvSpPr>
            <a:spLocks noGrp="1"/>
          </p:cNvSpPr>
          <p:nvPr>
            <p:ph type="dt" sz="half" idx="10"/>
          </p:nvPr>
        </p:nvSpPr>
        <p:spPr/>
        <p:txBody>
          <a:bodyPr/>
          <a:lstStyle/>
          <a:p>
            <a:fld id="{9261F453-8846-4714-BAAC-7CFDEF669E88}" type="datetimeFigureOut">
              <a:rPr lang="zh-CN" altLang="en-US" smtClean="0"/>
              <a:t>2021/7/9</a:t>
            </a:fld>
            <a:endParaRPr lang="zh-CN" altLang="en-US"/>
          </a:p>
        </p:txBody>
      </p:sp>
      <p:sp>
        <p:nvSpPr>
          <p:cNvPr id="5" name="页脚占位符 4">
            <a:extLst>
              <a:ext uri="{FF2B5EF4-FFF2-40B4-BE49-F238E27FC236}">
                <a16:creationId xmlns:a16="http://schemas.microsoft.com/office/drawing/2014/main" id="{86311F01-A9B9-4214-8C0A-EF6B9A7C3C6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16B5ACB-0713-43BB-9920-673C3F0C59C6}"/>
              </a:ext>
            </a:extLst>
          </p:cNvPr>
          <p:cNvSpPr>
            <a:spLocks noGrp="1"/>
          </p:cNvSpPr>
          <p:nvPr>
            <p:ph type="sldNum" sz="quarter" idx="12"/>
          </p:nvPr>
        </p:nvSpPr>
        <p:spPr/>
        <p:txBody>
          <a:bodyPr/>
          <a:lstStyle/>
          <a:p>
            <a:fld id="{8DE5EF79-71B6-4D8B-AB86-81F6EF4CCB9A}" type="slidenum">
              <a:rPr lang="zh-CN" altLang="en-US" smtClean="0"/>
              <a:t>‹#›</a:t>
            </a:fld>
            <a:endParaRPr lang="zh-CN" altLang="en-US"/>
          </a:p>
        </p:txBody>
      </p:sp>
    </p:spTree>
    <p:extLst>
      <p:ext uri="{BB962C8B-B14F-4D97-AF65-F5344CB8AC3E}">
        <p14:creationId xmlns:p14="http://schemas.microsoft.com/office/powerpoint/2010/main" val="3313501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A5D254-84BA-4686-9FF7-5AC4875B3BA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9059A9B-E3EF-4A4B-92AF-758A26F0BC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5C04101-57CD-4FB4-A5D8-95955A1071D5}"/>
              </a:ext>
            </a:extLst>
          </p:cNvPr>
          <p:cNvSpPr>
            <a:spLocks noGrp="1"/>
          </p:cNvSpPr>
          <p:nvPr>
            <p:ph type="dt" sz="half" idx="10"/>
          </p:nvPr>
        </p:nvSpPr>
        <p:spPr/>
        <p:txBody>
          <a:bodyPr/>
          <a:lstStyle/>
          <a:p>
            <a:fld id="{9261F453-8846-4714-BAAC-7CFDEF669E88}" type="datetimeFigureOut">
              <a:rPr lang="zh-CN" altLang="en-US" smtClean="0"/>
              <a:t>2021/7/9</a:t>
            </a:fld>
            <a:endParaRPr lang="zh-CN" altLang="en-US"/>
          </a:p>
        </p:txBody>
      </p:sp>
      <p:sp>
        <p:nvSpPr>
          <p:cNvPr id="5" name="页脚占位符 4">
            <a:extLst>
              <a:ext uri="{FF2B5EF4-FFF2-40B4-BE49-F238E27FC236}">
                <a16:creationId xmlns:a16="http://schemas.microsoft.com/office/drawing/2014/main" id="{9E434F08-7C40-4E2C-ABC0-FC1B07A29B6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D109A81-92AD-447A-AC2A-504DB30D26D4}"/>
              </a:ext>
            </a:extLst>
          </p:cNvPr>
          <p:cNvSpPr>
            <a:spLocks noGrp="1"/>
          </p:cNvSpPr>
          <p:nvPr>
            <p:ph type="sldNum" sz="quarter" idx="12"/>
          </p:nvPr>
        </p:nvSpPr>
        <p:spPr/>
        <p:txBody>
          <a:bodyPr/>
          <a:lstStyle/>
          <a:p>
            <a:fld id="{8DE5EF79-71B6-4D8B-AB86-81F6EF4CCB9A}" type="slidenum">
              <a:rPr lang="zh-CN" altLang="en-US" smtClean="0"/>
              <a:t>‹#›</a:t>
            </a:fld>
            <a:endParaRPr lang="zh-CN" altLang="en-US"/>
          </a:p>
        </p:txBody>
      </p:sp>
    </p:spTree>
    <p:extLst>
      <p:ext uri="{BB962C8B-B14F-4D97-AF65-F5344CB8AC3E}">
        <p14:creationId xmlns:p14="http://schemas.microsoft.com/office/powerpoint/2010/main" val="156800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330CEA-1F2C-4080-A0A9-65E61BEFEDA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DB6A9A3-8ABA-4065-B84F-215AB427F70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453B655-2CEC-4099-A4ED-AE2C417E912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BCC1073-CB8A-4831-8131-F05F66E89404}"/>
              </a:ext>
            </a:extLst>
          </p:cNvPr>
          <p:cNvSpPr>
            <a:spLocks noGrp="1"/>
          </p:cNvSpPr>
          <p:nvPr>
            <p:ph type="dt" sz="half" idx="10"/>
          </p:nvPr>
        </p:nvSpPr>
        <p:spPr/>
        <p:txBody>
          <a:bodyPr/>
          <a:lstStyle/>
          <a:p>
            <a:fld id="{9261F453-8846-4714-BAAC-7CFDEF669E88}" type="datetimeFigureOut">
              <a:rPr lang="zh-CN" altLang="en-US" smtClean="0"/>
              <a:t>2021/7/9</a:t>
            </a:fld>
            <a:endParaRPr lang="zh-CN" altLang="en-US"/>
          </a:p>
        </p:txBody>
      </p:sp>
      <p:sp>
        <p:nvSpPr>
          <p:cNvPr id="6" name="页脚占位符 5">
            <a:extLst>
              <a:ext uri="{FF2B5EF4-FFF2-40B4-BE49-F238E27FC236}">
                <a16:creationId xmlns:a16="http://schemas.microsoft.com/office/drawing/2014/main" id="{39BAF593-173D-4FDF-B96F-4484AAAE309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1297ACF-84E4-4F25-B2A5-4A4D6B6AD2EB}"/>
              </a:ext>
            </a:extLst>
          </p:cNvPr>
          <p:cNvSpPr>
            <a:spLocks noGrp="1"/>
          </p:cNvSpPr>
          <p:nvPr>
            <p:ph type="sldNum" sz="quarter" idx="12"/>
          </p:nvPr>
        </p:nvSpPr>
        <p:spPr/>
        <p:txBody>
          <a:bodyPr/>
          <a:lstStyle/>
          <a:p>
            <a:fld id="{8DE5EF79-71B6-4D8B-AB86-81F6EF4CCB9A}" type="slidenum">
              <a:rPr lang="zh-CN" altLang="en-US" smtClean="0"/>
              <a:t>‹#›</a:t>
            </a:fld>
            <a:endParaRPr lang="zh-CN" altLang="en-US"/>
          </a:p>
        </p:txBody>
      </p:sp>
    </p:spTree>
    <p:extLst>
      <p:ext uri="{BB962C8B-B14F-4D97-AF65-F5344CB8AC3E}">
        <p14:creationId xmlns:p14="http://schemas.microsoft.com/office/powerpoint/2010/main" val="3865401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BABF12-7920-40E7-91BA-95DC1EF07CF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7CF01BD-8106-497D-8389-9E6974BB8C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102E387-88E7-4F6A-81DD-B2B0C4852C3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FD7E666-F31C-4B37-85D0-7B07A3C232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48716B6-46DE-4B67-874A-3FBEF718FB7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DED74AF-5922-4E1E-8DE4-D66C471FCA55}"/>
              </a:ext>
            </a:extLst>
          </p:cNvPr>
          <p:cNvSpPr>
            <a:spLocks noGrp="1"/>
          </p:cNvSpPr>
          <p:nvPr>
            <p:ph type="dt" sz="half" idx="10"/>
          </p:nvPr>
        </p:nvSpPr>
        <p:spPr/>
        <p:txBody>
          <a:bodyPr/>
          <a:lstStyle/>
          <a:p>
            <a:fld id="{9261F453-8846-4714-BAAC-7CFDEF669E88}" type="datetimeFigureOut">
              <a:rPr lang="zh-CN" altLang="en-US" smtClean="0"/>
              <a:t>2021/7/9</a:t>
            </a:fld>
            <a:endParaRPr lang="zh-CN" altLang="en-US"/>
          </a:p>
        </p:txBody>
      </p:sp>
      <p:sp>
        <p:nvSpPr>
          <p:cNvPr id="8" name="页脚占位符 7">
            <a:extLst>
              <a:ext uri="{FF2B5EF4-FFF2-40B4-BE49-F238E27FC236}">
                <a16:creationId xmlns:a16="http://schemas.microsoft.com/office/drawing/2014/main" id="{653D4337-0698-468E-A849-605858306C5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38E8813-3F91-43B9-9EEC-8E1AA0A15C28}"/>
              </a:ext>
            </a:extLst>
          </p:cNvPr>
          <p:cNvSpPr>
            <a:spLocks noGrp="1"/>
          </p:cNvSpPr>
          <p:nvPr>
            <p:ph type="sldNum" sz="quarter" idx="12"/>
          </p:nvPr>
        </p:nvSpPr>
        <p:spPr/>
        <p:txBody>
          <a:bodyPr/>
          <a:lstStyle/>
          <a:p>
            <a:fld id="{8DE5EF79-71B6-4D8B-AB86-81F6EF4CCB9A}" type="slidenum">
              <a:rPr lang="zh-CN" altLang="en-US" smtClean="0"/>
              <a:t>‹#›</a:t>
            </a:fld>
            <a:endParaRPr lang="zh-CN" altLang="en-US"/>
          </a:p>
        </p:txBody>
      </p:sp>
    </p:spTree>
    <p:extLst>
      <p:ext uri="{BB962C8B-B14F-4D97-AF65-F5344CB8AC3E}">
        <p14:creationId xmlns:p14="http://schemas.microsoft.com/office/powerpoint/2010/main" val="324692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4A7941-6AFC-4CAD-8679-0E93415D205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81FC691-1156-4CCC-92D3-9E34544D2B6A}"/>
              </a:ext>
            </a:extLst>
          </p:cNvPr>
          <p:cNvSpPr>
            <a:spLocks noGrp="1"/>
          </p:cNvSpPr>
          <p:nvPr>
            <p:ph type="dt" sz="half" idx="10"/>
          </p:nvPr>
        </p:nvSpPr>
        <p:spPr/>
        <p:txBody>
          <a:bodyPr/>
          <a:lstStyle/>
          <a:p>
            <a:fld id="{9261F453-8846-4714-BAAC-7CFDEF669E88}" type="datetimeFigureOut">
              <a:rPr lang="zh-CN" altLang="en-US" smtClean="0"/>
              <a:t>2021/7/9</a:t>
            </a:fld>
            <a:endParaRPr lang="zh-CN" altLang="en-US"/>
          </a:p>
        </p:txBody>
      </p:sp>
      <p:sp>
        <p:nvSpPr>
          <p:cNvPr id="4" name="页脚占位符 3">
            <a:extLst>
              <a:ext uri="{FF2B5EF4-FFF2-40B4-BE49-F238E27FC236}">
                <a16:creationId xmlns:a16="http://schemas.microsoft.com/office/drawing/2014/main" id="{3796AD84-F058-4442-B1EC-08CCC58F71A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4580C8A-7425-45BE-86DE-13E30DC1419F}"/>
              </a:ext>
            </a:extLst>
          </p:cNvPr>
          <p:cNvSpPr>
            <a:spLocks noGrp="1"/>
          </p:cNvSpPr>
          <p:nvPr>
            <p:ph type="sldNum" sz="quarter" idx="12"/>
          </p:nvPr>
        </p:nvSpPr>
        <p:spPr/>
        <p:txBody>
          <a:bodyPr/>
          <a:lstStyle/>
          <a:p>
            <a:fld id="{8DE5EF79-71B6-4D8B-AB86-81F6EF4CCB9A}" type="slidenum">
              <a:rPr lang="zh-CN" altLang="en-US" smtClean="0"/>
              <a:t>‹#›</a:t>
            </a:fld>
            <a:endParaRPr lang="zh-CN" altLang="en-US"/>
          </a:p>
        </p:txBody>
      </p:sp>
    </p:spTree>
    <p:extLst>
      <p:ext uri="{BB962C8B-B14F-4D97-AF65-F5344CB8AC3E}">
        <p14:creationId xmlns:p14="http://schemas.microsoft.com/office/powerpoint/2010/main" val="3891352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EE88B60-1700-4392-80AD-634FB697ACB5}"/>
              </a:ext>
            </a:extLst>
          </p:cNvPr>
          <p:cNvSpPr>
            <a:spLocks noGrp="1"/>
          </p:cNvSpPr>
          <p:nvPr>
            <p:ph type="dt" sz="half" idx="10"/>
          </p:nvPr>
        </p:nvSpPr>
        <p:spPr/>
        <p:txBody>
          <a:bodyPr/>
          <a:lstStyle/>
          <a:p>
            <a:fld id="{9261F453-8846-4714-BAAC-7CFDEF669E88}" type="datetimeFigureOut">
              <a:rPr lang="zh-CN" altLang="en-US" smtClean="0"/>
              <a:t>2021/7/9</a:t>
            </a:fld>
            <a:endParaRPr lang="zh-CN" altLang="en-US"/>
          </a:p>
        </p:txBody>
      </p:sp>
      <p:sp>
        <p:nvSpPr>
          <p:cNvPr id="3" name="页脚占位符 2">
            <a:extLst>
              <a:ext uri="{FF2B5EF4-FFF2-40B4-BE49-F238E27FC236}">
                <a16:creationId xmlns:a16="http://schemas.microsoft.com/office/drawing/2014/main" id="{C62DEC4E-0ADC-4A65-BA94-B9ECE8D75E1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35076D1-A81D-4B4C-AFCC-11B69070AC5E}"/>
              </a:ext>
            </a:extLst>
          </p:cNvPr>
          <p:cNvSpPr>
            <a:spLocks noGrp="1"/>
          </p:cNvSpPr>
          <p:nvPr>
            <p:ph type="sldNum" sz="quarter" idx="12"/>
          </p:nvPr>
        </p:nvSpPr>
        <p:spPr/>
        <p:txBody>
          <a:bodyPr/>
          <a:lstStyle/>
          <a:p>
            <a:fld id="{8DE5EF79-71B6-4D8B-AB86-81F6EF4CCB9A}" type="slidenum">
              <a:rPr lang="zh-CN" altLang="en-US" smtClean="0"/>
              <a:t>‹#›</a:t>
            </a:fld>
            <a:endParaRPr lang="zh-CN" altLang="en-US"/>
          </a:p>
        </p:txBody>
      </p:sp>
    </p:spTree>
    <p:extLst>
      <p:ext uri="{BB962C8B-B14F-4D97-AF65-F5344CB8AC3E}">
        <p14:creationId xmlns:p14="http://schemas.microsoft.com/office/powerpoint/2010/main" val="1416729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C8F26D-56DA-4D95-8314-C95A50CD2B4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6495F8C-F496-4BC9-A000-74DF34DFFA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D37A5ED-8F03-45C1-B21C-A936961F4E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5373D57-19C7-4BA0-9CFA-C4E3787377E1}"/>
              </a:ext>
            </a:extLst>
          </p:cNvPr>
          <p:cNvSpPr>
            <a:spLocks noGrp="1"/>
          </p:cNvSpPr>
          <p:nvPr>
            <p:ph type="dt" sz="half" idx="10"/>
          </p:nvPr>
        </p:nvSpPr>
        <p:spPr/>
        <p:txBody>
          <a:bodyPr/>
          <a:lstStyle/>
          <a:p>
            <a:fld id="{9261F453-8846-4714-BAAC-7CFDEF669E88}" type="datetimeFigureOut">
              <a:rPr lang="zh-CN" altLang="en-US" smtClean="0"/>
              <a:t>2021/7/9</a:t>
            </a:fld>
            <a:endParaRPr lang="zh-CN" altLang="en-US"/>
          </a:p>
        </p:txBody>
      </p:sp>
      <p:sp>
        <p:nvSpPr>
          <p:cNvPr id="6" name="页脚占位符 5">
            <a:extLst>
              <a:ext uri="{FF2B5EF4-FFF2-40B4-BE49-F238E27FC236}">
                <a16:creationId xmlns:a16="http://schemas.microsoft.com/office/drawing/2014/main" id="{A5102CC5-F1CF-4046-8D45-7AD9A005429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02E50DF-93D1-461A-A014-9DD44466AC87}"/>
              </a:ext>
            </a:extLst>
          </p:cNvPr>
          <p:cNvSpPr>
            <a:spLocks noGrp="1"/>
          </p:cNvSpPr>
          <p:nvPr>
            <p:ph type="sldNum" sz="quarter" idx="12"/>
          </p:nvPr>
        </p:nvSpPr>
        <p:spPr/>
        <p:txBody>
          <a:bodyPr/>
          <a:lstStyle/>
          <a:p>
            <a:fld id="{8DE5EF79-71B6-4D8B-AB86-81F6EF4CCB9A}" type="slidenum">
              <a:rPr lang="zh-CN" altLang="en-US" smtClean="0"/>
              <a:t>‹#›</a:t>
            </a:fld>
            <a:endParaRPr lang="zh-CN" altLang="en-US"/>
          </a:p>
        </p:txBody>
      </p:sp>
    </p:spTree>
    <p:extLst>
      <p:ext uri="{BB962C8B-B14F-4D97-AF65-F5344CB8AC3E}">
        <p14:creationId xmlns:p14="http://schemas.microsoft.com/office/powerpoint/2010/main" val="2630496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151B01-37ED-4A4C-B0E4-06A56E5AD9B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1EE40DE-5924-4043-A1D7-97A2535DD3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4082914-7E1E-4C13-8EC3-4CF68150E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AE52406-3722-45D5-BF02-74F62970DBE9}"/>
              </a:ext>
            </a:extLst>
          </p:cNvPr>
          <p:cNvSpPr>
            <a:spLocks noGrp="1"/>
          </p:cNvSpPr>
          <p:nvPr>
            <p:ph type="dt" sz="half" idx="10"/>
          </p:nvPr>
        </p:nvSpPr>
        <p:spPr/>
        <p:txBody>
          <a:bodyPr/>
          <a:lstStyle/>
          <a:p>
            <a:fld id="{9261F453-8846-4714-BAAC-7CFDEF669E88}" type="datetimeFigureOut">
              <a:rPr lang="zh-CN" altLang="en-US" smtClean="0"/>
              <a:t>2021/7/9</a:t>
            </a:fld>
            <a:endParaRPr lang="zh-CN" altLang="en-US"/>
          </a:p>
        </p:txBody>
      </p:sp>
      <p:sp>
        <p:nvSpPr>
          <p:cNvPr id="6" name="页脚占位符 5">
            <a:extLst>
              <a:ext uri="{FF2B5EF4-FFF2-40B4-BE49-F238E27FC236}">
                <a16:creationId xmlns:a16="http://schemas.microsoft.com/office/drawing/2014/main" id="{69F9F6F8-FF81-4158-A3DA-CAAB7C5464C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41A1E02-B0F5-4400-B9D0-473F20C00638}"/>
              </a:ext>
            </a:extLst>
          </p:cNvPr>
          <p:cNvSpPr>
            <a:spLocks noGrp="1"/>
          </p:cNvSpPr>
          <p:nvPr>
            <p:ph type="sldNum" sz="quarter" idx="12"/>
          </p:nvPr>
        </p:nvSpPr>
        <p:spPr/>
        <p:txBody>
          <a:bodyPr/>
          <a:lstStyle/>
          <a:p>
            <a:fld id="{8DE5EF79-71B6-4D8B-AB86-81F6EF4CCB9A}" type="slidenum">
              <a:rPr lang="zh-CN" altLang="en-US" smtClean="0"/>
              <a:t>‹#›</a:t>
            </a:fld>
            <a:endParaRPr lang="zh-CN" altLang="en-US"/>
          </a:p>
        </p:txBody>
      </p:sp>
    </p:spTree>
    <p:extLst>
      <p:ext uri="{BB962C8B-B14F-4D97-AF65-F5344CB8AC3E}">
        <p14:creationId xmlns:p14="http://schemas.microsoft.com/office/powerpoint/2010/main" val="835875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1E6AFC-E344-4FC6-9291-CD903225864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B547DE6-7A8C-4AC0-8E0C-D097E0496D0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7803634-18ED-4834-AA5B-66CDC01C514C}"/>
              </a:ext>
            </a:extLst>
          </p:cNvPr>
          <p:cNvSpPr>
            <a:spLocks noGrp="1"/>
          </p:cNvSpPr>
          <p:nvPr>
            <p:ph type="dt" sz="half" idx="10"/>
          </p:nvPr>
        </p:nvSpPr>
        <p:spPr/>
        <p:txBody>
          <a:bodyPr/>
          <a:lstStyle/>
          <a:p>
            <a:fld id="{9261F453-8846-4714-BAAC-7CFDEF669E88}" type="datetimeFigureOut">
              <a:rPr lang="zh-CN" altLang="en-US" smtClean="0"/>
              <a:t>2021/7/9</a:t>
            </a:fld>
            <a:endParaRPr lang="zh-CN" altLang="en-US"/>
          </a:p>
        </p:txBody>
      </p:sp>
      <p:sp>
        <p:nvSpPr>
          <p:cNvPr id="5" name="页脚占位符 4">
            <a:extLst>
              <a:ext uri="{FF2B5EF4-FFF2-40B4-BE49-F238E27FC236}">
                <a16:creationId xmlns:a16="http://schemas.microsoft.com/office/drawing/2014/main" id="{15EBD6D1-794D-46BD-90D7-3277CB434C7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61E1D0-9952-4A01-980C-7E325724B370}"/>
              </a:ext>
            </a:extLst>
          </p:cNvPr>
          <p:cNvSpPr>
            <a:spLocks noGrp="1"/>
          </p:cNvSpPr>
          <p:nvPr>
            <p:ph type="sldNum" sz="quarter" idx="12"/>
          </p:nvPr>
        </p:nvSpPr>
        <p:spPr/>
        <p:txBody>
          <a:bodyPr/>
          <a:lstStyle/>
          <a:p>
            <a:fld id="{8DE5EF79-71B6-4D8B-AB86-81F6EF4CCB9A}" type="slidenum">
              <a:rPr lang="zh-CN" altLang="en-US" smtClean="0"/>
              <a:t>‹#›</a:t>
            </a:fld>
            <a:endParaRPr lang="zh-CN" altLang="en-US"/>
          </a:p>
        </p:txBody>
      </p:sp>
    </p:spTree>
    <p:extLst>
      <p:ext uri="{BB962C8B-B14F-4D97-AF65-F5344CB8AC3E}">
        <p14:creationId xmlns:p14="http://schemas.microsoft.com/office/powerpoint/2010/main" val="2446996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1359022-EFD8-48E3-9F62-F796367453C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F5F7F43-6817-40F7-9C39-EA83D281673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7F9E8F-3AEC-41F6-BE64-928F5F37031F}"/>
              </a:ext>
            </a:extLst>
          </p:cNvPr>
          <p:cNvSpPr>
            <a:spLocks noGrp="1"/>
          </p:cNvSpPr>
          <p:nvPr>
            <p:ph type="dt" sz="half" idx="10"/>
          </p:nvPr>
        </p:nvSpPr>
        <p:spPr/>
        <p:txBody>
          <a:bodyPr/>
          <a:lstStyle/>
          <a:p>
            <a:fld id="{9261F453-8846-4714-BAAC-7CFDEF669E88}" type="datetimeFigureOut">
              <a:rPr lang="zh-CN" altLang="en-US" smtClean="0"/>
              <a:t>2021/7/9</a:t>
            </a:fld>
            <a:endParaRPr lang="zh-CN" altLang="en-US"/>
          </a:p>
        </p:txBody>
      </p:sp>
      <p:sp>
        <p:nvSpPr>
          <p:cNvPr id="5" name="页脚占位符 4">
            <a:extLst>
              <a:ext uri="{FF2B5EF4-FFF2-40B4-BE49-F238E27FC236}">
                <a16:creationId xmlns:a16="http://schemas.microsoft.com/office/drawing/2014/main" id="{64B03748-7894-47BF-8E8D-0612B8DCFF2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D2A4D43-737B-4D63-A084-EE1C1D38CDB6}"/>
              </a:ext>
            </a:extLst>
          </p:cNvPr>
          <p:cNvSpPr>
            <a:spLocks noGrp="1"/>
          </p:cNvSpPr>
          <p:nvPr>
            <p:ph type="sldNum" sz="quarter" idx="12"/>
          </p:nvPr>
        </p:nvSpPr>
        <p:spPr/>
        <p:txBody>
          <a:bodyPr/>
          <a:lstStyle/>
          <a:p>
            <a:fld id="{8DE5EF79-71B6-4D8B-AB86-81F6EF4CCB9A}" type="slidenum">
              <a:rPr lang="zh-CN" altLang="en-US" smtClean="0"/>
              <a:t>‹#›</a:t>
            </a:fld>
            <a:endParaRPr lang="zh-CN" altLang="en-US"/>
          </a:p>
        </p:txBody>
      </p:sp>
    </p:spTree>
    <p:extLst>
      <p:ext uri="{BB962C8B-B14F-4D97-AF65-F5344CB8AC3E}">
        <p14:creationId xmlns:p14="http://schemas.microsoft.com/office/powerpoint/2010/main" val="1934168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0B68AA8-AC8E-4AE4-A228-CC8916C780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6A1D0CF-886D-49D2-B918-63267B0944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3E6707D-3B9F-4755-9193-15777B0829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61F453-8846-4714-BAAC-7CFDEF669E88}" type="datetimeFigureOut">
              <a:rPr lang="zh-CN" altLang="en-US" smtClean="0"/>
              <a:t>2021/7/9</a:t>
            </a:fld>
            <a:endParaRPr lang="zh-CN" altLang="en-US"/>
          </a:p>
        </p:txBody>
      </p:sp>
      <p:sp>
        <p:nvSpPr>
          <p:cNvPr id="5" name="页脚占位符 4">
            <a:extLst>
              <a:ext uri="{FF2B5EF4-FFF2-40B4-BE49-F238E27FC236}">
                <a16:creationId xmlns:a16="http://schemas.microsoft.com/office/drawing/2014/main" id="{2953CB1F-A93C-4359-BB7C-D738D0BB54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058F848A-BD8D-443A-8D4D-FDECCB78D6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E5EF79-71B6-4D8B-AB86-81F6EF4CCB9A}" type="slidenum">
              <a:rPr lang="zh-CN" altLang="en-US" smtClean="0"/>
              <a:t>‹#›</a:t>
            </a:fld>
            <a:endParaRPr lang="zh-CN" altLang="en-US"/>
          </a:p>
        </p:txBody>
      </p:sp>
    </p:spTree>
    <p:extLst>
      <p:ext uri="{BB962C8B-B14F-4D97-AF65-F5344CB8AC3E}">
        <p14:creationId xmlns:p14="http://schemas.microsoft.com/office/powerpoint/2010/main" val="443298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FE3AF4-34CA-47BC-9459-6B48C2A70BAC}"/>
              </a:ext>
            </a:extLst>
          </p:cNvPr>
          <p:cNvSpPr>
            <a:spLocks noGrp="1"/>
          </p:cNvSpPr>
          <p:nvPr>
            <p:ph type="ctrTitle"/>
          </p:nvPr>
        </p:nvSpPr>
        <p:spPr/>
        <p:txBody>
          <a:bodyPr/>
          <a:lstStyle/>
          <a:p>
            <a:r>
              <a:rPr lang="zh-CN" altLang="en-US" dirty="0"/>
              <a:t>树上问题</a:t>
            </a:r>
          </a:p>
        </p:txBody>
      </p:sp>
      <p:sp>
        <p:nvSpPr>
          <p:cNvPr id="3" name="副标题 2">
            <a:extLst>
              <a:ext uri="{FF2B5EF4-FFF2-40B4-BE49-F238E27FC236}">
                <a16:creationId xmlns:a16="http://schemas.microsoft.com/office/drawing/2014/main" id="{4577FA17-6E28-4369-B167-6DD7221B93DD}"/>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1206477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D2813B-A58E-4DD3-B4B2-5EE665FB46A8}"/>
              </a:ext>
            </a:extLst>
          </p:cNvPr>
          <p:cNvSpPr>
            <a:spLocks noGrp="1"/>
          </p:cNvSpPr>
          <p:nvPr>
            <p:ph type="title"/>
          </p:nvPr>
        </p:nvSpPr>
        <p:spPr/>
        <p:txBody>
          <a:bodyPr/>
          <a:lstStyle/>
          <a:p>
            <a:r>
              <a:rPr lang="zh-CN" altLang="en-US" dirty="0"/>
              <a:t>树的直径</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1A74A74-D472-46EA-8053-3AEAE907A63A}"/>
                  </a:ext>
                </a:extLst>
              </p:cNvPr>
              <p:cNvSpPr>
                <a:spLocks noGrp="1"/>
              </p:cNvSpPr>
              <p:nvPr>
                <p:ph idx="1"/>
              </p:nvPr>
            </p:nvSpPr>
            <p:spPr/>
            <p:txBody>
              <a:bodyPr/>
              <a:lstStyle/>
              <a:p>
                <a:r>
                  <a:rPr lang="zh-CN" altLang="en-US" dirty="0"/>
                  <a:t>树的直径，就是树上的最长链。</a:t>
                </a:r>
                <a:endParaRPr lang="en-US" altLang="zh-CN" dirty="0"/>
              </a:p>
              <a:p>
                <a:r>
                  <a:rPr lang="zh-CN" altLang="en-US" dirty="0"/>
                  <a:t>对于任意点</a:t>
                </a:r>
                <a:r>
                  <a:rPr lang="en-US" altLang="zh-CN" dirty="0"/>
                  <a:t>u</a:t>
                </a:r>
                <a:r>
                  <a:rPr lang="zh-CN" altLang="en-US" dirty="0"/>
                  <a:t>，离</a:t>
                </a:r>
                <a:r>
                  <a:rPr lang="en-US" altLang="zh-CN" dirty="0"/>
                  <a:t>u</a:t>
                </a:r>
                <a:r>
                  <a:rPr lang="zh-CN" altLang="en-US" dirty="0"/>
                  <a:t>最远的点一定是直径两端点之一。</a:t>
                </a:r>
                <a:endParaRPr lang="en-US" altLang="zh-CN" dirty="0"/>
              </a:p>
              <a:p>
                <a:r>
                  <a:rPr lang="zh-CN" altLang="en-US" dirty="0"/>
                  <a:t>设树上点集</a:t>
                </a:r>
                <a:r>
                  <a:rPr lang="en-US" altLang="zh-CN" dirty="0"/>
                  <a:t>S</a:t>
                </a:r>
                <a:r>
                  <a:rPr lang="zh-CN" altLang="en-US" dirty="0"/>
                  <a:t>中最远点对为</a:t>
                </a:r>
                <a:r>
                  <a:rPr lang="en-US" altLang="zh-CN" dirty="0"/>
                  <a:t>(</a:t>
                </a:r>
                <a:r>
                  <a:rPr lang="en-US" altLang="zh-CN" dirty="0" err="1"/>
                  <a:t>u,v</a:t>
                </a:r>
                <a:r>
                  <a:rPr lang="en-US" altLang="zh-CN" dirty="0"/>
                  <a:t>),</a:t>
                </a:r>
                <a:r>
                  <a:rPr lang="zh-CN" altLang="en-US" dirty="0"/>
                  <a:t>点集</a:t>
                </a:r>
                <a:r>
                  <a:rPr lang="en-US" altLang="zh-CN" dirty="0"/>
                  <a:t>T</a:t>
                </a:r>
                <a:r>
                  <a:rPr lang="zh-CN" altLang="en-US" dirty="0"/>
                  <a:t>中最远点对为</a:t>
                </a:r>
                <a:r>
                  <a:rPr lang="en-US" altLang="zh-CN" dirty="0"/>
                  <a:t>(</a:t>
                </a:r>
                <a:r>
                  <a:rPr lang="en-US" altLang="zh-CN" dirty="0" err="1"/>
                  <a:t>x,y</a:t>
                </a:r>
                <a:r>
                  <a:rPr lang="en-US" altLang="zh-CN" dirty="0"/>
                  <a:t>)</a:t>
                </a:r>
                <a:r>
                  <a:rPr lang="zh-CN" altLang="en-US" dirty="0"/>
                  <a:t>，则</a:t>
                </a:r>
                <a:r>
                  <a:rPr lang="en-US" altLang="zh-CN" dirty="0"/>
                  <a:t>S</a:t>
                </a:r>
                <a14:m>
                  <m:oMath xmlns:m="http://schemas.openxmlformats.org/officeDocument/2006/math">
                    <m:r>
                      <a:rPr lang="en-US" altLang="zh-CN">
                        <a:latin typeface="Cambria Math" panose="02040503050406030204" pitchFamily="18" charset="0"/>
                      </a:rPr>
                      <m:t>∪</m:t>
                    </m:r>
                    <m:r>
                      <a:rPr lang="en-US" altLang="zh-CN">
                        <a:latin typeface="Cambria Math" panose="02040503050406030204" pitchFamily="18" charset="0"/>
                      </a:rPr>
                      <m:t>𝑇</m:t>
                    </m:r>
                    <m:r>
                      <a:rPr lang="zh-CN" altLang="en-US">
                        <a:latin typeface="Cambria Math" panose="02040503050406030204" pitchFamily="18" charset="0"/>
                      </a:rPr>
                      <m:t>中最远</m:t>
                    </m:r>
                  </m:oMath>
                </a14:m>
                <a:r>
                  <a:rPr lang="zh-CN" altLang="en-US" dirty="0"/>
                  <a:t>点对为</a:t>
                </a:r>
                <a:r>
                  <a:rPr lang="en-US" altLang="zh-CN" dirty="0"/>
                  <a:t>(</a:t>
                </a:r>
                <a:r>
                  <a:rPr lang="en-US" altLang="zh-CN" dirty="0" err="1"/>
                  <a:t>u,v</a:t>
                </a:r>
                <a:r>
                  <a:rPr lang="en-US" altLang="zh-CN" dirty="0"/>
                  <a:t>),(</a:t>
                </a:r>
                <a:r>
                  <a:rPr lang="en-US" altLang="zh-CN" dirty="0" err="1"/>
                  <a:t>x,y</a:t>
                </a:r>
                <a:r>
                  <a:rPr lang="en-US" altLang="zh-CN" dirty="0"/>
                  <a:t>),(</a:t>
                </a:r>
                <a:r>
                  <a:rPr lang="en-US" altLang="zh-CN" dirty="0" err="1"/>
                  <a:t>u,x</a:t>
                </a:r>
                <a:r>
                  <a:rPr lang="en-US" altLang="zh-CN" dirty="0"/>
                  <a:t>),(</a:t>
                </a:r>
                <a:r>
                  <a:rPr lang="en-US" altLang="zh-CN" dirty="0" err="1"/>
                  <a:t>u,y</a:t>
                </a:r>
                <a:r>
                  <a:rPr lang="en-US" altLang="zh-CN" dirty="0"/>
                  <a:t>),(</a:t>
                </a:r>
                <a:r>
                  <a:rPr lang="en-US" altLang="zh-CN" dirty="0" err="1"/>
                  <a:t>v,x</a:t>
                </a:r>
                <a:r>
                  <a:rPr lang="en-US" altLang="zh-CN" dirty="0"/>
                  <a:t>),(</a:t>
                </a:r>
                <a:r>
                  <a:rPr lang="en-US" altLang="zh-CN" dirty="0" err="1"/>
                  <a:t>v,y</a:t>
                </a:r>
                <a:r>
                  <a:rPr lang="en-US" altLang="zh-CN" dirty="0"/>
                  <a:t>)</a:t>
                </a:r>
                <a:r>
                  <a:rPr lang="zh-CN" altLang="en-US" dirty="0"/>
                  <a:t>之一。</a:t>
                </a:r>
                <a:endParaRPr lang="en-US" altLang="zh-CN" dirty="0"/>
              </a:p>
              <a:p>
                <a:r>
                  <a:rPr lang="zh-CN" altLang="en-US" dirty="0"/>
                  <a:t>若直径长度为奇数，则树的所有直径经过同一条中心边。若直径长度为偶数，则树的所有直径经过同一条中心点。</a:t>
                </a:r>
                <a:endParaRPr lang="en-US" altLang="zh-CN" dirty="0"/>
              </a:p>
              <a:p>
                <a:r>
                  <a:rPr lang="zh-CN" altLang="en-US" dirty="0"/>
                  <a:t>求法：</a:t>
                </a:r>
                <a:r>
                  <a:rPr lang="en-US" altLang="zh-CN" dirty="0"/>
                  <a:t>2</a:t>
                </a:r>
                <a:r>
                  <a:rPr lang="zh-CN" altLang="en-US" dirty="0"/>
                  <a:t>遍</a:t>
                </a:r>
                <a:r>
                  <a:rPr lang="en-US" altLang="zh-CN" dirty="0" err="1"/>
                  <a:t>dfs</a:t>
                </a:r>
                <a:r>
                  <a:rPr lang="zh-CN" altLang="en-US" dirty="0"/>
                  <a:t>，或者</a:t>
                </a:r>
                <a:r>
                  <a:rPr lang="en-US" altLang="zh-CN" dirty="0" err="1"/>
                  <a:t>dp</a:t>
                </a:r>
                <a:r>
                  <a:rPr lang="zh-CN" altLang="en-US" dirty="0"/>
                  <a:t>。</a:t>
                </a:r>
              </a:p>
            </p:txBody>
          </p:sp>
        </mc:Choice>
        <mc:Fallback xmlns="">
          <p:sp>
            <p:nvSpPr>
              <p:cNvPr id="3" name="内容占位符 2">
                <a:extLst>
                  <a:ext uri="{FF2B5EF4-FFF2-40B4-BE49-F238E27FC236}">
                    <a16:creationId xmlns:a16="http://schemas.microsoft.com/office/drawing/2014/main" id="{61A74A74-D472-46EA-8053-3AEAE907A63A}"/>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84484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4F2895-476E-4302-B959-1C80C26BFEA1}"/>
              </a:ext>
            </a:extLst>
          </p:cNvPr>
          <p:cNvSpPr>
            <a:spLocks noGrp="1"/>
          </p:cNvSpPr>
          <p:nvPr>
            <p:ph type="title"/>
          </p:nvPr>
        </p:nvSpPr>
        <p:spPr/>
        <p:txBody>
          <a:bodyPr/>
          <a:lstStyle/>
          <a:p>
            <a:r>
              <a:rPr lang="zh-CN" altLang="en-US" dirty="0"/>
              <a:t>树的重心</a:t>
            </a:r>
          </a:p>
        </p:txBody>
      </p:sp>
      <p:sp>
        <p:nvSpPr>
          <p:cNvPr id="3" name="内容占位符 2">
            <a:extLst>
              <a:ext uri="{FF2B5EF4-FFF2-40B4-BE49-F238E27FC236}">
                <a16:creationId xmlns:a16="http://schemas.microsoft.com/office/drawing/2014/main" id="{4864F256-8FA9-420F-8261-9CE20A1D57E9}"/>
              </a:ext>
            </a:extLst>
          </p:cNvPr>
          <p:cNvSpPr>
            <a:spLocks noGrp="1"/>
          </p:cNvSpPr>
          <p:nvPr>
            <p:ph idx="1"/>
          </p:nvPr>
        </p:nvSpPr>
        <p:spPr/>
        <p:txBody>
          <a:bodyPr/>
          <a:lstStyle/>
          <a:p>
            <a:r>
              <a:rPr lang="zh-CN" altLang="en-US" dirty="0"/>
              <a:t>对于树上的每一个点，计算其所有子树中最大的子树节点数，这个值最小的点就是这棵树的重心。</a:t>
            </a:r>
            <a:endParaRPr lang="en-US" altLang="zh-CN" dirty="0"/>
          </a:p>
          <a:p>
            <a:r>
              <a:rPr lang="zh-CN" altLang="en-US" dirty="0"/>
              <a:t>一个点是重心，当且仅当以它为根时，所有子树的大小都不超过整棵树大小的一半。</a:t>
            </a:r>
          </a:p>
          <a:p>
            <a:r>
              <a:rPr lang="zh-CN" altLang="en-US" dirty="0"/>
              <a:t>树中所有点到某个点的距离和中，到重心的距离和是最小的。</a:t>
            </a:r>
            <a:endParaRPr lang="en-US" altLang="zh-CN" dirty="0"/>
          </a:p>
          <a:p>
            <a:endParaRPr lang="zh-CN" altLang="en-US" dirty="0"/>
          </a:p>
        </p:txBody>
      </p:sp>
    </p:spTree>
    <p:extLst>
      <p:ext uri="{BB962C8B-B14F-4D97-AF65-F5344CB8AC3E}">
        <p14:creationId xmlns:p14="http://schemas.microsoft.com/office/powerpoint/2010/main" val="994851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1A3380-F182-4836-8800-69C5B3458F35}"/>
              </a:ext>
            </a:extLst>
          </p:cNvPr>
          <p:cNvSpPr>
            <a:spLocks noGrp="1"/>
          </p:cNvSpPr>
          <p:nvPr>
            <p:ph type="title"/>
          </p:nvPr>
        </p:nvSpPr>
        <p:spPr/>
        <p:txBody>
          <a:bodyPr/>
          <a:lstStyle/>
          <a:p>
            <a:r>
              <a:rPr lang="zh-CN" altLang="en-US" dirty="0"/>
              <a:t>重链剖分</a:t>
            </a:r>
          </a:p>
        </p:txBody>
      </p:sp>
      <p:sp>
        <p:nvSpPr>
          <p:cNvPr id="3" name="内容占位符 2">
            <a:extLst>
              <a:ext uri="{FF2B5EF4-FFF2-40B4-BE49-F238E27FC236}">
                <a16:creationId xmlns:a16="http://schemas.microsoft.com/office/drawing/2014/main" id="{33E5CD3A-B5BE-490E-8A68-D0C1B202D4BE}"/>
              </a:ext>
            </a:extLst>
          </p:cNvPr>
          <p:cNvSpPr>
            <a:spLocks noGrp="1"/>
          </p:cNvSpPr>
          <p:nvPr>
            <p:ph idx="1"/>
          </p:nvPr>
        </p:nvSpPr>
        <p:spPr/>
        <p:txBody>
          <a:bodyPr/>
          <a:lstStyle/>
          <a:p>
            <a:r>
              <a:rPr lang="zh-CN" altLang="en-US" dirty="0">
                <a:effectLst/>
                <a:latin typeface="Courier New" panose="02070309020205020404" pitchFamily="49" charset="0"/>
              </a:rPr>
              <a:t>每个点选取子树大小最大的儿子作为重儿子，把树剖成若干条链。</a:t>
            </a:r>
            <a:endParaRPr lang="en-US" altLang="zh-CN" dirty="0">
              <a:effectLst/>
              <a:latin typeface="Courier New" panose="02070309020205020404" pitchFamily="49" charset="0"/>
            </a:endParaRPr>
          </a:p>
          <a:p>
            <a:r>
              <a:rPr lang="zh-CN" altLang="en-US" dirty="0">
                <a:effectLst/>
                <a:latin typeface="Courier New" panose="02070309020205020404" pitchFamily="49" charset="0"/>
              </a:rPr>
              <a:t>我们称非重儿子的儿子为轻儿子，由重儿子的父向边连成的链为重链。由于每从一个轻儿子跳到父亲时子树大小至少增大一倍，因而一个点到根的路径上经过的轻边不超过</a:t>
            </a:r>
            <a:r>
              <a:rPr lang="en-US" altLang="zh-CN" dirty="0" err="1">
                <a:effectLst/>
                <a:latin typeface="Times New Roman" panose="02020603050405020304" pitchFamily="18" charset="0"/>
              </a:rPr>
              <a:t>logn</a:t>
            </a:r>
            <a:r>
              <a:rPr lang="zh-CN" altLang="en-US" dirty="0">
                <a:effectLst/>
                <a:latin typeface="Courier New" panose="02070309020205020404" pitchFamily="49" charset="0"/>
              </a:rPr>
              <a:t>，也即路径上重链条数是</a:t>
            </a:r>
            <a:r>
              <a:rPr lang="en-US" altLang="zh-CN" dirty="0">
                <a:effectLst/>
                <a:latin typeface="Times New Roman" panose="02020603050405020304" pitchFamily="18" charset="0"/>
              </a:rPr>
              <a:t>O(</a:t>
            </a:r>
            <a:r>
              <a:rPr lang="en-US" altLang="zh-CN" dirty="0" err="1">
                <a:effectLst/>
                <a:latin typeface="Times New Roman" panose="02020603050405020304" pitchFamily="18" charset="0"/>
              </a:rPr>
              <a:t>logn</a:t>
            </a:r>
            <a:r>
              <a:rPr lang="en-US" altLang="zh-CN" dirty="0">
                <a:effectLst/>
                <a:latin typeface="Times New Roman" panose="02020603050405020304" pitchFamily="18" charset="0"/>
              </a:rPr>
              <a:t>)</a:t>
            </a:r>
            <a:r>
              <a:rPr lang="zh-CN" altLang="en-US" dirty="0">
                <a:effectLst/>
                <a:latin typeface="Courier New" panose="02070309020205020404" pitchFamily="49" charset="0"/>
              </a:rPr>
              <a:t>。</a:t>
            </a:r>
            <a:endParaRPr lang="en-US" altLang="zh-CN" dirty="0">
              <a:effectLst/>
              <a:latin typeface="Courier New" panose="02070309020205020404" pitchFamily="49" charset="0"/>
            </a:endParaRPr>
          </a:p>
          <a:p>
            <a:r>
              <a:rPr lang="zh-CN" altLang="en-US" dirty="0">
                <a:effectLst/>
                <a:latin typeface="Courier New" panose="02070309020205020404" pitchFamily="49" charset="0"/>
              </a:rPr>
              <a:t>任意两点间的路径可以被拆分成</a:t>
            </a:r>
            <a:r>
              <a:rPr lang="en-US" altLang="zh-CN" dirty="0">
                <a:effectLst/>
                <a:latin typeface="Times New Roman" panose="02020603050405020304" pitchFamily="18" charset="0"/>
              </a:rPr>
              <a:t>O(</a:t>
            </a:r>
            <a:r>
              <a:rPr lang="en-US" altLang="zh-CN" dirty="0" err="1">
                <a:effectLst/>
                <a:latin typeface="Times New Roman" panose="02020603050405020304" pitchFamily="18" charset="0"/>
              </a:rPr>
              <a:t>logn</a:t>
            </a:r>
            <a:r>
              <a:rPr lang="en-US" altLang="zh-CN" dirty="0">
                <a:effectLst/>
                <a:latin typeface="Times New Roman" panose="02020603050405020304" pitchFamily="18" charset="0"/>
              </a:rPr>
              <a:t>)</a:t>
            </a:r>
            <a:r>
              <a:rPr lang="zh-CN" altLang="en-US" dirty="0">
                <a:effectLst/>
                <a:latin typeface="Courier New" panose="02070309020205020404" pitchFamily="49" charset="0"/>
              </a:rPr>
              <a:t>段重链前缀加上一段重链区间，可以利用链上数据结构解决一些树上路径修改查询问题。</a:t>
            </a:r>
            <a:endParaRPr lang="zh-CN" altLang="en-US" dirty="0"/>
          </a:p>
        </p:txBody>
      </p:sp>
    </p:spTree>
    <p:extLst>
      <p:ext uri="{BB962C8B-B14F-4D97-AF65-F5344CB8AC3E}">
        <p14:creationId xmlns:p14="http://schemas.microsoft.com/office/powerpoint/2010/main" val="309319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F74A88-CFCE-4454-A767-A8F1BC6938E4}"/>
              </a:ext>
            </a:extLst>
          </p:cNvPr>
          <p:cNvSpPr>
            <a:spLocks noGrp="1"/>
          </p:cNvSpPr>
          <p:nvPr>
            <p:ph type="title"/>
          </p:nvPr>
        </p:nvSpPr>
        <p:spPr/>
        <p:txBody>
          <a:bodyPr/>
          <a:lstStyle/>
          <a:p>
            <a:r>
              <a:rPr lang="en-US" altLang="zh-CN" dirty="0" err="1"/>
              <a:t>Luogu</a:t>
            </a:r>
            <a:r>
              <a:rPr lang="en-US" altLang="zh-CN" dirty="0"/>
              <a:t> 4211</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52E45D1-F8CA-459E-A5BA-E42C90010322}"/>
                  </a:ext>
                </a:extLst>
              </p:cNvPr>
              <p:cNvSpPr>
                <a:spLocks noGrp="1"/>
              </p:cNvSpPr>
              <p:nvPr>
                <p:ph idx="1"/>
              </p:nvPr>
            </p:nvSpPr>
            <p:spPr/>
            <p:txBody>
              <a:bodyPr/>
              <a:lstStyle/>
              <a:p>
                <a:r>
                  <a:rPr lang="zh-CN" altLang="en-US" dirty="0"/>
                  <a:t>一棵有根树，</a:t>
                </a:r>
                <a:r>
                  <a:rPr lang="en-US" altLang="zh-CN" dirty="0"/>
                  <a:t>m</a:t>
                </a:r>
                <a:r>
                  <a:rPr lang="zh-CN" altLang="en-US" dirty="0"/>
                  <a:t>次询问，每次给出</a:t>
                </a:r>
                <a:r>
                  <a:rPr lang="en-US" altLang="zh-CN" dirty="0" err="1"/>
                  <a:t>l,r,z</a:t>
                </a:r>
                <a:r>
                  <a:rPr lang="en-US" altLang="zh-CN" dirty="0"/>
                  <a:t>,</a:t>
                </a:r>
                <a:r>
                  <a:rPr lang="zh-CN" altLang="en-US" dirty="0"/>
                  <a:t>求</a:t>
                </a:r>
                <a14:m>
                  <m:oMath xmlns:m="http://schemas.openxmlformats.org/officeDocument/2006/math">
                    <m:nary>
                      <m:naryPr>
                        <m:chr m:val="∑"/>
                        <m:ctrlPr>
                          <a:rPr lang="zh-CN" altLang="en-US"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sub>
                      <m:sup>
                        <m:r>
                          <a:rPr lang="en-US" altLang="zh-CN" b="0" i="1" smtClean="0">
                            <a:latin typeface="Cambria Math" panose="02040503050406030204" pitchFamily="18" charset="0"/>
                          </a:rPr>
                          <m:t>𝑟</m:t>
                        </m:r>
                      </m:sup>
                      <m:e>
                        <m:r>
                          <a:rPr lang="en-US" altLang="zh-CN" b="0" i="1" smtClean="0">
                            <a:latin typeface="Cambria Math" panose="02040503050406030204" pitchFamily="18" charset="0"/>
                          </a:rPr>
                          <m:t>𝑑𝑒𝑝</m:t>
                        </m:r>
                        <m:r>
                          <a:rPr lang="en-US" altLang="zh-CN" b="0" i="1" smtClean="0">
                            <a:latin typeface="Cambria Math" panose="02040503050406030204" pitchFamily="18" charset="0"/>
                          </a:rPr>
                          <m:t>[</m:t>
                        </m:r>
                        <m:r>
                          <a:rPr lang="en-US" altLang="zh-CN" b="0" i="1" smtClean="0">
                            <a:latin typeface="Cambria Math" panose="02040503050406030204" pitchFamily="18" charset="0"/>
                          </a:rPr>
                          <m:t>𝑙𝑐𝑎</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𝑧</m:t>
                            </m:r>
                          </m:e>
                        </m:d>
                        <m:r>
                          <a:rPr lang="en-US" altLang="zh-CN" b="0" i="1" smtClean="0">
                            <a:latin typeface="Cambria Math" panose="02040503050406030204" pitchFamily="18" charset="0"/>
                          </a:rPr>
                          <m:t>]</m:t>
                        </m:r>
                      </m:e>
                    </m:nary>
                  </m:oMath>
                </a14:m>
                <a:endParaRPr lang="en-US" altLang="zh-CN" dirty="0"/>
              </a:p>
              <a:p>
                <a:r>
                  <a:rPr lang="en-US" altLang="zh-CN" dirty="0" err="1"/>
                  <a:t>n,m</a:t>
                </a:r>
                <a:r>
                  <a:rPr lang="en-US" altLang="zh-CN" dirty="0"/>
                  <a:t>&lt;=10^5</a:t>
                </a:r>
                <a:endParaRPr lang="zh-CN" altLang="en-US" dirty="0"/>
              </a:p>
            </p:txBody>
          </p:sp>
        </mc:Choice>
        <mc:Fallback xmlns="">
          <p:sp>
            <p:nvSpPr>
              <p:cNvPr id="3" name="内容占位符 2">
                <a:extLst>
                  <a:ext uri="{FF2B5EF4-FFF2-40B4-BE49-F238E27FC236}">
                    <a16:creationId xmlns:a16="http://schemas.microsoft.com/office/drawing/2014/main" id="{F52E45D1-F8CA-459E-A5BA-E42C90010322}"/>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71904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CFA749-FC20-4BE7-B3DA-B2F82998BD0E}"/>
              </a:ext>
            </a:extLst>
          </p:cNvPr>
          <p:cNvSpPr>
            <a:spLocks noGrp="1"/>
          </p:cNvSpPr>
          <p:nvPr>
            <p:ph type="title"/>
          </p:nvPr>
        </p:nvSpPr>
        <p:spPr/>
        <p:txBody>
          <a:bodyPr/>
          <a:lstStyle/>
          <a:p>
            <a:r>
              <a:rPr lang="en-US" altLang="zh-CN" dirty="0" err="1"/>
              <a:t>Luogu</a:t>
            </a:r>
            <a:r>
              <a:rPr lang="en-US" altLang="zh-CN" dirty="0"/>
              <a:t> 4211</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411DF4D-D0B3-428C-82CC-65BE8A33E8AA}"/>
                  </a:ext>
                </a:extLst>
              </p:cNvPr>
              <p:cNvSpPr>
                <a:spLocks noGrp="1"/>
              </p:cNvSpPr>
              <p:nvPr>
                <p:ph idx="1"/>
              </p:nvPr>
            </p:nvSpPr>
            <p:spPr/>
            <p:txBody>
              <a:bodyPr/>
              <a:lstStyle/>
              <a:p>
                <a:r>
                  <a:rPr lang="zh-CN" altLang="en-US" dirty="0"/>
                  <a:t>询问变成两个前缀相减，只需求</a:t>
                </a:r>
                <a14:m>
                  <m:oMath xmlns:m="http://schemas.openxmlformats.org/officeDocument/2006/math">
                    <m:nary>
                      <m:naryPr>
                        <m:chr m:val="∑"/>
                        <m:ctrlPr>
                          <a:rPr lang="zh-CN" altLang="en-US"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𝑟</m:t>
                        </m:r>
                      </m:sup>
                      <m:e>
                        <m:r>
                          <a:rPr lang="en-US" altLang="zh-CN" b="0" i="1" smtClean="0">
                            <a:latin typeface="Cambria Math" panose="02040503050406030204" pitchFamily="18" charset="0"/>
                          </a:rPr>
                          <m:t>𝑑𝑒𝑝</m:t>
                        </m:r>
                        <m:r>
                          <a:rPr lang="en-US" altLang="zh-CN" b="0" i="1" smtClean="0">
                            <a:latin typeface="Cambria Math" panose="02040503050406030204" pitchFamily="18" charset="0"/>
                          </a:rPr>
                          <m:t>[</m:t>
                        </m:r>
                        <m:r>
                          <a:rPr lang="en-US" altLang="zh-CN" b="0" i="1" smtClean="0">
                            <a:latin typeface="Cambria Math" panose="02040503050406030204" pitchFamily="18" charset="0"/>
                          </a:rPr>
                          <m:t>𝑙𝑐𝑎</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𝑧</m:t>
                            </m:r>
                          </m:e>
                        </m:d>
                        <m:r>
                          <a:rPr lang="en-US" altLang="zh-CN" b="0" i="1" smtClean="0">
                            <a:latin typeface="Cambria Math" panose="02040503050406030204" pitchFamily="18" charset="0"/>
                          </a:rPr>
                          <m:t>]</m:t>
                        </m:r>
                      </m:e>
                    </m:nary>
                  </m:oMath>
                </a14:m>
                <a:r>
                  <a:rPr lang="zh-CN" altLang="en-US" dirty="0"/>
                  <a:t>。</a:t>
                </a:r>
                <a:endParaRPr lang="en-US" altLang="zh-CN" dirty="0"/>
              </a:p>
              <a:p>
                <a:r>
                  <a:rPr lang="zh-CN" altLang="en-US" dirty="0"/>
                  <a:t>对于</a:t>
                </a:r>
                <a:r>
                  <a:rPr lang="en-US" altLang="zh-CN" dirty="0"/>
                  <a:t>[1,r]</a:t>
                </a:r>
                <a:r>
                  <a:rPr lang="zh-CN" altLang="en-US" dirty="0"/>
                  <a:t>中的每个点</a:t>
                </a:r>
                <a:r>
                  <a:rPr lang="en-US" altLang="zh-CN" dirty="0" err="1"/>
                  <a:t>i</a:t>
                </a:r>
                <a:r>
                  <a:rPr lang="zh-CN" altLang="en-US" dirty="0"/>
                  <a:t>，将</a:t>
                </a:r>
                <a:r>
                  <a:rPr lang="en-US" altLang="zh-CN" dirty="0" err="1"/>
                  <a:t>i</a:t>
                </a:r>
                <a:r>
                  <a:rPr lang="zh-CN" altLang="en-US" dirty="0"/>
                  <a:t>到根的链上每个点权值</a:t>
                </a:r>
                <a:r>
                  <a:rPr lang="en-US" altLang="zh-CN" dirty="0"/>
                  <a:t>+1</a:t>
                </a:r>
                <a:r>
                  <a:rPr lang="zh-CN" altLang="en-US" dirty="0"/>
                  <a:t>。结束后</a:t>
                </a:r>
                <a:r>
                  <a:rPr lang="en-US" altLang="zh-CN" dirty="0"/>
                  <a:t>z</a:t>
                </a:r>
                <a:r>
                  <a:rPr lang="zh-CN" altLang="en-US" dirty="0"/>
                  <a:t>到根的点权和就是答案。</a:t>
                </a:r>
                <a:endParaRPr lang="en-US" altLang="zh-CN" dirty="0"/>
              </a:p>
              <a:p>
                <a:r>
                  <a:rPr lang="zh-CN" altLang="en-US" dirty="0"/>
                  <a:t>将询问离线，依次加入每个点</a:t>
                </a:r>
                <a:r>
                  <a:rPr lang="en-US" altLang="zh-CN" dirty="0" err="1"/>
                  <a:t>i</a:t>
                </a:r>
                <a:r>
                  <a:rPr lang="zh-CN" altLang="en-US" dirty="0"/>
                  <a:t>，用重链剖分</a:t>
                </a:r>
                <a:r>
                  <a:rPr lang="en-US" altLang="zh-CN" dirty="0"/>
                  <a:t>+</a:t>
                </a:r>
                <a:r>
                  <a:rPr lang="zh-CN" altLang="en-US" dirty="0"/>
                  <a:t>线段树维护链上点权和即可。</a:t>
                </a:r>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6411DF4D-D0B3-428C-82CC-65BE8A33E8AA}"/>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24372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F8371C-FF44-4D91-A4D1-0D14D25F8F69}"/>
              </a:ext>
            </a:extLst>
          </p:cNvPr>
          <p:cNvSpPr>
            <a:spLocks noGrp="1"/>
          </p:cNvSpPr>
          <p:nvPr>
            <p:ph type="title"/>
          </p:nvPr>
        </p:nvSpPr>
        <p:spPr/>
        <p:txBody>
          <a:bodyPr/>
          <a:lstStyle/>
          <a:p>
            <a:r>
              <a:rPr lang="zh-CN" altLang="en-US" dirty="0"/>
              <a:t>长链剖分</a:t>
            </a:r>
          </a:p>
        </p:txBody>
      </p:sp>
      <p:sp>
        <p:nvSpPr>
          <p:cNvPr id="3" name="内容占位符 2">
            <a:extLst>
              <a:ext uri="{FF2B5EF4-FFF2-40B4-BE49-F238E27FC236}">
                <a16:creationId xmlns:a16="http://schemas.microsoft.com/office/drawing/2014/main" id="{86B7F435-EC8C-4993-A206-650D22B3FBB8}"/>
              </a:ext>
            </a:extLst>
          </p:cNvPr>
          <p:cNvSpPr>
            <a:spLocks noGrp="1"/>
          </p:cNvSpPr>
          <p:nvPr>
            <p:ph idx="1"/>
          </p:nvPr>
        </p:nvSpPr>
        <p:spPr/>
        <p:txBody>
          <a:bodyPr/>
          <a:lstStyle/>
          <a:p>
            <a:r>
              <a:rPr lang="zh-CN" altLang="en-US" dirty="0">
                <a:effectLst/>
                <a:latin typeface="Courier New" panose="02070309020205020404" pitchFamily="49" charset="0"/>
              </a:rPr>
              <a:t>每个点选取子树内最深深度最大的儿子作为长儿子。</a:t>
            </a:r>
            <a:endParaRPr lang="en-US" altLang="zh-CN" dirty="0">
              <a:effectLst/>
              <a:latin typeface="Courier New" panose="02070309020205020404" pitchFamily="49" charset="0"/>
            </a:endParaRPr>
          </a:p>
          <a:p>
            <a:r>
              <a:rPr lang="zh-CN" altLang="en-US" dirty="0">
                <a:effectLst/>
                <a:latin typeface="Courier New" panose="02070309020205020404" pitchFamily="49" charset="0"/>
              </a:rPr>
              <a:t>长链剖分可以解决一些与深度有关的信息的维护问题。</a:t>
            </a:r>
            <a:endParaRPr lang="zh-CN" altLang="en-US" dirty="0"/>
          </a:p>
        </p:txBody>
      </p:sp>
    </p:spTree>
    <p:extLst>
      <p:ext uri="{BB962C8B-B14F-4D97-AF65-F5344CB8AC3E}">
        <p14:creationId xmlns:p14="http://schemas.microsoft.com/office/powerpoint/2010/main" val="1959535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559C17-32B9-493C-90C6-201374B28CD8}"/>
              </a:ext>
            </a:extLst>
          </p:cNvPr>
          <p:cNvSpPr>
            <a:spLocks noGrp="1"/>
          </p:cNvSpPr>
          <p:nvPr>
            <p:ph type="title"/>
          </p:nvPr>
        </p:nvSpPr>
        <p:spPr/>
        <p:txBody>
          <a:bodyPr/>
          <a:lstStyle/>
          <a:p>
            <a:r>
              <a:rPr lang="en-US" altLang="zh-CN" dirty="0"/>
              <a:t>No Source</a:t>
            </a:r>
            <a:endParaRPr lang="zh-CN" altLang="en-US" dirty="0"/>
          </a:p>
        </p:txBody>
      </p:sp>
      <p:sp>
        <p:nvSpPr>
          <p:cNvPr id="3" name="内容占位符 2">
            <a:extLst>
              <a:ext uri="{FF2B5EF4-FFF2-40B4-BE49-F238E27FC236}">
                <a16:creationId xmlns:a16="http://schemas.microsoft.com/office/drawing/2014/main" id="{A467D808-0DFC-42DE-BE1D-1F5639C3D923}"/>
              </a:ext>
            </a:extLst>
          </p:cNvPr>
          <p:cNvSpPr>
            <a:spLocks noGrp="1"/>
          </p:cNvSpPr>
          <p:nvPr>
            <p:ph idx="1"/>
          </p:nvPr>
        </p:nvSpPr>
        <p:spPr/>
        <p:txBody>
          <a:bodyPr/>
          <a:lstStyle/>
          <a:p>
            <a:r>
              <a:rPr lang="zh-CN" altLang="en-US" dirty="0"/>
              <a:t>一棵有根树，每个点可以选择覆盖其子树中距离不超过</a:t>
            </a:r>
            <a:r>
              <a:rPr lang="en-US" altLang="zh-CN" dirty="0"/>
              <a:t>d[u]</a:t>
            </a:r>
            <a:r>
              <a:rPr lang="zh-CN" altLang="en-US" dirty="0"/>
              <a:t>的部分，代价为</a:t>
            </a:r>
            <a:r>
              <a:rPr lang="en-US" altLang="zh-CN" dirty="0"/>
              <a:t>c[u]</a:t>
            </a:r>
            <a:r>
              <a:rPr lang="zh-CN" altLang="en-US" dirty="0"/>
              <a:t>。求覆盖整棵树的最小总代价，注意一个点可以被多次覆盖。</a:t>
            </a:r>
          </a:p>
        </p:txBody>
      </p:sp>
    </p:spTree>
    <p:extLst>
      <p:ext uri="{BB962C8B-B14F-4D97-AF65-F5344CB8AC3E}">
        <p14:creationId xmlns:p14="http://schemas.microsoft.com/office/powerpoint/2010/main" val="166697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FD65B4-5DC0-4884-B753-09FD0DBC6061}"/>
              </a:ext>
            </a:extLst>
          </p:cNvPr>
          <p:cNvSpPr>
            <a:spLocks noGrp="1"/>
          </p:cNvSpPr>
          <p:nvPr>
            <p:ph type="title"/>
          </p:nvPr>
        </p:nvSpPr>
        <p:spPr/>
        <p:txBody>
          <a:bodyPr/>
          <a:lstStyle/>
          <a:p>
            <a:r>
              <a:rPr lang="en-US" altLang="zh-CN" dirty="0"/>
              <a:t>No Source</a:t>
            </a:r>
            <a:endParaRPr lang="zh-CN" altLang="en-US" dirty="0"/>
          </a:p>
        </p:txBody>
      </p:sp>
      <p:sp>
        <p:nvSpPr>
          <p:cNvPr id="3" name="内容占位符 2">
            <a:extLst>
              <a:ext uri="{FF2B5EF4-FFF2-40B4-BE49-F238E27FC236}">
                <a16:creationId xmlns:a16="http://schemas.microsoft.com/office/drawing/2014/main" id="{B17F3A39-10FC-44BB-BD1A-1539062F00CA}"/>
              </a:ext>
            </a:extLst>
          </p:cNvPr>
          <p:cNvSpPr>
            <a:spLocks noGrp="1"/>
          </p:cNvSpPr>
          <p:nvPr>
            <p:ph idx="1"/>
          </p:nvPr>
        </p:nvSpPr>
        <p:spPr/>
        <p:txBody>
          <a:bodyPr>
            <a:normAutofit fontScale="92500" lnSpcReduction="10000"/>
          </a:bodyPr>
          <a:lstStyle/>
          <a:p>
            <a:r>
              <a:rPr lang="zh-CN" altLang="en-US" dirty="0"/>
              <a:t>设</a:t>
            </a:r>
            <a:r>
              <a:rPr lang="en-US" altLang="zh-CN" dirty="0" err="1"/>
              <a:t>dp</a:t>
            </a:r>
            <a:r>
              <a:rPr lang="en-US" altLang="zh-CN" dirty="0"/>
              <a:t>[</a:t>
            </a:r>
            <a:r>
              <a:rPr lang="en-US" altLang="zh-CN" dirty="0" err="1"/>
              <a:t>i</a:t>
            </a:r>
            <a:r>
              <a:rPr lang="en-US" altLang="zh-CN" dirty="0"/>
              <a:t>][j]</a:t>
            </a:r>
            <a:r>
              <a:rPr lang="zh-CN" altLang="en-US" dirty="0"/>
              <a:t>表示以</a:t>
            </a:r>
            <a:r>
              <a:rPr lang="en-US" altLang="zh-CN" dirty="0" err="1"/>
              <a:t>i</a:t>
            </a:r>
            <a:r>
              <a:rPr lang="zh-CN" altLang="en-US" dirty="0"/>
              <a:t>为根的子树，最深的未被覆盖的点与</a:t>
            </a:r>
            <a:r>
              <a:rPr lang="en-US" altLang="zh-CN" dirty="0" err="1"/>
              <a:t>i</a:t>
            </a:r>
            <a:r>
              <a:rPr lang="zh-CN" altLang="en-US" dirty="0"/>
              <a:t>的相对深度</a:t>
            </a:r>
            <a:r>
              <a:rPr lang="en-US" altLang="zh-CN" dirty="0"/>
              <a:t>&lt;=j-1</a:t>
            </a:r>
            <a:r>
              <a:rPr lang="zh-CN" altLang="en-US" dirty="0"/>
              <a:t>的最小代价。分选</a:t>
            </a:r>
            <a:r>
              <a:rPr lang="en-US" altLang="zh-CN" dirty="0" err="1"/>
              <a:t>i</a:t>
            </a:r>
            <a:r>
              <a:rPr lang="zh-CN" altLang="en-US" dirty="0"/>
              <a:t>和不选</a:t>
            </a:r>
            <a:r>
              <a:rPr lang="en-US" altLang="zh-CN" dirty="0" err="1"/>
              <a:t>i</a:t>
            </a:r>
            <a:r>
              <a:rPr lang="zh-CN" altLang="en-US" dirty="0"/>
              <a:t>转移。</a:t>
            </a:r>
            <a:endParaRPr lang="en-US" altLang="zh-CN" dirty="0"/>
          </a:p>
          <a:p>
            <a:r>
              <a:rPr lang="zh-CN" altLang="en-US" dirty="0"/>
              <a:t>具体实现时用一棵全局的线段树，每个点</a:t>
            </a:r>
            <a:r>
              <a:rPr lang="en-US" altLang="zh-CN" dirty="0"/>
              <a:t>u</a:t>
            </a:r>
            <a:r>
              <a:rPr lang="zh-CN" altLang="en-US" dirty="0"/>
              <a:t>的</a:t>
            </a:r>
            <a:r>
              <a:rPr lang="en-US" altLang="zh-CN" dirty="0" err="1"/>
              <a:t>dp</a:t>
            </a:r>
            <a:r>
              <a:rPr lang="zh-CN" altLang="en-US" dirty="0"/>
              <a:t>数组保存在线段树上的一段区间，记</a:t>
            </a:r>
            <a:r>
              <a:rPr lang="en-US" altLang="zh-CN" dirty="0"/>
              <a:t>pos[u]</a:t>
            </a:r>
            <a:r>
              <a:rPr lang="zh-CN" altLang="en-US" dirty="0"/>
              <a:t>表示</a:t>
            </a:r>
            <a:r>
              <a:rPr lang="en-US" altLang="zh-CN" dirty="0"/>
              <a:t>u</a:t>
            </a:r>
            <a:r>
              <a:rPr lang="zh-CN" altLang="en-US" dirty="0"/>
              <a:t>的</a:t>
            </a:r>
            <a:r>
              <a:rPr lang="en-US" altLang="zh-CN" dirty="0" err="1"/>
              <a:t>dp</a:t>
            </a:r>
            <a:r>
              <a:rPr lang="zh-CN" altLang="en-US" dirty="0"/>
              <a:t>数组在线段树上的起始位置。比如，</a:t>
            </a:r>
            <a:r>
              <a:rPr lang="en-US" altLang="zh-CN" dirty="0" err="1"/>
              <a:t>dp</a:t>
            </a:r>
            <a:r>
              <a:rPr lang="en-US" altLang="zh-CN" dirty="0"/>
              <a:t>[u][0]</a:t>
            </a:r>
            <a:r>
              <a:rPr lang="zh-CN" altLang="en-US" dirty="0"/>
              <a:t>即为线段树的第</a:t>
            </a:r>
            <a:r>
              <a:rPr lang="en-US" altLang="zh-CN" dirty="0"/>
              <a:t>pos[u]</a:t>
            </a:r>
            <a:r>
              <a:rPr lang="zh-CN" altLang="en-US" dirty="0"/>
              <a:t>位维护的值，</a:t>
            </a:r>
            <a:r>
              <a:rPr lang="en-US" altLang="zh-CN" dirty="0" err="1"/>
              <a:t>dp</a:t>
            </a:r>
            <a:r>
              <a:rPr lang="en-US" altLang="zh-CN" dirty="0"/>
              <a:t>[u][1]</a:t>
            </a:r>
            <a:r>
              <a:rPr lang="zh-CN" altLang="en-US" dirty="0"/>
              <a:t>即为线段树的第</a:t>
            </a:r>
            <a:r>
              <a:rPr lang="en-US" altLang="zh-CN" dirty="0"/>
              <a:t>pos[u]+1</a:t>
            </a:r>
            <a:r>
              <a:rPr lang="zh-CN" altLang="en-US" dirty="0"/>
              <a:t>位维护的值。</a:t>
            </a:r>
            <a:endParaRPr lang="en-US" altLang="zh-CN" dirty="0"/>
          </a:p>
          <a:p>
            <a:r>
              <a:rPr lang="zh-CN" altLang="en-US" dirty="0"/>
              <a:t>对于</a:t>
            </a:r>
            <a:r>
              <a:rPr lang="en-US" altLang="zh-CN" dirty="0" err="1"/>
              <a:t>dfs</a:t>
            </a:r>
            <a:r>
              <a:rPr lang="zh-CN" altLang="en-US" dirty="0"/>
              <a:t>到的一个点</a:t>
            </a:r>
            <a:r>
              <a:rPr lang="en-US" altLang="zh-CN" dirty="0"/>
              <a:t>u</a:t>
            </a:r>
            <a:r>
              <a:rPr lang="zh-CN" altLang="en-US" dirty="0"/>
              <a:t>，只加入长儿子时有</a:t>
            </a:r>
            <a:r>
              <a:rPr lang="en-US" altLang="zh-CN" dirty="0" err="1"/>
              <a:t>dp</a:t>
            </a:r>
            <a:r>
              <a:rPr lang="en-US" altLang="zh-CN" dirty="0"/>
              <a:t>[u][</a:t>
            </a:r>
            <a:r>
              <a:rPr lang="en-US" altLang="zh-CN" dirty="0" err="1"/>
              <a:t>i</a:t>
            </a:r>
            <a:r>
              <a:rPr lang="en-US" altLang="zh-CN" dirty="0"/>
              <a:t>]=</a:t>
            </a:r>
            <a:r>
              <a:rPr lang="en-US" altLang="zh-CN" dirty="0" err="1"/>
              <a:t>dp</a:t>
            </a:r>
            <a:r>
              <a:rPr lang="en-US" altLang="zh-CN" dirty="0"/>
              <a:t>[son[u]][i-1]</a:t>
            </a:r>
            <a:r>
              <a:rPr lang="zh-CN" altLang="en-US" dirty="0"/>
              <a:t>，因此，设</a:t>
            </a:r>
            <a:r>
              <a:rPr lang="en-US" altLang="zh-CN" dirty="0"/>
              <a:t>pos[son[u]]=pos[u]+1</a:t>
            </a:r>
            <a:r>
              <a:rPr lang="zh-CN" altLang="en-US" dirty="0"/>
              <a:t>，并</a:t>
            </a:r>
            <a:r>
              <a:rPr lang="en-US" altLang="zh-CN" dirty="0" err="1"/>
              <a:t>dfs</a:t>
            </a:r>
            <a:r>
              <a:rPr lang="zh-CN" altLang="en-US" dirty="0"/>
              <a:t>长儿子，</a:t>
            </a:r>
            <a:r>
              <a:rPr lang="en-US" altLang="zh-CN" dirty="0" err="1"/>
              <a:t>dfs</a:t>
            </a:r>
            <a:r>
              <a:rPr lang="zh-CN" altLang="en-US" dirty="0"/>
              <a:t>完成后就得到了加入长儿子时</a:t>
            </a:r>
            <a:r>
              <a:rPr lang="en-US" altLang="zh-CN" dirty="0"/>
              <a:t>u</a:t>
            </a:r>
            <a:r>
              <a:rPr lang="zh-CN" altLang="en-US" dirty="0"/>
              <a:t>的</a:t>
            </a:r>
            <a:r>
              <a:rPr lang="en-US" altLang="zh-CN" dirty="0" err="1"/>
              <a:t>dp</a:t>
            </a:r>
            <a:r>
              <a:rPr lang="zh-CN" altLang="en-US" dirty="0"/>
              <a:t>值。然后对于所有非长儿子</a:t>
            </a:r>
            <a:r>
              <a:rPr lang="en-US" altLang="zh-CN" dirty="0"/>
              <a:t>v</a:t>
            </a:r>
            <a:r>
              <a:rPr lang="zh-CN" altLang="en-US" dirty="0"/>
              <a:t>，在线段树上新开一段未使用的区间用来保存其</a:t>
            </a:r>
            <a:r>
              <a:rPr lang="en-US" altLang="zh-CN" dirty="0" err="1"/>
              <a:t>dp</a:t>
            </a:r>
            <a:r>
              <a:rPr lang="zh-CN" altLang="en-US" dirty="0"/>
              <a:t>值，然后</a:t>
            </a:r>
            <a:r>
              <a:rPr lang="en-US" altLang="zh-CN" dirty="0" err="1"/>
              <a:t>dfs</a:t>
            </a:r>
            <a:r>
              <a:rPr lang="en-US" altLang="zh-CN" dirty="0"/>
              <a:t>(v)</a:t>
            </a:r>
            <a:r>
              <a:rPr lang="zh-CN" altLang="en-US" dirty="0"/>
              <a:t>，</a:t>
            </a:r>
            <a:r>
              <a:rPr lang="en-US" altLang="zh-CN" dirty="0" err="1"/>
              <a:t>dfs</a:t>
            </a:r>
            <a:r>
              <a:rPr lang="zh-CN" altLang="en-US" dirty="0"/>
              <a:t>完成后合并</a:t>
            </a:r>
            <a:r>
              <a:rPr lang="en-US" altLang="zh-CN" dirty="0" err="1"/>
              <a:t>dp</a:t>
            </a:r>
            <a:r>
              <a:rPr lang="en-US" altLang="zh-CN" dirty="0"/>
              <a:t>[u]</a:t>
            </a:r>
            <a:r>
              <a:rPr lang="zh-CN" altLang="en-US" dirty="0"/>
              <a:t>与</a:t>
            </a:r>
            <a:r>
              <a:rPr lang="en-US" altLang="zh-CN" dirty="0" err="1"/>
              <a:t>dp</a:t>
            </a:r>
            <a:r>
              <a:rPr lang="en-US" altLang="zh-CN" dirty="0"/>
              <a:t>[v]</a:t>
            </a:r>
            <a:r>
              <a:rPr lang="zh-CN" altLang="en-US" dirty="0"/>
              <a:t>。</a:t>
            </a:r>
            <a:endParaRPr lang="en-US" altLang="zh-CN" dirty="0"/>
          </a:p>
          <a:p>
            <a:r>
              <a:rPr lang="zh-CN" altLang="en-US" dirty="0"/>
              <a:t>如果题目性质可以直接使用数组维护</a:t>
            </a:r>
            <a:r>
              <a:rPr lang="en-US" altLang="zh-CN" dirty="0" err="1"/>
              <a:t>dp</a:t>
            </a:r>
            <a:r>
              <a:rPr lang="zh-CN" altLang="en-US" dirty="0"/>
              <a:t>值而不用线段树等数据结构，可以开一个大数组作为内存池，并设</a:t>
            </a:r>
            <a:r>
              <a:rPr lang="en-US" altLang="zh-CN" dirty="0"/>
              <a:t>f[u]</a:t>
            </a:r>
            <a:r>
              <a:rPr lang="zh-CN" altLang="en-US" dirty="0"/>
              <a:t>为指向内存池某一位的指针。</a:t>
            </a:r>
          </a:p>
        </p:txBody>
      </p:sp>
    </p:spTree>
    <p:extLst>
      <p:ext uri="{BB962C8B-B14F-4D97-AF65-F5344CB8AC3E}">
        <p14:creationId xmlns:p14="http://schemas.microsoft.com/office/powerpoint/2010/main" val="1680787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1A3380-F182-4836-8800-69C5B3458F35}"/>
              </a:ext>
            </a:extLst>
          </p:cNvPr>
          <p:cNvSpPr>
            <a:spLocks noGrp="1"/>
          </p:cNvSpPr>
          <p:nvPr>
            <p:ph type="title"/>
          </p:nvPr>
        </p:nvSpPr>
        <p:spPr/>
        <p:txBody>
          <a:bodyPr/>
          <a:lstStyle/>
          <a:p>
            <a:r>
              <a:rPr lang="zh-CN" altLang="en-US" dirty="0"/>
              <a:t>树上启发式合并</a:t>
            </a:r>
          </a:p>
        </p:txBody>
      </p:sp>
      <p:sp>
        <p:nvSpPr>
          <p:cNvPr id="3" name="内容占位符 2">
            <a:extLst>
              <a:ext uri="{FF2B5EF4-FFF2-40B4-BE49-F238E27FC236}">
                <a16:creationId xmlns:a16="http://schemas.microsoft.com/office/drawing/2014/main" id="{33E5CD3A-B5BE-490E-8A68-D0C1B202D4BE}"/>
              </a:ext>
            </a:extLst>
          </p:cNvPr>
          <p:cNvSpPr>
            <a:spLocks noGrp="1"/>
          </p:cNvSpPr>
          <p:nvPr>
            <p:ph idx="1"/>
          </p:nvPr>
        </p:nvSpPr>
        <p:spPr/>
        <p:txBody>
          <a:bodyPr/>
          <a:lstStyle/>
          <a:p>
            <a:r>
              <a:rPr lang="zh-CN" altLang="en-US" dirty="0">
                <a:effectLst/>
                <a:latin typeface="Courier New" panose="02070309020205020404" pitchFamily="49" charset="0"/>
              </a:rPr>
              <a:t>用于解决一些难以快速合并的子树信息询问。</a:t>
            </a:r>
            <a:endParaRPr lang="en-US" altLang="zh-CN" dirty="0">
              <a:effectLst/>
              <a:latin typeface="Courier New" panose="02070309020205020404" pitchFamily="49" charset="0"/>
            </a:endParaRPr>
          </a:p>
          <a:p>
            <a:r>
              <a:rPr lang="zh-CN" altLang="en-US" dirty="0">
                <a:effectLst/>
                <a:latin typeface="Courier New" panose="02070309020205020404" pitchFamily="49" charset="0"/>
              </a:rPr>
              <a:t>算法流程是当处理到点</a:t>
            </a:r>
            <a:r>
              <a:rPr lang="en-US" altLang="zh-CN" dirty="0">
                <a:effectLst/>
                <a:latin typeface="Times New Roman" panose="02020603050405020304" pitchFamily="18" charset="0"/>
              </a:rPr>
              <a:t>u</a:t>
            </a:r>
            <a:r>
              <a:rPr lang="zh-CN" altLang="en-US" dirty="0">
                <a:effectLst/>
                <a:latin typeface="Courier New" panose="02070309020205020404" pitchFamily="49" charset="0"/>
              </a:rPr>
              <a:t>时，先递归处理</a:t>
            </a:r>
            <a:r>
              <a:rPr lang="en-US" altLang="zh-CN" dirty="0">
                <a:effectLst/>
                <a:latin typeface="Times New Roman" panose="02020603050405020304" pitchFamily="18" charset="0"/>
              </a:rPr>
              <a:t>u</a:t>
            </a:r>
            <a:r>
              <a:rPr lang="zh-CN" altLang="en-US" dirty="0">
                <a:effectLst/>
                <a:latin typeface="Courier New" panose="02070309020205020404" pitchFamily="49" charset="0"/>
              </a:rPr>
              <a:t>的所有轻儿子并在回溯时清空已统计信息，再递归处理</a:t>
            </a:r>
            <a:r>
              <a:rPr lang="en-US" altLang="zh-CN" dirty="0">
                <a:effectLst/>
                <a:latin typeface="Times New Roman" panose="02020603050405020304" pitchFamily="18" charset="0"/>
              </a:rPr>
              <a:t>u</a:t>
            </a:r>
            <a:r>
              <a:rPr lang="zh-CN" altLang="en-US" dirty="0">
                <a:effectLst/>
                <a:latin typeface="Courier New" panose="02070309020205020404" pitchFamily="49" charset="0"/>
              </a:rPr>
              <a:t>的重儿子，再遍历所有轻儿子统计子树信息，此时便可以根据已统计的点</a:t>
            </a:r>
            <a:r>
              <a:rPr lang="en-US" altLang="zh-CN" dirty="0">
                <a:effectLst/>
                <a:latin typeface="Times New Roman" panose="02020603050405020304" pitchFamily="18" charset="0"/>
              </a:rPr>
              <a:t>u</a:t>
            </a:r>
            <a:r>
              <a:rPr lang="zh-CN" altLang="en-US" dirty="0">
                <a:effectLst/>
                <a:latin typeface="Courier New" panose="02070309020205020404" pitchFamily="49" charset="0"/>
              </a:rPr>
              <a:t>的子树信息处理一些询问。</a:t>
            </a:r>
            <a:endParaRPr lang="en-US" altLang="zh-CN" dirty="0">
              <a:effectLst/>
              <a:latin typeface="Courier New" panose="02070309020205020404" pitchFamily="49" charset="0"/>
            </a:endParaRPr>
          </a:p>
          <a:p>
            <a:r>
              <a:rPr lang="zh-CN" altLang="en-US" dirty="0">
                <a:effectLst/>
                <a:latin typeface="Courier New" panose="02070309020205020404" pitchFamily="49" charset="0"/>
              </a:rPr>
              <a:t>每条轻边会使其子树内的所有点被暴力遍历一次，而每个点的祖先轻边数量都不超过</a:t>
            </a:r>
            <a:r>
              <a:rPr lang="en-US" altLang="zh-CN" dirty="0" err="1">
                <a:effectLst/>
                <a:latin typeface="Times New Roman" panose="02020603050405020304" pitchFamily="18" charset="0"/>
              </a:rPr>
              <a:t>logn</a:t>
            </a:r>
            <a:r>
              <a:rPr lang="zh-CN" altLang="en-US" dirty="0">
                <a:effectLst/>
                <a:latin typeface="Courier New" panose="02070309020205020404" pitchFamily="49" charset="0"/>
              </a:rPr>
              <a:t>，因此算法的总时间复杂度为</a:t>
            </a:r>
            <a:r>
              <a:rPr lang="en-US" altLang="zh-CN" dirty="0">
                <a:effectLst/>
                <a:latin typeface="Times New Roman" panose="02020603050405020304" pitchFamily="18" charset="0"/>
              </a:rPr>
              <a:t>O(</a:t>
            </a:r>
            <a:r>
              <a:rPr lang="en-US" altLang="zh-CN" dirty="0" err="1">
                <a:effectLst/>
                <a:latin typeface="Times New Roman" panose="02020603050405020304" pitchFamily="18" charset="0"/>
              </a:rPr>
              <a:t>nlogn</a:t>
            </a:r>
            <a:r>
              <a:rPr lang="en-US" altLang="zh-CN" dirty="0">
                <a:effectLst/>
                <a:latin typeface="Times New Roman" panose="02020603050405020304" pitchFamily="18" charset="0"/>
              </a:rPr>
              <a:t>)</a:t>
            </a:r>
            <a:r>
              <a:rPr lang="zh-CN" altLang="en-US" dirty="0">
                <a:effectLst/>
                <a:latin typeface="Courier New" panose="02070309020205020404" pitchFamily="49" charset="0"/>
              </a:rPr>
              <a:t>。</a:t>
            </a:r>
            <a:endParaRPr lang="zh-CN" altLang="en-US" dirty="0"/>
          </a:p>
        </p:txBody>
      </p:sp>
    </p:spTree>
    <p:extLst>
      <p:ext uri="{BB962C8B-B14F-4D97-AF65-F5344CB8AC3E}">
        <p14:creationId xmlns:p14="http://schemas.microsoft.com/office/powerpoint/2010/main" val="111921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B5F2E7-034A-4B7A-963F-D7B4CFC239B5}"/>
              </a:ext>
            </a:extLst>
          </p:cNvPr>
          <p:cNvSpPr>
            <a:spLocks noGrp="1"/>
          </p:cNvSpPr>
          <p:nvPr>
            <p:ph type="title"/>
          </p:nvPr>
        </p:nvSpPr>
        <p:spPr/>
        <p:txBody>
          <a:bodyPr/>
          <a:lstStyle/>
          <a:p>
            <a:r>
              <a:rPr lang="en-US" altLang="zh-CN" dirty="0"/>
              <a:t>CF741D</a:t>
            </a:r>
            <a:endParaRPr lang="zh-CN" altLang="en-US" dirty="0"/>
          </a:p>
        </p:txBody>
      </p:sp>
      <p:sp>
        <p:nvSpPr>
          <p:cNvPr id="3" name="内容占位符 2">
            <a:extLst>
              <a:ext uri="{FF2B5EF4-FFF2-40B4-BE49-F238E27FC236}">
                <a16:creationId xmlns:a16="http://schemas.microsoft.com/office/drawing/2014/main" id="{FD4F38B4-2FAC-4AB5-96F5-7EA243476E2C}"/>
              </a:ext>
            </a:extLst>
          </p:cNvPr>
          <p:cNvSpPr>
            <a:spLocks noGrp="1"/>
          </p:cNvSpPr>
          <p:nvPr>
            <p:ph idx="1"/>
          </p:nvPr>
        </p:nvSpPr>
        <p:spPr/>
        <p:txBody>
          <a:bodyPr/>
          <a:lstStyle/>
          <a:p>
            <a:r>
              <a:rPr lang="zh-CN" altLang="en-US" dirty="0"/>
              <a:t>给一棵</a:t>
            </a:r>
            <a:r>
              <a:rPr lang="en-US" altLang="zh-CN" dirty="0"/>
              <a:t>n</a:t>
            </a:r>
            <a:r>
              <a:rPr lang="zh-CN" altLang="en-US" dirty="0"/>
              <a:t>个点的树，每个点上有一个字符，字符集大小为</a:t>
            </a:r>
            <a:r>
              <a:rPr lang="el-GR" altLang="zh-CN" dirty="0"/>
              <a:t>σ </a:t>
            </a:r>
            <a:r>
              <a:rPr lang="zh-CN" altLang="en-US" dirty="0"/>
              <a:t>。定义一条路径是好的当且仅当这条路径上的所有字符经过重新排列后可以形成回文串。求每个点子树内最长的好的路径的长度。</a:t>
            </a:r>
            <a:endParaRPr lang="en-US" altLang="zh-CN" dirty="0"/>
          </a:p>
          <a:p>
            <a:r>
              <a:rPr lang="en-US" altLang="zh-CN" dirty="0"/>
              <a:t>n&lt;=2*10^5</a:t>
            </a:r>
            <a:r>
              <a:rPr lang="zh-CN" altLang="en-US" dirty="0"/>
              <a:t>，</a:t>
            </a:r>
            <a:r>
              <a:rPr lang="el-GR" altLang="zh-CN" dirty="0"/>
              <a:t>σ </a:t>
            </a:r>
            <a:r>
              <a:rPr lang="en-US" altLang="zh-CN" dirty="0"/>
              <a:t>&lt;=22</a:t>
            </a:r>
            <a:endParaRPr lang="zh-CN" altLang="en-US" dirty="0"/>
          </a:p>
        </p:txBody>
      </p:sp>
    </p:spTree>
    <p:extLst>
      <p:ext uri="{BB962C8B-B14F-4D97-AF65-F5344CB8AC3E}">
        <p14:creationId xmlns:p14="http://schemas.microsoft.com/office/powerpoint/2010/main" val="2941148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75BA44-B0EB-457A-A58A-83544326A64A}"/>
              </a:ext>
            </a:extLst>
          </p:cNvPr>
          <p:cNvSpPr>
            <a:spLocks noGrp="1"/>
          </p:cNvSpPr>
          <p:nvPr>
            <p:ph type="title"/>
          </p:nvPr>
        </p:nvSpPr>
        <p:spPr/>
        <p:txBody>
          <a:bodyPr/>
          <a:lstStyle/>
          <a:p>
            <a:r>
              <a:rPr lang="en-US" altLang="zh-CN" dirty="0"/>
              <a:t>CF741D</a:t>
            </a:r>
            <a:endParaRPr lang="zh-CN" altLang="en-US" dirty="0"/>
          </a:p>
        </p:txBody>
      </p:sp>
      <p:sp>
        <p:nvSpPr>
          <p:cNvPr id="3" name="内容占位符 2">
            <a:extLst>
              <a:ext uri="{FF2B5EF4-FFF2-40B4-BE49-F238E27FC236}">
                <a16:creationId xmlns:a16="http://schemas.microsoft.com/office/drawing/2014/main" id="{4071A389-D328-4CDE-BFE2-3AE1295D72A2}"/>
              </a:ext>
            </a:extLst>
          </p:cNvPr>
          <p:cNvSpPr>
            <a:spLocks noGrp="1"/>
          </p:cNvSpPr>
          <p:nvPr>
            <p:ph idx="1"/>
          </p:nvPr>
        </p:nvSpPr>
        <p:spPr/>
        <p:txBody>
          <a:bodyPr/>
          <a:lstStyle/>
          <a:p>
            <a:r>
              <a:rPr lang="zh-CN" altLang="en-US" dirty="0"/>
              <a:t>一条路径是好的当且仅当只有至多一种字符出现奇数次。</a:t>
            </a:r>
            <a:endParaRPr lang="en-US" altLang="zh-CN" dirty="0"/>
          </a:p>
          <a:p>
            <a:r>
              <a:rPr lang="zh-CN" altLang="en-US" dirty="0"/>
              <a:t>状压，记</a:t>
            </a:r>
            <a:r>
              <a:rPr lang="en-US" altLang="zh-CN" dirty="0"/>
              <a:t>f[S]</a:t>
            </a:r>
            <a:r>
              <a:rPr lang="zh-CN" altLang="en-US" dirty="0"/>
              <a:t>表示子树内到根路径上每种字符出现次数奇偶性状态为</a:t>
            </a:r>
            <a:r>
              <a:rPr lang="en-US" altLang="zh-CN" dirty="0"/>
              <a:t>S</a:t>
            </a:r>
            <a:r>
              <a:rPr lang="zh-CN" altLang="en-US" dirty="0"/>
              <a:t>的点的最大深度，加入一棵子树时，先利用桶中信息更新答案，再把整棵子树加入桶。</a:t>
            </a:r>
            <a:endParaRPr lang="en-US" altLang="zh-CN" dirty="0"/>
          </a:p>
          <a:p>
            <a:r>
              <a:rPr lang="zh-CN" altLang="en-US" dirty="0"/>
              <a:t>每次更新答案时都有</a:t>
            </a:r>
            <a:r>
              <a:rPr lang="el-GR" altLang="zh-CN" dirty="0"/>
              <a:t>σ</a:t>
            </a:r>
            <a:r>
              <a:rPr lang="en-US" altLang="zh-CN" dirty="0"/>
              <a:t>+1</a:t>
            </a:r>
            <a:r>
              <a:rPr lang="zh-CN" altLang="en-US" dirty="0"/>
              <a:t>种可能的情况，因此时间复杂度为</a:t>
            </a:r>
            <a:r>
              <a:rPr lang="en-US" altLang="zh-CN" dirty="0"/>
              <a:t>O(n</a:t>
            </a:r>
            <a:r>
              <a:rPr lang="el-GR" altLang="zh-CN" dirty="0"/>
              <a:t>σ </a:t>
            </a:r>
            <a:r>
              <a:rPr lang="en-US" altLang="zh-CN" dirty="0" err="1"/>
              <a:t>logn</a:t>
            </a:r>
            <a:r>
              <a:rPr lang="en-US" altLang="zh-CN" dirty="0"/>
              <a:t>)</a:t>
            </a:r>
            <a:r>
              <a:rPr lang="zh-CN" altLang="en-US" dirty="0"/>
              <a:t>。</a:t>
            </a:r>
          </a:p>
        </p:txBody>
      </p:sp>
    </p:spTree>
    <p:extLst>
      <p:ext uri="{BB962C8B-B14F-4D97-AF65-F5344CB8AC3E}">
        <p14:creationId xmlns:p14="http://schemas.microsoft.com/office/powerpoint/2010/main" val="376492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D5DE6A-6DA3-44D7-8537-60829820AA39}"/>
              </a:ext>
            </a:extLst>
          </p:cNvPr>
          <p:cNvSpPr>
            <a:spLocks noGrp="1"/>
          </p:cNvSpPr>
          <p:nvPr>
            <p:ph type="title"/>
          </p:nvPr>
        </p:nvSpPr>
        <p:spPr/>
        <p:txBody>
          <a:bodyPr/>
          <a:lstStyle/>
          <a:p>
            <a:r>
              <a:rPr lang="zh-CN" altLang="en-US" dirty="0"/>
              <a:t>虚树</a:t>
            </a:r>
          </a:p>
        </p:txBody>
      </p:sp>
      <p:sp>
        <p:nvSpPr>
          <p:cNvPr id="3" name="内容占位符 2">
            <a:extLst>
              <a:ext uri="{FF2B5EF4-FFF2-40B4-BE49-F238E27FC236}">
                <a16:creationId xmlns:a16="http://schemas.microsoft.com/office/drawing/2014/main" id="{6604E75F-348D-4695-B9FE-D737A1205E88}"/>
              </a:ext>
            </a:extLst>
          </p:cNvPr>
          <p:cNvSpPr>
            <a:spLocks noGrp="1"/>
          </p:cNvSpPr>
          <p:nvPr>
            <p:ph idx="1"/>
          </p:nvPr>
        </p:nvSpPr>
        <p:spPr/>
        <p:txBody>
          <a:bodyPr/>
          <a:lstStyle/>
          <a:p>
            <a:r>
              <a:rPr lang="zh-CN" altLang="en-US" dirty="0"/>
              <a:t>对于树上点集</a:t>
            </a:r>
            <a:r>
              <a:rPr lang="en-US" altLang="zh-CN" dirty="0"/>
              <a:t>S</a:t>
            </a:r>
            <a:r>
              <a:rPr lang="zh-CN" altLang="en-US" dirty="0"/>
              <a:t>，设</a:t>
            </a:r>
            <a:r>
              <a:rPr lang="en-US" altLang="zh-CN" dirty="0"/>
              <a:t>T</a:t>
            </a:r>
            <a:r>
              <a:rPr lang="zh-CN" altLang="en-US" dirty="0"/>
              <a:t>包含</a:t>
            </a:r>
            <a:r>
              <a:rPr lang="en-US" altLang="zh-CN" dirty="0"/>
              <a:t>S</a:t>
            </a:r>
            <a:r>
              <a:rPr lang="zh-CN" altLang="en-US" dirty="0"/>
              <a:t>与</a:t>
            </a:r>
            <a:r>
              <a:rPr lang="en-US" altLang="zh-CN" dirty="0"/>
              <a:t>S</a:t>
            </a:r>
            <a:r>
              <a:rPr lang="zh-CN" altLang="en-US" dirty="0"/>
              <a:t>中的点按</a:t>
            </a:r>
            <a:r>
              <a:rPr lang="en-US" altLang="zh-CN" dirty="0" err="1"/>
              <a:t>dfs</a:t>
            </a:r>
            <a:r>
              <a:rPr lang="zh-CN" altLang="en-US" dirty="0"/>
              <a:t>序排序后相邻两点的</a:t>
            </a:r>
            <a:r>
              <a:rPr lang="en-US" altLang="zh-CN" dirty="0" err="1"/>
              <a:t>lca</a:t>
            </a:r>
            <a:r>
              <a:rPr lang="zh-CN" altLang="en-US" dirty="0"/>
              <a:t>。</a:t>
            </a:r>
            <a:r>
              <a:rPr lang="en-US" altLang="zh-CN" dirty="0"/>
              <a:t>T</a:t>
            </a:r>
            <a:r>
              <a:rPr lang="zh-CN" altLang="en-US" dirty="0"/>
              <a:t>中每个点与其在</a:t>
            </a:r>
            <a:r>
              <a:rPr lang="en-US" altLang="zh-CN" dirty="0"/>
              <a:t>T</a:t>
            </a:r>
            <a:r>
              <a:rPr lang="zh-CN" altLang="en-US" dirty="0"/>
              <a:t>中的、原树上最近的祖先连边，即形成点集</a:t>
            </a:r>
            <a:r>
              <a:rPr lang="en-US" altLang="zh-CN" dirty="0"/>
              <a:t>S</a:t>
            </a:r>
            <a:r>
              <a:rPr lang="zh-CN" altLang="en-US" dirty="0"/>
              <a:t>的虚树。</a:t>
            </a:r>
            <a:endParaRPr lang="en-US" altLang="zh-CN" dirty="0"/>
          </a:p>
          <a:p>
            <a:r>
              <a:rPr lang="zh-CN" altLang="en-US" dirty="0"/>
              <a:t>可以有效地保留一个点集在原树上的结构。</a:t>
            </a:r>
            <a:endParaRPr lang="en-US" altLang="zh-CN" dirty="0"/>
          </a:p>
          <a:p>
            <a:r>
              <a:rPr lang="zh-CN" altLang="en-US" dirty="0"/>
              <a:t>比较简单的实现方式：</a:t>
            </a:r>
            <a:endParaRPr lang="en-US" altLang="zh-CN" dirty="0"/>
          </a:p>
          <a:p>
            <a:endParaRPr lang="zh-CN" altLang="en-US" dirty="0"/>
          </a:p>
        </p:txBody>
      </p:sp>
      <p:pic>
        <p:nvPicPr>
          <p:cNvPr id="6" name="图片 5">
            <a:extLst>
              <a:ext uri="{FF2B5EF4-FFF2-40B4-BE49-F238E27FC236}">
                <a16:creationId xmlns:a16="http://schemas.microsoft.com/office/drawing/2014/main" id="{037BEED3-41F1-43DC-A8F9-6CBE7C5C0F19}"/>
              </a:ext>
            </a:extLst>
          </p:cNvPr>
          <p:cNvPicPr>
            <a:picLocks noChangeAspect="1"/>
          </p:cNvPicPr>
          <p:nvPr/>
        </p:nvPicPr>
        <p:blipFill>
          <a:blip r:embed="rId2"/>
          <a:stretch>
            <a:fillRect/>
          </a:stretch>
        </p:blipFill>
        <p:spPr>
          <a:xfrm>
            <a:off x="1156269" y="4112145"/>
            <a:ext cx="7681120" cy="2064817"/>
          </a:xfrm>
          <a:prstGeom prst="rect">
            <a:avLst/>
          </a:prstGeom>
        </p:spPr>
      </p:pic>
    </p:spTree>
    <p:extLst>
      <p:ext uri="{BB962C8B-B14F-4D97-AF65-F5344CB8AC3E}">
        <p14:creationId xmlns:p14="http://schemas.microsoft.com/office/powerpoint/2010/main" val="322837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1D89AA-B32B-4C3E-AFA4-B63566BA9339}"/>
              </a:ext>
            </a:extLst>
          </p:cNvPr>
          <p:cNvSpPr>
            <a:spLocks noGrp="1"/>
          </p:cNvSpPr>
          <p:nvPr>
            <p:ph type="title"/>
          </p:nvPr>
        </p:nvSpPr>
        <p:spPr/>
        <p:txBody>
          <a:bodyPr/>
          <a:lstStyle/>
          <a:p>
            <a:r>
              <a:rPr lang="en-US" altLang="zh-CN" dirty="0"/>
              <a:t>CF1320E</a:t>
            </a:r>
            <a:endParaRPr lang="zh-CN" altLang="en-US" dirty="0"/>
          </a:p>
        </p:txBody>
      </p:sp>
      <p:sp>
        <p:nvSpPr>
          <p:cNvPr id="3" name="内容占位符 2">
            <a:extLst>
              <a:ext uri="{FF2B5EF4-FFF2-40B4-BE49-F238E27FC236}">
                <a16:creationId xmlns:a16="http://schemas.microsoft.com/office/drawing/2014/main" id="{A77EE42E-BBD2-4F84-9EAA-DC35C7BD362F}"/>
              </a:ext>
            </a:extLst>
          </p:cNvPr>
          <p:cNvSpPr>
            <a:spLocks noGrp="1"/>
          </p:cNvSpPr>
          <p:nvPr>
            <p:ph idx="1"/>
          </p:nvPr>
        </p:nvSpPr>
        <p:spPr/>
        <p:txBody>
          <a:bodyPr/>
          <a:lstStyle/>
          <a:p>
            <a:r>
              <a:rPr lang="zh-CN" altLang="en-US" dirty="0"/>
              <a:t>有一棵有 </a:t>
            </a:r>
            <a:r>
              <a:rPr lang="en-US" altLang="zh-CN" dirty="0"/>
              <a:t>n </a:t>
            </a:r>
            <a:r>
              <a:rPr lang="zh-CN" altLang="en-US" dirty="0"/>
              <a:t>个节点的树，</a:t>
            </a:r>
            <a:r>
              <a:rPr lang="en-US" altLang="zh-CN" dirty="0"/>
              <a:t>q</a:t>
            </a:r>
            <a:r>
              <a:rPr lang="zh-CN" altLang="en-US" dirty="0"/>
              <a:t> 次询问（询问互相独立），每次给定 </a:t>
            </a:r>
            <a:r>
              <a:rPr lang="en-US" altLang="zh-CN" dirty="0"/>
              <a:t>k[</a:t>
            </a:r>
            <a:r>
              <a:rPr lang="en-US" altLang="zh-CN" dirty="0" err="1"/>
              <a:t>i</a:t>
            </a:r>
            <a:r>
              <a:rPr lang="en-US" altLang="zh-CN" dirty="0"/>
              <a:t>]</a:t>
            </a:r>
            <a:r>
              <a:rPr lang="zh-CN" altLang="en-US" dirty="0"/>
              <a:t>​ 个颜色，每个颜色有一个起始点 </a:t>
            </a:r>
            <a:r>
              <a:rPr lang="en-US" altLang="zh-CN" dirty="0"/>
              <a:t>v[j] </a:t>
            </a:r>
            <a:r>
              <a:rPr lang="zh-CN" altLang="en-US" dirty="0"/>
              <a:t>和移动速度 </a:t>
            </a:r>
            <a:r>
              <a:rPr lang="en-US" altLang="zh-CN" dirty="0"/>
              <a:t>s[j]</a:t>
            </a:r>
            <a:r>
              <a:rPr lang="zh-CN" altLang="en-US" dirty="0"/>
              <a:t>​，每一个颜色在每一次操作中会使它周围没有被染色的连通块上与它的距离不超过 </a:t>
            </a:r>
            <a:r>
              <a:rPr lang="en-US" altLang="zh-CN" dirty="0"/>
              <a:t>s[j]</a:t>
            </a:r>
            <a:r>
              <a:rPr lang="zh-CN" altLang="en-US" dirty="0"/>
              <a:t>​ 的点全部染为这一个颜色，每一轮中，颜色从 </a:t>
            </a:r>
            <a:r>
              <a:rPr lang="en-US" altLang="zh-CN" dirty="0"/>
              <a:t>1 </a:t>
            </a:r>
            <a:r>
              <a:rPr lang="zh-CN" altLang="en-US" dirty="0"/>
              <a:t>到 </a:t>
            </a:r>
            <a:r>
              <a:rPr lang="en-US" altLang="zh-CN" dirty="0"/>
              <a:t>k[</a:t>
            </a:r>
            <a:r>
              <a:rPr lang="en-US" altLang="zh-CN" dirty="0" err="1"/>
              <a:t>i</a:t>
            </a:r>
            <a:r>
              <a:rPr lang="en-US" altLang="zh-CN" dirty="0"/>
              <a:t>]</a:t>
            </a:r>
            <a:r>
              <a:rPr lang="zh-CN" altLang="en-US" dirty="0"/>
              <a:t>​ 依次开始操作，一直到所有点全部被染色为止，再询问 </a:t>
            </a:r>
            <a:r>
              <a:rPr lang="en-US" altLang="zh-CN" dirty="0"/>
              <a:t>m[</a:t>
            </a:r>
            <a:r>
              <a:rPr lang="en-US" altLang="zh-CN" dirty="0" err="1"/>
              <a:t>i</a:t>
            </a:r>
            <a:r>
              <a:rPr lang="en-US" altLang="zh-CN" dirty="0"/>
              <a:t>]</a:t>
            </a:r>
            <a:r>
              <a:rPr lang="zh-CN" altLang="en-US" dirty="0"/>
              <a:t>个关键点的颜色。</a:t>
            </a:r>
            <a:endParaRPr lang="en-US" altLang="zh-CN" dirty="0"/>
          </a:p>
          <a:p>
            <a:r>
              <a:rPr lang="en-US" altLang="zh-CN" dirty="0"/>
              <a:t>n,</a:t>
            </a:r>
            <a:r>
              <a:rPr lang="el-GR" altLang="zh-CN" dirty="0"/>
              <a:t> Σ</a:t>
            </a:r>
            <a:r>
              <a:rPr lang="en-US" altLang="zh-CN" dirty="0"/>
              <a:t>k[</a:t>
            </a:r>
            <a:r>
              <a:rPr lang="en-US" altLang="zh-CN" dirty="0" err="1"/>
              <a:t>i</a:t>
            </a:r>
            <a:r>
              <a:rPr lang="en-US" altLang="zh-CN" dirty="0"/>
              <a:t>],</a:t>
            </a:r>
            <a:r>
              <a:rPr lang="el-GR" altLang="zh-CN" dirty="0"/>
              <a:t> Σ</a:t>
            </a:r>
            <a:r>
              <a:rPr lang="en-US" altLang="zh-CN" dirty="0"/>
              <a:t>m[</a:t>
            </a:r>
            <a:r>
              <a:rPr lang="en-US" altLang="zh-CN" dirty="0" err="1"/>
              <a:t>i</a:t>
            </a:r>
            <a:r>
              <a:rPr lang="en-US" altLang="zh-CN" dirty="0"/>
              <a:t>]&lt;=2*10^5</a:t>
            </a:r>
            <a:endParaRPr lang="zh-CN" altLang="en-US" dirty="0"/>
          </a:p>
        </p:txBody>
      </p:sp>
    </p:spTree>
    <p:extLst>
      <p:ext uri="{BB962C8B-B14F-4D97-AF65-F5344CB8AC3E}">
        <p14:creationId xmlns:p14="http://schemas.microsoft.com/office/powerpoint/2010/main" val="1037150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CBFDFD-0D68-4410-B621-C5503A94CE70}"/>
              </a:ext>
            </a:extLst>
          </p:cNvPr>
          <p:cNvSpPr>
            <a:spLocks noGrp="1"/>
          </p:cNvSpPr>
          <p:nvPr>
            <p:ph type="title"/>
          </p:nvPr>
        </p:nvSpPr>
        <p:spPr/>
        <p:txBody>
          <a:bodyPr/>
          <a:lstStyle/>
          <a:p>
            <a:r>
              <a:rPr lang="en-US" altLang="zh-CN" dirty="0"/>
              <a:t>CF1320E</a:t>
            </a:r>
            <a:endParaRPr lang="zh-CN" altLang="en-US" dirty="0"/>
          </a:p>
        </p:txBody>
      </p:sp>
      <p:sp>
        <p:nvSpPr>
          <p:cNvPr id="3" name="内容占位符 2">
            <a:extLst>
              <a:ext uri="{FF2B5EF4-FFF2-40B4-BE49-F238E27FC236}">
                <a16:creationId xmlns:a16="http://schemas.microsoft.com/office/drawing/2014/main" id="{AD6BB4FE-43C7-4E39-A6AB-AE35AB274D10}"/>
              </a:ext>
            </a:extLst>
          </p:cNvPr>
          <p:cNvSpPr>
            <a:spLocks noGrp="1"/>
          </p:cNvSpPr>
          <p:nvPr>
            <p:ph idx="1"/>
          </p:nvPr>
        </p:nvSpPr>
        <p:spPr/>
        <p:txBody>
          <a:bodyPr/>
          <a:lstStyle/>
          <a:p>
            <a:r>
              <a:rPr lang="el-GR" altLang="zh-CN" dirty="0"/>
              <a:t>Σ</a:t>
            </a:r>
            <a:r>
              <a:rPr lang="en-US" altLang="zh-CN" dirty="0"/>
              <a:t>&lt;=xxx</a:t>
            </a:r>
            <a:r>
              <a:rPr lang="zh-CN" altLang="en-US" dirty="0"/>
              <a:t>，明示虚树。</a:t>
            </a:r>
            <a:endParaRPr lang="en-US" altLang="zh-CN" dirty="0"/>
          </a:p>
          <a:p>
            <a:r>
              <a:rPr lang="zh-CN" altLang="en-US" dirty="0"/>
              <a:t>对每一次询问建出虚树，然后</a:t>
            </a:r>
            <a:r>
              <a:rPr lang="en-US" altLang="zh-CN" dirty="0" err="1"/>
              <a:t>dijkstra</a:t>
            </a:r>
            <a:r>
              <a:rPr lang="zh-CN" altLang="en-US" dirty="0"/>
              <a:t>跑最短路即可。</a:t>
            </a:r>
            <a:endParaRPr lang="en-US" altLang="zh-CN" dirty="0"/>
          </a:p>
          <a:p>
            <a:endParaRPr lang="zh-CN" altLang="en-US" dirty="0"/>
          </a:p>
        </p:txBody>
      </p:sp>
    </p:spTree>
    <p:extLst>
      <p:ext uri="{BB962C8B-B14F-4D97-AF65-F5344CB8AC3E}">
        <p14:creationId xmlns:p14="http://schemas.microsoft.com/office/powerpoint/2010/main" val="3120293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E241CF-4365-4985-A654-EF78B8CABBE3}"/>
              </a:ext>
            </a:extLst>
          </p:cNvPr>
          <p:cNvSpPr>
            <a:spLocks noGrp="1"/>
          </p:cNvSpPr>
          <p:nvPr>
            <p:ph type="title"/>
          </p:nvPr>
        </p:nvSpPr>
        <p:spPr/>
        <p:txBody>
          <a:bodyPr/>
          <a:lstStyle/>
          <a:p>
            <a:r>
              <a:rPr lang="zh-CN" altLang="en-US" dirty="0"/>
              <a:t>点分治</a:t>
            </a:r>
          </a:p>
        </p:txBody>
      </p:sp>
      <p:sp>
        <p:nvSpPr>
          <p:cNvPr id="3" name="内容占位符 2">
            <a:extLst>
              <a:ext uri="{FF2B5EF4-FFF2-40B4-BE49-F238E27FC236}">
                <a16:creationId xmlns:a16="http://schemas.microsoft.com/office/drawing/2014/main" id="{883AEAF1-58FA-4CB6-9AF8-43468E2A468F}"/>
              </a:ext>
            </a:extLst>
          </p:cNvPr>
          <p:cNvSpPr>
            <a:spLocks noGrp="1"/>
          </p:cNvSpPr>
          <p:nvPr>
            <p:ph idx="1"/>
          </p:nvPr>
        </p:nvSpPr>
        <p:spPr/>
        <p:txBody>
          <a:bodyPr/>
          <a:lstStyle/>
          <a:p>
            <a:r>
              <a:rPr lang="zh-CN" altLang="en-US" dirty="0">
                <a:effectLst/>
                <a:latin typeface="Courier New" panose="02070309020205020404" pitchFamily="49" charset="0"/>
              </a:rPr>
              <a:t>选取树的重心作为分治重心，处理所有经过重心的信息，再将重心删除，递归处理剩下的所有子树。</a:t>
            </a:r>
            <a:endParaRPr lang="en-US" altLang="zh-CN" dirty="0">
              <a:effectLst/>
              <a:latin typeface="Courier New" panose="02070309020205020404" pitchFamily="49" charset="0"/>
            </a:endParaRPr>
          </a:p>
          <a:p>
            <a:r>
              <a:rPr lang="zh-CN" altLang="en-US" dirty="0">
                <a:effectLst/>
                <a:latin typeface="Courier New" panose="02070309020205020404" pitchFamily="49" charset="0"/>
              </a:rPr>
              <a:t>由重心的性质可以保证剩下的子树大小均不会超过原树的一半，因此每个点只会被处理不超过</a:t>
            </a:r>
            <a:r>
              <a:rPr lang="en-US" altLang="zh-CN" dirty="0" err="1">
                <a:effectLst/>
                <a:latin typeface="Times New Roman" panose="02020603050405020304" pitchFamily="18" charset="0"/>
              </a:rPr>
              <a:t>logn</a:t>
            </a:r>
            <a:r>
              <a:rPr lang="zh-CN" altLang="en-US" dirty="0">
                <a:effectLst/>
                <a:latin typeface="Courier New" panose="02070309020205020404" pitchFamily="49" charset="0"/>
              </a:rPr>
              <a:t>次。</a:t>
            </a:r>
            <a:endParaRPr lang="en-US" altLang="zh-CN" dirty="0">
              <a:effectLst/>
              <a:latin typeface="Courier New" panose="02070309020205020404" pitchFamily="49" charset="0"/>
            </a:endParaRPr>
          </a:p>
          <a:p>
            <a:r>
              <a:rPr lang="zh-CN" altLang="en-US" dirty="0">
                <a:effectLst/>
                <a:latin typeface="Courier New" panose="02070309020205020404" pitchFamily="49" charset="0"/>
              </a:rPr>
              <a:t>根据点分治的过程可以建出一棵点分树，这棵树的树高是</a:t>
            </a:r>
            <a:r>
              <a:rPr lang="en-US" altLang="zh-CN" dirty="0">
                <a:effectLst/>
                <a:latin typeface="Times New Roman" panose="02020603050405020304" pitchFamily="18" charset="0"/>
              </a:rPr>
              <a:t>O(</a:t>
            </a:r>
            <a:r>
              <a:rPr lang="en-US" altLang="zh-CN" dirty="0" err="1">
                <a:effectLst/>
                <a:latin typeface="Times New Roman" panose="02020603050405020304" pitchFamily="18" charset="0"/>
              </a:rPr>
              <a:t>logn</a:t>
            </a:r>
            <a:r>
              <a:rPr lang="en-US" altLang="zh-CN" dirty="0">
                <a:effectLst/>
                <a:latin typeface="Times New Roman" panose="02020603050405020304" pitchFamily="18" charset="0"/>
              </a:rPr>
              <a:t>)</a:t>
            </a:r>
            <a:r>
              <a:rPr lang="zh-CN" altLang="en-US" dirty="0">
                <a:effectLst/>
                <a:latin typeface="Courier New" panose="02070309020205020404" pitchFamily="49" charset="0"/>
              </a:rPr>
              <a:t>的。</a:t>
            </a:r>
            <a:endParaRPr lang="zh-CN" altLang="en-US" dirty="0"/>
          </a:p>
        </p:txBody>
      </p:sp>
    </p:spTree>
    <p:extLst>
      <p:ext uri="{BB962C8B-B14F-4D97-AF65-F5344CB8AC3E}">
        <p14:creationId xmlns:p14="http://schemas.microsoft.com/office/powerpoint/2010/main" val="134412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C338D2-9D58-4C76-B3F2-82E82757DDD1}"/>
              </a:ext>
            </a:extLst>
          </p:cNvPr>
          <p:cNvSpPr>
            <a:spLocks noGrp="1"/>
          </p:cNvSpPr>
          <p:nvPr>
            <p:ph type="title"/>
          </p:nvPr>
        </p:nvSpPr>
        <p:spPr/>
        <p:txBody>
          <a:bodyPr/>
          <a:lstStyle/>
          <a:p>
            <a:r>
              <a:rPr lang="en-US" altLang="zh-CN" dirty="0" err="1"/>
              <a:t>Codechef</a:t>
            </a:r>
            <a:r>
              <a:rPr lang="en-US" altLang="zh-CN" dirty="0"/>
              <a:t> TSUM2</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8BB7F54-95FC-4289-A28C-A48DC2472158}"/>
                  </a:ext>
                </a:extLst>
              </p:cNvPr>
              <p:cNvSpPr>
                <a:spLocks noGrp="1"/>
              </p:cNvSpPr>
              <p:nvPr>
                <p:ph idx="1"/>
              </p:nvPr>
            </p:nvSpPr>
            <p:spPr/>
            <p:txBody>
              <a:bodyPr>
                <a:normAutofit/>
              </a:bodyPr>
              <a:lstStyle/>
              <a:p>
                <a:r>
                  <a:rPr lang="zh-CN" altLang="en-US" dirty="0">
                    <a:latin typeface="Courier New" panose="02070309020205020404" pitchFamily="49" charset="0"/>
                  </a:rPr>
                  <a:t>给定一棵</a:t>
                </a:r>
                <a:r>
                  <a:rPr lang="en-US" altLang="zh-CN" dirty="0">
                    <a:latin typeface="Courier New" panose="02070309020205020404" pitchFamily="49" charset="0"/>
                  </a:rPr>
                  <a:t>N</a:t>
                </a:r>
                <a:r>
                  <a:rPr lang="zh-CN" altLang="en-US" dirty="0">
                    <a:latin typeface="Courier New" panose="02070309020205020404" pitchFamily="49" charset="0"/>
                  </a:rPr>
                  <a:t>个节点的树，每个节点有点权，记第</a:t>
                </a:r>
                <a:r>
                  <a:rPr lang="en-US" altLang="zh-CN" dirty="0">
                    <a:latin typeface="Courier New" panose="02070309020205020404" pitchFamily="49" charset="0"/>
                  </a:rPr>
                  <a:t>x</a:t>
                </a:r>
                <a:r>
                  <a:rPr lang="zh-CN" altLang="en-US" dirty="0">
                    <a:latin typeface="Courier New" panose="02070309020205020404" pitchFamily="49" charset="0"/>
                  </a:rPr>
                  <a:t>个点的点权为</a:t>
                </a:r>
                <a:r>
                  <a:rPr lang="en-US" altLang="zh-CN" dirty="0">
                    <a:latin typeface="Courier New" panose="02070309020205020404" pitchFamily="49" charset="0"/>
                  </a:rPr>
                  <a:t>W[x]</a:t>
                </a:r>
                <a:r>
                  <a:rPr lang="zh-CN" altLang="en-US" dirty="0">
                    <a:latin typeface="Courier New" panose="02070309020205020404" pitchFamily="49" charset="0"/>
                  </a:rPr>
                  <a:t>。定义一条简单路径</a:t>
                </a:r>
                <a:r>
                  <a:rPr lang="en-US" altLang="zh-CN" dirty="0">
                    <a:latin typeface="Courier New" panose="02070309020205020404" pitchFamily="49" charset="0"/>
                  </a:rPr>
                  <a:t>v[1],v[2],…,v[k]</a:t>
                </a:r>
                <a:r>
                  <a:rPr lang="zh-CN" altLang="en-US" dirty="0">
                    <a:latin typeface="Courier New" panose="02070309020205020404" pitchFamily="49" charset="0"/>
                  </a:rPr>
                  <a:t>的权值为</a:t>
                </a:r>
                <a14:m>
                  <m:oMath xmlns:m="http://schemas.openxmlformats.org/officeDocument/2006/math">
                    <m:nary>
                      <m:naryPr>
                        <m:chr m:val="∑"/>
                        <m:ctrlPr>
                          <a:rPr lang="zh-CN" altLang="en-US" i="1" dirty="0">
                            <a:latin typeface="Cambria Math" panose="02040503050406030204" pitchFamily="18" charset="0"/>
                          </a:rPr>
                        </m:ctrlPr>
                      </m:naryPr>
                      <m:sub>
                        <m:r>
                          <m:rPr>
                            <m:brk m:alnAt="23"/>
                          </m:rPr>
                          <a:rPr lang="en-US" altLang="zh-CN" dirty="0">
                            <a:latin typeface="Cambria Math" panose="02040503050406030204" pitchFamily="18" charset="0"/>
                          </a:rPr>
                          <m:t>𝑖</m:t>
                        </m:r>
                        <m:r>
                          <a:rPr lang="en-US" altLang="zh-CN" dirty="0">
                            <a:latin typeface="Cambria Math" panose="02040503050406030204" pitchFamily="18" charset="0"/>
                          </a:rPr>
                          <m:t>=1</m:t>
                        </m:r>
                      </m:sub>
                      <m:sup>
                        <m:r>
                          <a:rPr lang="en-US" altLang="zh-CN" dirty="0">
                            <a:latin typeface="Cambria Math" panose="02040503050406030204" pitchFamily="18" charset="0"/>
                          </a:rPr>
                          <m:t>𝑘</m:t>
                        </m:r>
                      </m:sup>
                      <m:e>
                        <m:r>
                          <a:rPr lang="en-US" altLang="zh-CN" dirty="0">
                            <a:latin typeface="Cambria Math" panose="02040503050406030204" pitchFamily="18" charset="0"/>
                          </a:rPr>
                          <m:t>𝑖</m:t>
                        </m:r>
                        <m:r>
                          <a:rPr lang="en-US" altLang="zh-CN" dirty="0">
                            <a:latin typeface="Cambria Math" panose="02040503050406030204" pitchFamily="18" charset="0"/>
                          </a:rPr>
                          <m:t>∗</m:t>
                        </m:r>
                        <m:r>
                          <a:rPr lang="en-US" altLang="zh-CN" dirty="0">
                            <a:latin typeface="Cambria Math" panose="02040503050406030204" pitchFamily="18" charset="0"/>
                          </a:rPr>
                          <m:t>𝑤</m:t>
                        </m:r>
                        <m:r>
                          <a:rPr lang="en-US" altLang="zh-CN" dirty="0">
                            <a:latin typeface="Cambria Math" panose="02040503050406030204" pitchFamily="18" charset="0"/>
                          </a:rPr>
                          <m:t>[</m:t>
                        </m:r>
                        <m:r>
                          <a:rPr lang="en-US" altLang="zh-CN" dirty="0">
                            <a:latin typeface="Cambria Math" panose="02040503050406030204" pitchFamily="18" charset="0"/>
                          </a:rPr>
                          <m:t>𝑣</m:t>
                        </m:r>
                        <m:d>
                          <m:dPr>
                            <m:begChr m:val="["/>
                            <m:endChr m:val="]"/>
                            <m:ctrlPr>
                              <a:rPr lang="en-US" altLang="zh-CN" i="1" dirty="0">
                                <a:latin typeface="Cambria Math" panose="02040503050406030204" pitchFamily="18" charset="0"/>
                              </a:rPr>
                            </m:ctrlPr>
                          </m:dPr>
                          <m:e>
                            <m:r>
                              <a:rPr lang="en-US" altLang="zh-CN" dirty="0">
                                <a:latin typeface="Cambria Math" panose="02040503050406030204" pitchFamily="18" charset="0"/>
                              </a:rPr>
                              <m:t>𝑖</m:t>
                            </m:r>
                          </m:e>
                        </m:d>
                        <m:r>
                          <a:rPr lang="en-US" altLang="zh-CN" dirty="0">
                            <a:latin typeface="Cambria Math" panose="02040503050406030204" pitchFamily="18" charset="0"/>
                          </a:rPr>
                          <m:t>]</m:t>
                        </m:r>
                      </m:e>
                    </m:nary>
                  </m:oMath>
                </a14:m>
                <a:r>
                  <a:rPr lang="zh-CN" altLang="en-US" dirty="0">
                    <a:latin typeface="Courier New" panose="02070309020205020404" pitchFamily="49" charset="0"/>
                  </a:rPr>
                  <a:t>。求权值最大的简单路径。</a:t>
                </a:r>
                <a:endParaRPr lang="en-US" altLang="zh-CN" dirty="0">
                  <a:latin typeface="Courier New" panose="02070309020205020404" pitchFamily="49" charset="0"/>
                </a:endParaRPr>
              </a:p>
              <a:p>
                <a:r>
                  <a:rPr lang="en-US" altLang="zh-CN" dirty="0">
                    <a:latin typeface="Courier New" panose="02070309020205020404" pitchFamily="49" charset="0"/>
                  </a:rPr>
                  <a:t>N&lt;=10^5</a:t>
                </a:r>
                <a:endParaRPr lang="zh-CN" altLang="en-US" dirty="0">
                  <a:latin typeface="Courier New" panose="02070309020205020404" pitchFamily="49" charset="0"/>
                </a:endParaRPr>
              </a:p>
            </p:txBody>
          </p:sp>
        </mc:Choice>
        <mc:Fallback xmlns="">
          <p:sp>
            <p:nvSpPr>
              <p:cNvPr id="3" name="内容占位符 2">
                <a:extLst>
                  <a:ext uri="{FF2B5EF4-FFF2-40B4-BE49-F238E27FC236}">
                    <a16:creationId xmlns:a16="http://schemas.microsoft.com/office/drawing/2014/main" id="{18BB7F54-95FC-4289-A28C-A48DC2472158}"/>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56692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AC5804-A1E1-4904-9B25-D3A405EFEE2E}"/>
              </a:ext>
            </a:extLst>
          </p:cNvPr>
          <p:cNvSpPr>
            <a:spLocks noGrp="1"/>
          </p:cNvSpPr>
          <p:nvPr>
            <p:ph type="title"/>
          </p:nvPr>
        </p:nvSpPr>
        <p:spPr/>
        <p:txBody>
          <a:bodyPr/>
          <a:lstStyle/>
          <a:p>
            <a:r>
              <a:rPr lang="en-US" altLang="zh-CN" dirty="0" err="1"/>
              <a:t>Codechef</a:t>
            </a:r>
            <a:r>
              <a:rPr lang="en-US" altLang="zh-CN" dirty="0"/>
              <a:t> TSUM2</a:t>
            </a:r>
            <a:endParaRPr lang="zh-CN" altLang="en-US" dirty="0"/>
          </a:p>
        </p:txBody>
      </p:sp>
      <p:sp>
        <p:nvSpPr>
          <p:cNvPr id="3" name="内容占位符 2">
            <a:extLst>
              <a:ext uri="{FF2B5EF4-FFF2-40B4-BE49-F238E27FC236}">
                <a16:creationId xmlns:a16="http://schemas.microsoft.com/office/drawing/2014/main" id="{4B053C56-C910-4001-B294-6BF2DAB3847F}"/>
              </a:ext>
            </a:extLst>
          </p:cNvPr>
          <p:cNvSpPr>
            <a:spLocks noGrp="1"/>
          </p:cNvSpPr>
          <p:nvPr>
            <p:ph idx="1"/>
          </p:nvPr>
        </p:nvSpPr>
        <p:spPr/>
        <p:txBody>
          <a:bodyPr>
            <a:normAutofit fontScale="92500" lnSpcReduction="10000"/>
          </a:bodyPr>
          <a:lstStyle/>
          <a:p>
            <a:r>
              <a:rPr lang="zh-CN" altLang="en-US" dirty="0"/>
              <a:t>统计所有路径的信息，考虑点分治。</a:t>
            </a:r>
            <a:endParaRPr lang="en-US" altLang="zh-CN" dirty="0"/>
          </a:p>
          <a:p>
            <a:r>
              <a:rPr lang="zh-CN" altLang="en-US" dirty="0"/>
              <a:t>点分治之后，因为路径是有向的，所以对于每一条路径都有向上和向下的两种。那么如果一条向上的路径，点数为</a:t>
            </a:r>
            <a:r>
              <a:rPr lang="en-US" altLang="zh-CN" dirty="0"/>
              <a:t>s1</a:t>
            </a:r>
            <a:r>
              <a:rPr lang="zh-CN" altLang="en-US" dirty="0"/>
              <a:t>，单独考虑这条路径的权值和为</a:t>
            </a:r>
            <a:r>
              <a:rPr lang="en-US" altLang="zh-CN" dirty="0"/>
              <a:t>v1</a:t>
            </a:r>
            <a:r>
              <a:rPr lang="zh-CN" altLang="en-US" dirty="0"/>
              <a:t>，和一条向下的路径，点权和为</a:t>
            </a:r>
            <a:r>
              <a:rPr lang="en-US" altLang="zh-CN" dirty="0"/>
              <a:t>s2</a:t>
            </a:r>
            <a:r>
              <a:rPr lang="zh-CN" altLang="en-US" dirty="0"/>
              <a:t>，单独考虑这条路径的权值和为</a:t>
            </a:r>
            <a:r>
              <a:rPr lang="en-US" altLang="zh-CN" dirty="0"/>
              <a:t>v2</a:t>
            </a:r>
            <a:r>
              <a:rPr lang="zh-CN" altLang="en-US" dirty="0"/>
              <a:t>，这两条路径进行拼接（分治中心算在向上路径中，这样</a:t>
            </a:r>
            <a:r>
              <a:rPr lang="en-US" altLang="zh-CN" dirty="0"/>
              <a:t>s1&gt;0</a:t>
            </a:r>
            <a:r>
              <a:rPr lang="zh-CN" altLang="en-US" dirty="0"/>
              <a:t>），那么拼接起来的路径的权值和就是</a:t>
            </a:r>
            <a:r>
              <a:rPr lang="en-US" altLang="zh-CN" dirty="0"/>
              <a:t>s1s2+v1+v2</a:t>
            </a:r>
            <a:r>
              <a:rPr lang="zh-CN" altLang="en-US" dirty="0"/>
              <a:t>。如果我们枚举到了一条向上的路径，对于每一条向下路径，其和这条向上路径拼接产生的贡献是一个一次函数的形式，可以使用李超线段树维护最值。</a:t>
            </a:r>
            <a:endParaRPr lang="en-US" altLang="zh-CN" dirty="0"/>
          </a:p>
          <a:p>
            <a:r>
              <a:rPr lang="zh-CN" altLang="en-US" dirty="0"/>
              <a:t>注意到来自同一棵子树的向上和向下路径不能拼接，所以对于每一棵子树，先把子树内所有向上路径统计完成，再把向下的路径放进李超树，从前往后做一遍再从后往前做一遍即可。</a:t>
            </a:r>
          </a:p>
        </p:txBody>
      </p:sp>
    </p:spTree>
    <p:extLst>
      <p:ext uri="{BB962C8B-B14F-4D97-AF65-F5344CB8AC3E}">
        <p14:creationId xmlns:p14="http://schemas.microsoft.com/office/powerpoint/2010/main" val="476695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60684E-9686-4ACB-90B3-C280208FD9FF}"/>
              </a:ext>
            </a:extLst>
          </p:cNvPr>
          <p:cNvSpPr>
            <a:spLocks noGrp="1"/>
          </p:cNvSpPr>
          <p:nvPr>
            <p:ph type="title"/>
          </p:nvPr>
        </p:nvSpPr>
        <p:spPr/>
        <p:txBody>
          <a:bodyPr/>
          <a:lstStyle/>
          <a:p>
            <a:r>
              <a:rPr lang="en-US" altLang="zh-CN" dirty="0" err="1"/>
              <a:t>Luogu</a:t>
            </a:r>
            <a:r>
              <a:rPr lang="en-US" altLang="zh-CN" dirty="0"/>
              <a:t> 4886</a:t>
            </a:r>
            <a:endParaRPr lang="zh-CN" altLang="en-US" dirty="0"/>
          </a:p>
        </p:txBody>
      </p:sp>
      <p:sp>
        <p:nvSpPr>
          <p:cNvPr id="3" name="内容占位符 2">
            <a:extLst>
              <a:ext uri="{FF2B5EF4-FFF2-40B4-BE49-F238E27FC236}">
                <a16:creationId xmlns:a16="http://schemas.microsoft.com/office/drawing/2014/main" id="{8479629B-2E50-4BDD-9DD1-08FE41266996}"/>
              </a:ext>
            </a:extLst>
          </p:cNvPr>
          <p:cNvSpPr>
            <a:spLocks noGrp="1"/>
          </p:cNvSpPr>
          <p:nvPr>
            <p:ph idx="1"/>
          </p:nvPr>
        </p:nvSpPr>
        <p:spPr/>
        <p:txBody>
          <a:bodyPr>
            <a:normAutofit fontScale="92500" lnSpcReduction="10000"/>
          </a:bodyPr>
          <a:lstStyle/>
          <a:p>
            <a:r>
              <a:rPr lang="en-US" altLang="zh-CN" dirty="0"/>
              <a:t>Bob </a:t>
            </a:r>
            <a:r>
              <a:rPr lang="zh-CN" altLang="en-US" dirty="0"/>
              <a:t>的城市里有 </a:t>
            </a:r>
            <a:r>
              <a:rPr lang="en-US" altLang="zh-CN" dirty="0"/>
              <a:t>n </a:t>
            </a:r>
            <a:r>
              <a:rPr lang="zh-CN" altLang="en-US" dirty="0"/>
              <a:t>个邮递站，由于经济考虑，这些邮递站被 </a:t>
            </a:r>
            <a:r>
              <a:rPr lang="en-US" altLang="zh-CN" dirty="0"/>
              <a:t>n−1</a:t>
            </a:r>
            <a:r>
              <a:rPr lang="zh-CN" altLang="en-US" dirty="0"/>
              <a:t>条带权无向边相连。即：这 </a:t>
            </a:r>
            <a:r>
              <a:rPr lang="en-US" altLang="zh-CN" dirty="0"/>
              <a:t>n </a:t>
            </a:r>
            <a:r>
              <a:rPr lang="zh-CN" altLang="en-US" dirty="0"/>
              <a:t>个邮递站构成了一棵树。</a:t>
            </a:r>
          </a:p>
          <a:p>
            <a:r>
              <a:rPr lang="en-US" altLang="zh-CN" dirty="0"/>
              <a:t>Bob </a:t>
            </a:r>
            <a:r>
              <a:rPr lang="zh-CN" altLang="en-US" dirty="0"/>
              <a:t>正在应聘一个快递员的工作，他需要送 </a:t>
            </a:r>
            <a:r>
              <a:rPr lang="en-US" altLang="zh-CN" dirty="0"/>
              <a:t>m </a:t>
            </a:r>
            <a:r>
              <a:rPr lang="zh-CN" altLang="en-US" dirty="0"/>
              <a:t>个商品，第 </a:t>
            </a:r>
            <a:r>
              <a:rPr lang="en-US" altLang="zh-CN" dirty="0" err="1"/>
              <a:t>i</a:t>
            </a:r>
            <a:r>
              <a:rPr lang="en-US" altLang="zh-CN" dirty="0"/>
              <a:t> </a:t>
            </a:r>
            <a:r>
              <a:rPr lang="zh-CN" altLang="en-US" dirty="0"/>
              <a:t>个商品需要从 </a:t>
            </a:r>
            <a:r>
              <a:rPr lang="en-US" altLang="zh-CN" dirty="0"/>
              <a:t>u </a:t>
            </a:r>
            <a:r>
              <a:rPr lang="zh-CN" altLang="en-US" dirty="0"/>
              <a:t>送到 </a:t>
            </a:r>
            <a:r>
              <a:rPr lang="en-US" altLang="zh-CN" dirty="0"/>
              <a:t>v</a:t>
            </a:r>
            <a:r>
              <a:rPr lang="zh-CN" altLang="en-US" dirty="0"/>
              <a:t>。由于 </a:t>
            </a:r>
            <a:r>
              <a:rPr lang="en-US" altLang="zh-CN" dirty="0"/>
              <a:t>Bob </a:t>
            </a:r>
            <a:r>
              <a:rPr lang="zh-CN" altLang="en-US" dirty="0"/>
              <a:t>不能带着商品走太长的路，所以对于一次送货，他需要先从快递中心到 </a:t>
            </a:r>
            <a:r>
              <a:rPr lang="en-US" altLang="zh-CN" dirty="0"/>
              <a:t>u</a:t>
            </a:r>
            <a:r>
              <a:rPr lang="zh-CN" altLang="en-US" dirty="0"/>
              <a:t>，再从 </a:t>
            </a:r>
            <a:r>
              <a:rPr lang="en-US" altLang="zh-CN" dirty="0"/>
              <a:t>u </a:t>
            </a:r>
            <a:r>
              <a:rPr lang="zh-CN" altLang="en-US" dirty="0"/>
              <a:t>回到快递中心，再从快递中心到 </a:t>
            </a:r>
            <a:r>
              <a:rPr lang="en-US" altLang="zh-CN" dirty="0"/>
              <a:t>v</a:t>
            </a:r>
            <a:r>
              <a:rPr lang="zh-CN" altLang="en-US" dirty="0"/>
              <a:t>，最后从 </a:t>
            </a:r>
            <a:r>
              <a:rPr lang="en-US" altLang="zh-CN" dirty="0"/>
              <a:t>v</a:t>
            </a:r>
            <a:r>
              <a:rPr lang="zh-CN" altLang="en-US" dirty="0"/>
              <a:t> 返回快递中心。换句话说，如果设快递中心是 </a:t>
            </a:r>
            <a:r>
              <a:rPr lang="en-US" altLang="zh-CN" dirty="0"/>
              <a:t>c </a:t>
            </a:r>
            <a:r>
              <a:rPr lang="zh-CN" altLang="en-US" dirty="0"/>
              <a:t>号点，那么他的路径是 </a:t>
            </a:r>
            <a:r>
              <a:rPr lang="en-US" altLang="zh-CN" dirty="0" err="1"/>
              <a:t>c→u→c→v→c</a:t>
            </a:r>
            <a:r>
              <a:rPr lang="zh-CN" altLang="en-US" dirty="0"/>
              <a:t>。</a:t>
            </a:r>
          </a:p>
          <a:p>
            <a:r>
              <a:rPr lang="zh-CN" altLang="en-US" dirty="0"/>
              <a:t>现在 </a:t>
            </a:r>
            <a:r>
              <a:rPr lang="en-US" altLang="zh-CN" dirty="0"/>
              <a:t>Bob </a:t>
            </a:r>
            <a:r>
              <a:rPr lang="zh-CN" altLang="en-US" dirty="0"/>
              <a:t>希望确定一个点作为快递中心，使得他送货所需的最长距离最小。显然，这个最长距离是个偶数，你只需要输出最长距离除以 </a:t>
            </a:r>
            <a:r>
              <a:rPr lang="en-US" altLang="zh-CN" dirty="0"/>
              <a:t>2 </a:t>
            </a:r>
            <a:r>
              <a:rPr lang="zh-CN" altLang="en-US" dirty="0"/>
              <a:t>的结果即可。</a:t>
            </a:r>
            <a:endParaRPr lang="en-US" altLang="zh-CN" dirty="0"/>
          </a:p>
          <a:p>
            <a:r>
              <a:rPr lang="en-US" altLang="zh-CN" dirty="0" err="1"/>
              <a:t>n,m</a:t>
            </a:r>
            <a:r>
              <a:rPr lang="en-US" altLang="zh-CN" dirty="0"/>
              <a:t>&lt;=10^5</a:t>
            </a:r>
            <a:endParaRPr lang="zh-CN" altLang="en-US" dirty="0"/>
          </a:p>
          <a:p>
            <a:endParaRPr lang="zh-CN" altLang="en-US" dirty="0"/>
          </a:p>
        </p:txBody>
      </p:sp>
    </p:spTree>
    <p:extLst>
      <p:ext uri="{BB962C8B-B14F-4D97-AF65-F5344CB8AC3E}">
        <p14:creationId xmlns:p14="http://schemas.microsoft.com/office/powerpoint/2010/main" val="14881699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B70437-4D6E-4B48-9FA1-7353830B19C9}"/>
              </a:ext>
            </a:extLst>
          </p:cNvPr>
          <p:cNvSpPr>
            <a:spLocks noGrp="1"/>
          </p:cNvSpPr>
          <p:nvPr>
            <p:ph type="title"/>
          </p:nvPr>
        </p:nvSpPr>
        <p:spPr/>
        <p:txBody>
          <a:bodyPr/>
          <a:lstStyle/>
          <a:p>
            <a:r>
              <a:rPr lang="en-US" altLang="zh-CN" dirty="0" err="1"/>
              <a:t>Luogu</a:t>
            </a:r>
            <a:r>
              <a:rPr lang="en-US" altLang="zh-CN" dirty="0"/>
              <a:t> 4886</a:t>
            </a:r>
            <a:endParaRPr lang="zh-CN" altLang="en-US" dirty="0"/>
          </a:p>
        </p:txBody>
      </p:sp>
      <p:sp>
        <p:nvSpPr>
          <p:cNvPr id="3" name="内容占位符 2">
            <a:extLst>
              <a:ext uri="{FF2B5EF4-FFF2-40B4-BE49-F238E27FC236}">
                <a16:creationId xmlns:a16="http://schemas.microsoft.com/office/drawing/2014/main" id="{6C92718F-5F4D-412E-8F2C-968EF3287114}"/>
              </a:ext>
            </a:extLst>
          </p:cNvPr>
          <p:cNvSpPr>
            <a:spLocks noGrp="1"/>
          </p:cNvSpPr>
          <p:nvPr>
            <p:ph idx="1"/>
          </p:nvPr>
        </p:nvSpPr>
        <p:spPr/>
        <p:txBody>
          <a:bodyPr/>
          <a:lstStyle/>
          <a:p>
            <a:r>
              <a:rPr lang="zh-CN" altLang="en-US" dirty="0"/>
              <a:t>先随便取一个点</a:t>
            </a:r>
            <a:r>
              <a:rPr lang="en-US" altLang="zh-CN" dirty="0"/>
              <a:t>u</a:t>
            </a:r>
            <a:r>
              <a:rPr lang="zh-CN" altLang="en-US" dirty="0"/>
              <a:t>为快递中心，考虑这时代价最大的路径。</a:t>
            </a:r>
            <a:endParaRPr lang="en-US" altLang="zh-CN" dirty="0"/>
          </a:p>
          <a:p>
            <a:r>
              <a:rPr lang="zh-CN" altLang="en-US" dirty="0"/>
              <a:t>如果存在一条代价最大的路径经过</a:t>
            </a:r>
            <a:r>
              <a:rPr lang="en-US" altLang="zh-CN" dirty="0"/>
              <a:t>u</a:t>
            </a:r>
            <a:r>
              <a:rPr lang="zh-CN" altLang="en-US" dirty="0"/>
              <a:t>，或者存在两条代价最大的路径在</a:t>
            </a:r>
            <a:r>
              <a:rPr lang="en-US" altLang="zh-CN" dirty="0"/>
              <a:t>u</a:t>
            </a:r>
            <a:r>
              <a:rPr lang="zh-CN" altLang="en-US" dirty="0"/>
              <a:t>的两个不同子树中，显然最优快递中心就是</a:t>
            </a:r>
            <a:r>
              <a:rPr lang="en-US" altLang="zh-CN" dirty="0"/>
              <a:t>u</a:t>
            </a:r>
            <a:r>
              <a:rPr lang="zh-CN" altLang="en-US" dirty="0"/>
              <a:t>。</a:t>
            </a:r>
            <a:endParaRPr lang="en-US" altLang="zh-CN" dirty="0"/>
          </a:p>
          <a:p>
            <a:r>
              <a:rPr lang="zh-CN" altLang="en-US" dirty="0"/>
              <a:t>否则，所有代价最大的路径都在</a:t>
            </a:r>
            <a:r>
              <a:rPr lang="en-US" altLang="zh-CN" dirty="0"/>
              <a:t>u</a:t>
            </a:r>
            <a:r>
              <a:rPr lang="zh-CN" altLang="en-US" dirty="0"/>
              <a:t>的某一棵子树中，那么最优快递中心是</a:t>
            </a:r>
            <a:r>
              <a:rPr lang="en-US" altLang="zh-CN" dirty="0"/>
              <a:t>u</a:t>
            </a:r>
            <a:r>
              <a:rPr lang="zh-CN" altLang="en-US" dirty="0"/>
              <a:t>或该子树中的点。</a:t>
            </a:r>
            <a:endParaRPr lang="en-US" altLang="zh-CN" dirty="0"/>
          </a:p>
          <a:p>
            <a:r>
              <a:rPr lang="zh-CN" altLang="en-US" dirty="0"/>
              <a:t>用类似点分治的做法保证复杂度即可。即，取整棵树的重心作为</a:t>
            </a:r>
            <a:r>
              <a:rPr lang="en-US" altLang="zh-CN" dirty="0"/>
              <a:t>u</a:t>
            </a:r>
            <a:r>
              <a:rPr lang="zh-CN" altLang="en-US" dirty="0"/>
              <a:t>，如果某一棵子树存在可能，就再取该子树的重心作为新的</a:t>
            </a:r>
            <a:r>
              <a:rPr lang="en-US" altLang="zh-CN" dirty="0"/>
              <a:t>u······</a:t>
            </a:r>
            <a:r>
              <a:rPr lang="zh-CN" altLang="en-US" dirty="0"/>
              <a:t>这样可以保证只会枚举到</a:t>
            </a:r>
            <a:r>
              <a:rPr lang="en-US" altLang="zh-CN" dirty="0"/>
              <a:t>O(</a:t>
            </a:r>
            <a:r>
              <a:rPr lang="en-US" altLang="zh-CN" dirty="0" err="1"/>
              <a:t>logn</a:t>
            </a:r>
            <a:r>
              <a:rPr lang="en-US" altLang="zh-CN" dirty="0"/>
              <a:t>)</a:t>
            </a:r>
            <a:r>
              <a:rPr lang="zh-CN" altLang="en-US" dirty="0"/>
              <a:t>个</a:t>
            </a:r>
            <a:r>
              <a:rPr lang="en-US" altLang="zh-CN" dirty="0"/>
              <a:t>u</a:t>
            </a:r>
            <a:r>
              <a:rPr lang="zh-CN" altLang="en-US" dirty="0"/>
              <a:t>。</a:t>
            </a:r>
          </a:p>
        </p:txBody>
      </p:sp>
    </p:spTree>
    <p:extLst>
      <p:ext uri="{BB962C8B-B14F-4D97-AF65-F5344CB8AC3E}">
        <p14:creationId xmlns:p14="http://schemas.microsoft.com/office/powerpoint/2010/main" val="2649624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1128A-793C-477E-B187-3B237A6EB0E7}"/>
              </a:ext>
            </a:extLst>
          </p:cNvPr>
          <p:cNvSpPr>
            <a:spLocks noGrp="1"/>
          </p:cNvSpPr>
          <p:nvPr>
            <p:ph type="title"/>
          </p:nvPr>
        </p:nvSpPr>
        <p:spPr/>
        <p:txBody>
          <a:bodyPr/>
          <a:lstStyle/>
          <a:p>
            <a:r>
              <a:rPr lang="zh-CN" altLang="en-US" dirty="0"/>
              <a:t>动态点分治</a:t>
            </a:r>
          </a:p>
        </p:txBody>
      </p:sp>
      <p:sp>
        <p:nvSpPr>
          <p:cNvPr id="3" name="内容占位符 2">
            <a:extLst>
              <a:ext uri="{FF2B5EF4-FFF2-40B4-BE49-F238E27FC236}">
                <a16:creationId xmlns:a16="http://schemas.microsoft.com/office/drawing/2014/main" id="{3563E9C3-BBDA-4E13-96BF-FCB35B80971F}"/>
              </a:ext>
            </a:extLst>
          </p:cNvPr>
          <p:cNvSpPr>
            <a:spLocks noGrp="1"/>
          </p:cNvSpPr>
          <p:nvPr>
            <p:ph idx="1"/>
          </p:nvPr>
        </p:nvSpPr>
        <p:spPr>
          <a:xfrm>
            <a:off x="838200" y="1798992"/>
            <a:ext cx="10515600" cy="4351338"/>
          </a:xfrm>
        </p:spPr>
        <p:txBody>
          <a:bodyPr/>
          <a:lstStyle/>
          <a:p>
            <a:r>
              <a:rPr lang="zh-CN" altLang="en-US" dirty="0"/>
              <a:t>用来解决带修改的树上路径统计问题。</a:t>
            </a:r>
            <a:endParaRPr lang="en-US" altLang="zh-CN" dirty="0"/>
          </a:p>
          <a:p>
            <a:r>
              <a:rPr lang="zh-CN" altLang="en-US" dirty="0"/>
              <a:t>一般是查询一个点</a:t>
            </a:r>
            <a:r>
              <a:rPr lang="en-US" altLang="zh-CN" dirty="0"/>
              <a:t>u</a:t>
            </a:r>
            <a:r>
              <a:rPr lang="zh-CN" altLang="en-US" dirty="0"/>
              <a:t>到其他所有点的路径信息和。在点分树上从</a:t>
            </a:r>
            <a:r>
              <a:rPr lang="en-US" altLang="zh-CN" dirty="0"/>
              <a:t>u</a:t>
            </a:r>
            <a:r>
              <a:rPr lang="zh-CN" altLang="en-US" dirty="0"/>
              <a:t>开始往上跳，跳到一个点</a:t>
            </a:r>
            <a:r>
              <a:rPr lang="en-US" altLang="zh-CN" dirty="0"/>
              <a:t>v</a:t>
            </a:r>
            <a:r>
              <a:rPr lang="zh-CN" altLang="en-US" dirty="0"/>
              <a:t>时统计点分治过程中以</a:t>
            </a:r>
            <a:r>
              <a:rPr lang="en-US" altLang="zh-CN" dirty="0"/>
              <a:t>v</a:t>
            </a:r>
            <a:r>
              <a:rPr lang="zh-CN" altLang="en-US" dirty="0"/>
              <a:t>为分治中心时，与</a:t>
            </a:r>
            <a:r>
              <a:rPr lang="en-US" altLang="zh-CN" dirty="0"/>
              <a:t>u</a:t>
            </a:r>
            <a:r>
              <a:rPr lang="zh-CN" altLang="en-US" dirty="0"/>
              <a:t>不在同一子树内的点到</a:t>
            </a:r>
            <a:r>
              <a:rPr lang="en-US" altLang="zh-CN" dirty="0"/>
              <a:t>u</a:t>
            </a:r>
            <a:r>
              <a:rPr lang="zh-CN" altLang="en-US" dirty="0"/>
              <a:t>的路径信息和。每个点用一个数据结构来维护这个信息和。</a:t>
            </a:r>
          </a:p>
        </p:txBody>
      </p:sp>
    </p:spTree>
    <p:extLst>
      <p:ext uri="{BB962C8B-B14F-4D97-AF65-F5344CB8AC3E}">
        <p14:creationId xmlns:p14="http://schemas.microsoft.com/office/powerpoint/2010/main" val="1441837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98697C-7513-4BE4-A119-D93B03458E1E}"/>
              </a:ext>
            </a:extLst>
          </p:cNvPr>
          <p:cNvSpPr>
            <a:spLocks noGrp="1"/>
          </p:cNvSpPr>
          <p:nvPr>
            <p:ph type="title"/>
          </p:nvPr>
        </p:nvSpPr>
        <p:spPr/>
        <p:txBody>
          <a:bodyPr/>
          <a:lstStyle/>
          <a:p>
            <a:r>
              <a:rPr lang="en-US" altLang="zh-CN" dirty="0" err="1"/>
              <a:t>Luogu</a:t>
            </a:r>
            <a:r>
              <a:rPr lang="en-US" altLang="zh-CN" dirty="0"/>
              <a:t> 6329</a:t>
            </a:r>
            <a:endParaRPr lang="zh-CN" altLang="en-US" dirty="0"/>
          </a:p>
        </p:txBody>
      </p:sp>
      <p:sp>
        <p:nvSpPr>
          <p:cNvPr id="3" name="内容占位符 2">
            <a:extLst>
              <a:ext uri="{FF2B5EF4-FFF2-40B4-BE49-F238E27FC236}">
                <a16:creationId xmlns:a16="http://schemas.microsoft.com/office/drawing/2014/main" id="{64A0DDFA-A6E7-4B84-A7CB-3D3803524266}"/>
              </a:ext>
            </a:extLst>
          </p:cNvPr>
          <p:cNvSpPr>
            <a:spLocks noGrp="1"/>
          </p:cNvSpPr>
          <p:nvPr>
            <p:ph idx="1"/>
          </p:nvPr>
        </p:nvSpPr>
        <p:spPr/>
        <p:txBody>
          <a:bodyPr/>
          <a:lstStyle/>
          <a:p>
            <a:r>
              <a:rPr lang="zh-CN" altLang="en-US" dirty="0"/>
              <a:t>给定一棵树，需要支持单点修改和询问到一个点的距离</a:t>
            </a:r>
            <a:r>
              <a:rPr lang="en-US" altLang="zh-CN" dirty="0"/>
              <a:t>&lt;=K</a:t>
            </a:r>
            <a:r>
              <a:rPr lang="zh-CN" altLang="en-US" dirty="0"/>
              <a:t>的点的权值之和，强制在线 </a:t>
            </a:r>
          </a:p>
          <a:p>
            <a:r>
              <a:rPr lang="en-US" altLang="zh-CN" dirty="0" err="1"/>
              <a:t>n,m</a:t>
            </a:r>
            <a:r>
              <a:rPr lang="en-US" altLang="zh-CN" dirty="0"/>
              <a:t>&lt;=10^5</a:t>
            </a:r>
            <a:endParaRPr lang="zh-CN" altLang="en-US" dirty="0"/>
          </a:p>
        </p:txBody>
      </p:sp>
    </p:spTree>
    <p:extLst>
      <p:ext uri="{BB962C8B-B14F-4D97-AF65-F5344CB8AC3E}">
        <p14:creationId xmlns:p14="http://schemas.microsoft.com/office/powerpoint/2010/main" val="2727089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3D3703-1F31-46AA-9F3E-E10705130ACB}"/>
              </a:ext>
            </a:extLst>
          </p:cNvPr>
          <p:cNvSpPr>
            <a:spLocks noGrp="1"/>
          </p:cNvSpPr>
          <p:nvPr>
            <p:ph type="title"/>
          </p:nvPr>
        </p:nvSpPr>
        <p:spPr/>
        <p:txBody>
          <a:bodyPr/>
          <a:lstStyle/>
          <a:p>
            <a:r>
              <a:rPr lang="en-US" altLang="zh-CN" dirty="0" err="1"/>
              <a:t>Luogu</a:t>
            </a:r>
            <a:r>
              <a:rPr lang="en-US" altLang="zh-CN" dirty="0"/>
              <a:t> 6329</a:t>
            </a:r>
            <a:endParaRPr lang="zh-CN" altLang="en-US" dirty="0"/>
          </a:p>
        </p:txBody>
      </p:sp>
      <p:sp>
        <p:nvSpPr>
          <p:cNvPr id="3" name="内容占位符 2">
            <a:extLst>
              <a:ext uri="{FF2B5EF4-FFF2-40B4-BE49-F238E27FC236}">
                <a16:creationId xmlns:a16="http://schemas.microsoft.com/office/drawing/2014/main" id="{0542009F-7C35-4AE6-A631-E3A7F5091688}"/>
              </a:ext>
            </a:extLst>
          </p:cNvPr>
          <p:cNvSpPr>
            <a:spLocks noGrp="1"/>
          </p:cNvSpPr>
          <p:nvPr>
            <p:ph idx="1"/>
          </p:nvPr>
        </p:nvSpPr>
        <p:spPr/>
        <p:txBody>
          <a:bodyPr/>
          <a:lstStyle/>
          <a:p>
            <a:r>
              <a:rPr lang="zh-CN" altLang="en-US" dirty="0"/>
              <a:t>对每个点用一个动态开点线段树，以距离为下标，维护点分治过程中以自己为中心时到自己距离为某个值的点的权值和。再用一个动态开点线段树维护以点分树上自己的父亲为分治中心时，自己所在子树对其的贡献。</a:t>
            </a:r>
            <a:endParaRPr lang="en-US" altLang="zh-CN" dirty="0"/>
          </a:p>
          <a:p>
            <a:r>
              <a:rPr lang="zh-CN" altLang="en-US" dirty="0"/>
              <a:t>修改点权只需在点分树上往上跳，修改线段树即可。</a:t>
            </a:r>
            <a:endParaRPr lang="en-US" altLang="zh-CN" dirty="0"/>
          </a:p>
          <a:p>
            <a:r>
              <a:rPr lang="zh-CN" altLang="en-US" dirty="0"/>
              <a:t>查询时也在点分树上往上跳，设查询点为</a:t>
            </a:r>
            <a:r>
              <a:rPr lang="en-US" altLang="zh-CN" dirty="0"/>
              <a:t>u</a:t>
            </a:r>
            <a:r>
              <a:rPr lang="zh-CN" altLang="en-US" dirty="0"/>
              <a:t>，跳到的点为</a:t>
            </a:r>
            <a:r>
              <a:rPr lang="en-US" altLang="zh-CN" dirty="0"/>
              <a:t>v</a:t>
            </a:r>
            <a:r>
              <a:rPr lang="zh-CN" altLang="en-US" dirty="0"/>
              <a:t>，</a:t>
            </a:r>
            <a:r>
              <a:rPr lang="en-US" altLang="zh-CN" dirty="0" err="1"/>
              <a:t>u,v</a:t>
            </a:r>
            <a:r>
              <a:rPr lang="zh-CN" altLang="en-US" dirty="0"/>
              <a:t>的距离为</a:t>
            </a:r>
            <a:r>
              <a:rPr lang="en-US" altLang="zh-CN" dirty="0"/>
              <a:t>dis</a:t>
            </a:r>
            <a:r>
              <a:rPr lang="zh-CN" altLang="en-US" dirty="0"/>
              <a:t>。那么，需要统计的就是以</a:t>
            </a:r>
            <a:r>
              <a:rPr lang="en-US" altLang="zh-CN" dirty="0"/>
              <a:t>v</a:t>
            </a:r>
            <a:r>
              <a:rPr lang="zh-CN" altLang="en-US" dirty="0"/>
              <a:t>为分治中心时，与</a:t>
            </a:r>
            <a:r>
              <a:rPr lang="en-US" altLang="zh-CN" dirty="0"/>
              <a:t>u</a:t>
            </a:r>
            <a:r>
              <a:rPr lang="zh-CN" altLang="en-US" dirty="0"/>
              <a:t>不在同一子树、到</a:t>
            </a:r>
            <a:r>
              <a:rPr lang="en-US" altLang="zh-CN" dirty="0"/>
              <a:t>v</a:t>
            </a:r>
            <a:r>
              <a:rPr lang="zh-CN" altLang="en-US" dirty="0"/>
              <a:t>的距离</a:t>
            </a:r>
            <a:r>
              <a:rPr lang="en-US" altLang="zh-CN" dirty="0"/>
              <a:t>&lt;=k-dis</a:t>
            </a:r>
            <a:r>
              <a:rPr lang="zh-CN" altLang="en-US" dirty="0"/>
              <a:t>的点的权值和。可以容斥成所有子树到</a:t>
            </a:r>
            <a:r>
              <a:rPr lang="en-US" altLang="zh-CN" dirty="0"/>
              <a:t>v</a:t>
            </a:r>
            <a:r>
              <a:rPr lang="zh-CN" altLang="en-US" dirty="0"/>
              <a:t>的距离</a:t>
            </a:r>
            <a:r>
              <a:rPr lang="en-US" altLang="zh-CN" dirty="0"/>
              <a:t>&lt;=k-dis</a:t>
            </a:r>
            <a:r>
              <a:rPr lang="zh-CN" altLang="en-US" dirty="0"/>
              <a:t>的点的权值和，减去与</a:t>
            </a:r>
            <a:r>
              <a:rPr lang="en-US" altLang="zh-CN" dirty="0"/>
              <a:t>u</a:t>
            </a:r>
            <a:r>
              <a:rPr lang="zh-CN" altLang="en-US" dirty="0"/>
              <a:t>在同一子树、到</a:t>
            </a:r>
            <a:r>
              <a:rPr lang="en-US" altLang="zh-CN" dirty="0"/>
              <a:t>v</a:t>
            </a:r>
            <a:r>
              <a:rPr lang="zh-CN" altLang="en-US" dirty="0"/>
              <a:t>的距离</a:t>
            </a:r>
            <a:r>
              <a:rPr lang="en-US" altLang="zh-CN" dirty="0"/>
              <a:t>&lt;=k-dis</a:t>
            </a:r>
            <a:r>
              <a:rPr lang="zh-CN" altLang="en-US" dirty="0"/>
              <a:t>的点的权值和，分别是一次线段树前缀和查询。</a:t>
            </a:r>
          </a:p>
        </p:txBody>
      </p:sp>
    </p:spTree>
    <p:extLst>
      <p:ext uri="{BB962C8B-B14F-4D97-AF65-F5344CB8AC3E}">
        <p14:creationId xmlns:p14="http://schemas.microsoft.com/office/powerpoint/2010/main" val="33612773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CEE68F-5E0F-497A-A461-6C569EB701C6}"/>
              </a:ext>
            </a:extLst>
          </p:cNvPr>
          <p:cNvSpPr>
            <a:spLocks noGrp="1"/>
          </p:cNvSpPr>
          <p:nvPr>
            <p:ph type="title"/>
          </p:nvPr>
        </p:nvSpPr>
        <p:spPr/>
        <p:txBody>
          <a:bodyPr/>
          <a:lstStyle/>
          <a:p>
            <a:r>
              <a:rPr lang="zh-CN" altLang="en-US" dirty="0"/>
              <a:t>树上维护每个子树的信息</a:t>
            </a:r>
          </a:p>
        </p:txBody>
      </p:sp>
      <p:sp>
        <p:nvSpPr>
          <p:cNvPr id="3" name="内容占位符 2">
            <a:extLst>
              <a:ext uri="{FF2B5EF4-FFF2-40B4-BE49-F238E27FC236}">
                <a16:creationId xmlns:a16="http://schemas.microsoft.com/office/drawing/2014/main" id="{2EA79C17-1625-48D8-8510-A9B45C3032C6}"/>
              </a:ext>
            </a:extLst>
          </p:cNvPr>
          <p:cNvSpPr>
            <a:spLocks noGrp="1"/>
          </p:cNvSpPr>
          <p:nvPr>
            <p:ph idx="1"/>
          </p:nvPr>
        </p:nvSpPr>
        <p:spPr/>
        <p:txBody>
          <a:bodyPr/>
          <a:lstStyle/>
          <a:p>
            <a:r>
              <a:rPr lang="zh-CN" altLang="en-US" dirty="0"/>
              <a:t>长链剖分：维护深度有关的信息。</a:t>
            </a:r>
            <a:endParaRPr lang="en-US" altLang="zh-CN" dirty="0"/>
          </a:p>
          <a:p>
            <a:r>
              <a:rPr lang="zh-CN" altLang="en-US" dirty="0"/>
              <a:t>树上启发式合并、线段树（或其他数据结构）合并：维护更为一般的子树信息。</a:t>
            </a:r>
            <a:endParaRPr lang="en-US" altLang="zh-CN" dirty="0"/>
          </a:p>
          <a:p>
            <a:r>
              <a:rPr lang="zh-CN" altLang="en-US" dirty="0"/>
              <a:t>长链剖分和树上启发式合并是离线的，即，要查询一个点</a:t>
            </a:r>
            <a:r>
              <a:rPr lang="en-US" altLang="zh-CN" dirty="0"/>
              <a:t>u</a:t>
            </a:r>
            <a:r>
              <a:rPr lang="zh-CN" altLang="en-US" dirty="0"/>
              <a:t>的子树的信息，必须在</a:t>
            </a:r>
            <a:r>
              <a:rPr lang="en-US" altLang="zh-CN" dirty="0" err="1"/>
              <a:t>dfs</a:t>
            </a:r>
            <a:r>
              <a:rPr lang="zh-CN" altLang="en-US" dirty="0"/>
              <a:t>到</a:t>
            </a:r>
            <a:r>
              <a:rPr lang="en-US" altLang="zh-CN" dirty="0"/>
              <a:t>u</a:t>
            </a:r>
            <a:r>
              <a:rPr lang="zh-CN" altLang="en-US" dirty="0"/>
              <a:t>时查询。线段树合并如果合并时开新点，则可以做到支持在线查询。</a:t>
            </a:r>
          </a:p>
        </p:txBody>
      </p:sp>
    </p:spTree>
    <p:extLst>
      <p:ext uri="{BB962C8B-B14F-4D97-AF65-F5344CB8AC3E}">
        <p14:creationId xmlns:p14="http://schemas.microsoft.com/office/powerpoint/2010/main" val="1229261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1FDE21F6-6101-4D18-9B39-B21E20F12CB5}"/>
              </a:ext>
            </a:extLst>
          </p:cNvPr>
          <p:cNvSpPr>
            <a:spLocks noGrp="1"/>
          </p:cNvSpPr>
          <p:nvPr>
            <p:ph type="ctrTitle"/>
          </p:nvPr>
        </p:nvSpPr>
        <p:spPr/>
        <p:txBody>
          <a:bodyPr/>
          <a:lstStyle/>
          <a:p>
            <a:r>
              <a:rPr lang="zh-CN" altLang="en-US" dirty="0"/>
              <a:t>题目选讲</a:t>
            </a:r>
          </a:p>
        </p:txBody>
      </p:sp>
      <p:sp>
        <p:nvSpPr>
          <p:cNvPr id="5" name="副标题 4">
            <a:extLst>
              <a:ext uri="{FF2B5EF4-FFF2-40B4-BE49-F238E27FC236}">
                <a16:creationId xmlns:a16="http://schemas.microsoft.com/office/drawing/2014/main" id="{B3676C33-3E03-42A2-8052-69EB53E2EF3F}"/>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4819843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E40B85-AE1E-4483-9727-8BB0A784FCE8}"/>
              </a:ext>
            </a:extLst>
          </p:cNvPr>
          <p:cNvSpPr>
            <a:spLocks noGrp="1"/>
          </p:cNvSpPr>
          <p:nvPr>
            <p:ph type="title"/>
          </p:nvPr>
        </p:nvSpPr>
        <p:spPr/>
        <p:txBody>
          <a:bodyPr/>
          <a:lstStyle/>
          <a:p>
            <a:r>
              <a:rPr lang="en-US" altLang="zh-CN" dirty="0"/>
              <a:t>CF516D</a:t>
            </a:r>
            <a:endParaRPr lang="zh-CN" altLang="en-US" dirty="0"/>
          </a:p>
        </p:txBody>
      </p:sp>
      <p:sp>
        <p:nvSpPr>
          <p:cNvPr id="3" name="内容占位符 2">
            <a:extLst>
              <a:ext uri="{FF2B5EF4-FFF2-40B4-BE49-F238E27FC236}">
                <a16:creationId xmlns:a16="http://schemas.microsoft.com/office/drawing/2014/main" id="{8AB1BFAA-1F96-4057-87F1-417AD8D2FA4A}"/>
              </a:ext>
            </a:extLst>
          </p:cNvPr>
          <p:cNvSpPr>
            <a:spLocks noGrp="1"/>
          </p:cNvSpPr>
          <p:nvPr>
            <p:ph idx="1"/>
          </p:nvPr>
        </p:nvSpPr>
        <p:spPr/>
        <p:txBody>
          <a:bodyPr/>
          <a:lstStyle/>
          <a:p>
            <a:r>
              <a:rPr lang="zh-CN" altLang="en-US" dirty="0"/>
              <a:t>给定一棵树 </a:t>
            </a:r>
            <a:r>
              <a:rPr lang="en-US" altLang="zh-CN" dirty="0">
                <a:effectLst/>
              </a:rPr>
              <a:t>T</a:t>
            </a:r>
            <a:r>
              <a:rPr lang="zh-CN" altLang="en-US" dirty="0"/>
              <a:t>，对于每个点 </a:t>
            </a:r>
            <a:r>
              <a:rPr lang="en-US" altLang="zh-CN" dirty="0">
                <a:effectLst/>
              </a:rPr>
              <a:t>v</a:t>
            </a:r>
            <a:r>
              <a:rPr lang="zh-CN" altLang="en-US" dirty="0"/>
              <a:t>，定义 </a:t>
            </a:r>
            <a:r>
              <a:rPr lang="en-US" altLang="zh-CN" dirty="0">
                <a:effectLst/>
              </a:rPr>
              <a:t>far[v]</a:t>
            </a:r>
            <a:r>
              <a:rPr lang="zh-CN" altLang="en-US" dirty="0"/>
              <a:t> 为 </a:t>
            </a:r>
            <a:r>
              <a:rPr lang="en-US" altLang="zh-CN" dirty="0">
                <a:effectLst/>
              </a:rPr>
              <a:t>v</a:t>
            </a:r>
            <a:r>
              <a:rPr lang="zh-CN" altLang="en-US" dirty="0"/>
              <a:t> 与 </a:t>
            </a:r>
            <a:r>
              <a:rPr lang="en-US" altLang="zh-CN" dirty="0">
                <a:effectLst/>
              </a:rPr>
              <a:t>T</a:t>
            </a:r>
            <a:r>
              <a:rPr lang="zh-CN" altLang="en-US" dirty="0"/>
              <a:t> 中离 </a:t>
            </a:r>
            <a:r>
              <a:rPr lang="en-US" altLang="zh-CN" dirty="0">
                <a:effectLst/>
              </a:rPr>
              <a:t>v </a:t>
            </a:r>
            <a:r>
              <a:rPr lang="zh-CN" altLang="en-US" dirty="0"/>
              <a:t>最远的叶子的距离。</a:t>
            </a:r>
          </a:p>
          <a:p>
            <a:r>
              <a:rPr lang="zh-CN" altLang="en-US" dirty="0"/>
              <a:t>有若干组询问，每组询问给出一个 </a:t>
            </a:r>
            <a:r>
              <a:rPr lang="en-US" altLang="zh-CN" dirty="0">
                <a:effectLst/>
              </a:rPr>
              <a:t>l</a:t>
            </a:r>
            <a:r>
              <a:rPr lang="zh-CN" altLang="en-US" dirty="0"/>
              <a:t>，你需要找到 </a:t>
            </a:r>
            <a:r>
              <a:rPr lang="en-US" altLang="zh-CN" dirty="0">
                <a:effectLst/>
              </a:rPr>
              <a:t>T</a:t>
            </a:r>
            <a:r>
              <a:rPr lang="zh-CN" altLang="en-US" dirty="0"/>
              <a:t> 的一个</a:t>
            </a:r>
            <a:r>
              <a:rPr lang="zh-CN" altLang="en-US" b="1" dirty="0"/>
              <a:t>连通子图</a:t>
            </a:r>
            <a:r>
              <a:rPr lang="zh-CN" altLang="en-US" dirty="0"/>
              <a:t>，使得其中的点的 </a:t>
            </a:r>
            <a:r>
              <a:rPr lang="en-US" altLang="zh-CN" dirty="0">
                <a:effectLst/>
              </a:rPr>
              <a:t>far</a:t>
            </a:r>
            <a:r>
              <a:rPr lang="zh-CN" altLang="en-US" dirty="0"/>
              <a:t> 值的</a:t>
            </a:r>
            <a:r>
              <a:rPr lang="zh-CN" altLang="en-US" b="1" dirty="0"/>
              <a:t>极差</a:t>
            </a:r>
            <a:r>
              <a:rPr lang="zh-CN" altLang="en-US" dirty="0"/>
              <a:t>不超过 </a:t>
            </a:r>
            <a:r>
              <a:rPr lang="en-US" altLang="zh-CN" dirty="0">
                <a:effectLst/>
              </a:rPr>
              <a:t>l</a:t>
            </a:r>
            <a:r>
              <a:rPr lang="zh-CN" altLang="en-US" dirty="0"/>
              <a:t>，请输出满足这样的连通子图的点数的最大值。</a:t>
            </a:r>
            <a:endParaRPr lang="en-US" altLang="zh-CN" dirty="0"/>
          </a:p>
          <a:p>
            <a:r>
              <a:rPr lang="en-US" altLang="zh-CN" dirty="0"/>
              <a:t>n&lt;=10^5,q&lt;=50,1&lt;=</a:t>
            </a:r>
            <a:r>
              <a:rPr lang="zh-CN" altLang="en-US" dirty="0"/>
              <a:t>边权</a:t>
            </a:r>
            <a:r>
              <a:rPr lang="en-US" altLang="zh-CN" dirty="0"/>
              <a:t>&lt;=10^6</a:t>
            </a:r>
            <a:endParaRPr lang="zh-CN" altLang="en-US" dirty="0"/>
          </a:p>
        </p:txBody>
      </p:sp>
    </p:spTree>
    <p:extLst>
      <p:ext uri="{BB962C8B-B14F-4D97-AF65-F5344CB8AC3E}">
        <p14:creationId xmlns:p14="http://schemas.microsoft.com/office/powerpoint/2010/main" val="40072481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973714-51B5-49F1-BC4C-8F15E9941ECC}"/>
              </a:ext>
            </a:extLst>
          </p:cNvPr>
          <p:cNvSpPr>
            <a:spLocks noGrp="1"/>
          </p:cNvSpPr>
          <p:nvPr>
            <p:ph type="title"/>
          </p:nvPr>
        </p:nvSpPr>
        <p:spPr/>
        <p:txBody>
          <a:bodyPr/>
          <a:lstStyle/>
          <a:p>
            <a:r>
              <a:rPr lang="en-US" altLang="zh-CN" dirty="0"/>
              <a:t>CF516D</a:t>
            </a:r>
            <a:endParaRPr lang="zh-CN" altLang="en-US" dirty="0"/>
          </a:p>
        </p:txBody>
      </p:sp>
      <p:sp>
        <p:nvSpPr>
          <p:cNvPr id="3" name="内容占位符 2">
            <a:extLst>
              <a:ext uri="{FF2B5EF4-FFF2-40B4-BE49-F238E27FC236}">
                <a16:creationId xmlns:a16="http://schemas.microsoft.com/office/drawing/2014/main" id="{63F3BF57-53AE-43BD-8638-83E241A8E32F}"/>
              </a:ext>
            </a:extLst>
          </p:cNvPr>
          <p:cNvSpPr>
            <a:spLocks noGrp="1"/>
          </p:cNvSpPr>
          <p:nvPr>
            <p:ph idx="1"/>
          </p:nvPr>
        </p:nvSpPr>
        <p:spPr/>
        <p:txBody>
          <a:bodyPr/>
          <a:lstStyle/>
          <a:p>
            <a:r>
              <a:rPr lang="zh-CN" altLang="en-US" dirty="0"/>
              <a:t>找到树的带权直径中点（如果在边上就加一个虚点），以其为根，则</a:t>
            </a:r>
            <a:r>
              <a:rPr lang="en-US" altLang="zh-CN" dirty="0"/>
              <a:t>far[v]=dep[v]+</a:t>
            </a:r>
            <a:r>
              <a:rPr lang="zh-CN" altLang="en-US" dirty="0"/>
              <a:t>直径长度</a:t>
            </a:r>
            <a:r>
              <a:rPr lang="en-US" altLang="zh-CN" dirty="0"/>
              <a:t>/2</a:t>
            </a:r>
            <a:r>
              <a:rPr lang="zh-CN" altLang="en-US" dirty="0"/>
              <a:t>。因为我们只关心</a:t>
            </a:r>
            <a:r>
              <a:rPr lang="en-US" altLang="zh-CN" dirty="0"/>
              <a:t>far</a:t>
            </a:r>
            <a:r>
              <a:rPr lang="zh-CN" altLang="en-US" dirty="0"/>
              <a:t>的差，所以可以认为</a:t>
            </a:r>
            <a:r>
              <a:rPr lang="en-US" altLang="zh-CN" dirty="0"/>
              <a:t>far[v]=dep[v]</a:t>
            </a:r>
            <a:r>
              <a:rPr lang="zh-CN" altLang="en-US" dirty="0"/>
              <a:t>。</a:t>
            </a:r>
            <a:endParaRPr lang="en-US" altLang="zh-CN" dirty="0"/>
          </a:p>
          <a:p>
            <a:r>
              <a:rPr lang="zh-CN" altLang="en-US" dirty="0"/>
              <a:t>将点按深度排序，对每组询问双指针。如果按照深度从小到大加点，删去一个连通块根时连通块会分裂，不好维护。</a:t>
            </a:r>
            <a:endParaRPr lang="en-US" altLang="zh-CN" dirty="0"/>
          </a:p>
          <a:p>
            <a:r>
              <a:rPr lang="zh-CN" altLang="en-US" dirty="0"/>
              <a:t>考虑按照深度从大到小加点，这样只会删去一个连通块的叶子。用并查集维护连通块，删去叶子时将对应连通块维护的</a:t>
            </a:r>
            <a:r>
              <a:rPr lang="en-US" altLang="zh-CN" dirty="0"/>
              <a:t>size</a:t>
            </a:r>
            <a:r>
              <a:rPr lang="zh-CN" altLang="en-US" dirty="0"/>
              <a:t>减</a:t>
            </a:r>
            <a:r>
              <a:rPr lang="en-US" altLang="zh-CN" dirty="0"/>
              <a:t>1</a:t>
            </a:r>
            <a:r>
              <a:rPr lang="zh-CN" altLang="en-US" dirty="0"/>
              <a:t>即可。</a:t>
            </a:r>
          </a:p>
        </p:txBody>
      </p:sp>
    </p:spTree>
    <p:extLst>
      <p:ext uri="{BB962C8B-B14F-4D97-AF65-F5344CB8AC3E}">
        <p14:creationId xmlns:p14="http://schemas.microsoft.com/office/powerpoint/2010/main" val="1168819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70BA9-AD22-4E15-B7B5-1FF2BAC288B0}"/>
              </a:ext>
            </a:extLst>
          </p:cNvPr>
          <p:cNvSpPr>
            <a:spLocks noGrp="1"/>
          </p:cNvSpPr>
          <p:nvPr>
            <p:ph type="title"/>
          </p:nvPr>
        </p:nvSpPr>
        <p:spPr/>
        <p:txBody>
          <a:bodyPr/>
          <a:lstStyle/>
          <a:p>
            <a:r>
              <a:rPr lang="en-US" altLang="zh-CN" dirty="0"/>
              <a:t>LOJ3163</a:t>
            </a:r>
            <a:endParaRPr lang="zh-CN" altLang="en-US" dirty="0"/>
          </a:p>
        </p:txBody>
      </p:sp>
      <p:sp>
        <p:nvSpPr>
          <p:cNvPr id="3" name="内容占位符 2">
            <a:extLst>
              <a:ext uri="{FF2B5EF4-FFF2-40B4-BE49-F238E27FC236}">
                <a16:creationId xmlns:a16="http://schemas.microsoft.com/office/drawing/2014/main" id="{0171BD0A-5CAC-45B5-9026-E7614EC58542}"/>
              </a:ext>
            </a:extLst>
          </p:cNvPr>
          <p:cNvSpPr>
            <a:spLocks noGrp="1"/>
          </p:cNvSpPr>
          <p:nvPr>
            <p:ph idx="1"/>
          </p:nvPr>
        </p:nvSpPr>
        <p:spPr/>
        <p:txBody>
          <a:bodyPr/>
          <a:lstStyle/>
          <a:p>
            <a:r>
              <a:rPr lang="zh-CN" altLang="en-US" dirty="0"/>
              <a:t>你有一个</a:t>
            </a:r>
            <a:r>
              <a:rPr lang="en-US" altLang="zh-CN" dirty="0"/>
              <a:t>n</a:t>
            </a:r>
            <a:r>
              <a:rPr lang="zh-CN" altLang="en-US" dirty="0"/>
              <a:t>个节点的树，每条边有边权，有</a:t>
            </a:r>
            <a:r>
              <a:rPr lang="en-US" altLang="zh-CN" dirty="0"/>
              <a:t>q</a:t>
            </a:r>
            <a:r>
              <a:rPr lang="zh-CN" altLang="en-US" dirty="0"/>
              <a:t>次更新，每次修改一条边的边权，并询问树的直径。</a:t>
            </a:r>
          </a:p>
          <a:p>
            <a:r>
              <a:rPr lang="zh-CN" altLang="en-US" dirty="0"/>
              <a:t>本题强制在线。</a:t>
            </a:r>
            <a:endParaRPr lang="en-US" altLang="zh-CN" dirty="0"/>
          </a:p>
          <a:p>
            <a:r>
              <a:rPr lang="en-US" altLang="zh-CN" dirty="0" err="1"/>
              <a:t>n,q</a:t>
            </a:r>
            <a:r>
              <a:rPr lang="en-US" altLang="zh-CN" dirty="0"/>
              <a:t>&lt;=10^5</a:t>
            </a:r>
            <a:endParaRPr lang="zh-CN" altLang="en-US" dirty="0"/>
          </a:p>
          <a:p>
            <a:endParaRPr lang="zh-CN" altLang="en-US" dirty="0"/>
          </a:p>
        </p:txBody>
      </p:sp>
    </p:spTree>
    <p:extLst>
      <p:ext uri="{BB962C8B-B14F-4D97-AF65-F5344CB8AC3E}">
        <p14:creationId xmlns:p14="http://schemas.microsoft.com/office/powerpoint/2010/main" val="541674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7F3E53-E230-4781-9F99-EC110A652D70}"/>
              </a:ext>
            </a:extLst>
          </p:cNvPr>
          <p:cNvSpPr>
            <a:spLocks noGrp="1"/>
          </p:cNvSpPr>
          <p:nvPr>
            <p:ph type="title"/>
          </p:nvPr>
        </p:nvSpPr>
        <p:spPr/>
        <p:txBody>
          <a:bodyPr/>
          <a:lstStyle/>
          <a:p>
            <a:r>
              <a:rPr lang="en-US" altLang="zh-CN" dirty="0"/>
              <a:t>LOJ3163</a:t>
            </a:r>
            <a:endParaRPr lang="zh-CN" altLang="en-US" dirty="0"/>
          </a:p>
        </p:txBody>
      </p:sp>
      <p:sp>
        <p:nvSpPr>
          <p:cNvPr id="3" name="内容占位符 2">
            <a:extLst>
              <a:ext uri="{FF2B5EF4-FFF2-40B4-BE49-F238E27FC236}">
                <a16:creationId xmlns:a16="http://schemas.microsoft.com/office/drawing/2014/main" id="{EE3E65EB-DB89-484B-A277-D32D53676F5D}"/>
              </a:ext>
            </a:extLst>
          </p:cNvPr>
          <p:cNvSpPr>
            <a:spLocks noGrp="1"/>
          </p:cNvSpPr>
          <p:nvPr>
            <p:ph idx="1"/>
          </p:nvPr>
        </p:nvSpPr>
        <p:spPr/>
        <p:txBody>
          <a:bodyPr/>
          <a:lstStyle/>
          <a:p>
            <a:r>
              <a:rPr lang="zh-CN" altLang="en-US" dirty="0"/>
              <a:t>树上</a:t>
            </a:r>
            <a:r>
              <a:rPr lang="en-US" altLang="zh-CN" dirty="0" err="1"/>
              <a:t>u,v</a:t>
            </a:r>
            <a:r>
              <a:rPr lang="zh-CN" altLang="en-US" dirty="0"/>
              <a:t>两点的距离为</a:t>
            </a:r>
            <a:r>
              <a:rPr lang="en-US" altLang="zh-CN" dirty="0"/>
              <a:t>dep[u]+dep[v]-2*dep[</a:t>
            </a:r>
            <a:r>
              <a:rPr lang="en-US" altLang="zh-CN" dirty="0" err="1"/>
              <a:t>lca</a:t>
            </a:r>
            <a:r>
              <a:rPr lang="en-US" altLang="zh-CN" dirty="0"/>
              <a:t>(</a:t>
            </a:r>
            <a:r>
              <a:rPr lang="en-US" altLang="zh-CN" dirty="0" err="1"/>
              <a:t>u,v</a:t>
            </a:r>
            <a:r>
              <a:rPr lang="en-US" altLang="zh-CN" dirty="0"/>
              <a:t>)]</a:t>
            </a:r>
            <a:r>
              <a:rPr lang="zh-CN" altLang="en-US" dirty="0"/>
              <a:t>。用树状数组以</a:t>
            </a:r>
            <a:r>
              <a:rPr lang="en-US" altLang="zh-CN" dirty="0" err="1"/>
              <a:t>dfs</a:t>
            </a:r>
            <a:r>
              <a:rPr lang="zh-CN" altLang="en-US" dirty="0"/>
              <a:t>序为下标维护点的深度，每次修改边权就是一次区间修改，并用树剖快速求</a:t>
            </a:r>
            <a:r>
              <a:rPr lang="en-US" altLang="zh-CN" dirty="0" err="1"/>
              <a:t>lca</a:t>
            </a:r>
            <a:r>
              <a:rPr lang="zh-CN" altLang="en-US" dirty="0"/>
              <a:t>，可以做到修改边权后快速求两点距离。</a:t>
            </a:r>
            <a:endParaRPr lang="en-US" altLang="zh-CN" dirty="0"/>
          </a:p>
          <a:p>
            <a:r>
              <a:rPr lang="zh-CN" altLang="en-US" dirty="0"/>
              <a:t>用线段树以</a:t>
            </a:r>
            <a:r>
              <a:rPr lang="en-US" altLang="zh-CN" dirty="0" err="1"/>
              <a:t>dfs</a:t>
            </a:r>
            <a:r>
              <a:rPr lang="zh-CN" altLang="en-US" dirty="0"/>
              <a:t>序为下标维护区间点集的直径。合并两个区间时，利用直径的性质，分别尝试</a:t>
            </a:r>
            <a:r>
              <a:rPr lang="en-US" altLang="zh-CN" dirty="0"/>
              <a:t>6</a:t>
            </a:r>
            <a:r>
              <a:rPr lang="zh-CN" altLang="en-US" dirty="0"/>
              <a:t>种可能性，取距离最大的即可。</a:t>
            </a:r>
            <a:endParaRPr lang="en-US" altLang="zh-CN" dirty="0"/>
          </a:p>
          <a:p>
            <a:r>
              <a:rPr lang="zh-CN" altLang="en-US" dirty="0"/>
              <a:t>每次修改边权后，只有子树内一点与子树外一点的距离可能改变，因此像下面这段代码一样模拟一次一般的区间修改即可。</a:t>
            </a:r>
          </a:p>
        </p:txBody>
      </p:sp>
      <p:pic>
        <p:nvPicPr>
          <p:cNvPr id="5" name="图片 4">
            <a:extLst>
              <a:ext uri="{FF2B5EF4-FFF2-40B4-BE49-F238E27FC236}">
                <a16:creationId xmlns:a16="http://schemas.microsoft.com/office/drawing/2014/main" id="{0213BABA-FB92-427B-B06F-FB16D3C76834}"/>
              </a:ext>
            </a:extLst>
          </p:cNvPr>
          <p:cNvPicPr>
            <a:picLocks noChangeAspect="1"/>
          </p:cNvPicPr>
          <p:nvPr/>
        </p:nvPicPr>
        <p:blipFill>
          <a:blip r:embed="rId2"/>
          <a:stretch>
            <a:fillRect/>
          </a:stretch>
        </p:blipFill>
        <p:spPr>
          <a:xfrm>
            <a:off x="1209226" y="4881725"/>
            <a:ext cx="3914286" cy="1295238"/>
          </a:xfrm>
          <a:prstGeom prst="rect">
            <a:avLst/>
          </a:prstGeom>
        </p:spPr>
      </p:pic>
    </p:spTree>
    <p:extLst>
      <p:ext uri="{BB962C8B-B14F-4D97-AF65-F5344CB8AC3E}">
        <p14:creationId xmlns:p14="http://schemas.microsoft.com/office/powerpoint/2010/main" val="11237246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8A1B5D-A0AF-4F94-B190-09AFB24CC62D}"/>
              </a:ext>
            </a:extLst>
          </p:cNvPr>
          <p:cNvSpPr>
            <a:spLocks noGrp="1"/>
          </p:cNvSpPr>
          <p:nvPr>
            <p:ph type="title"/>
          </p:nvPr>
        </p:nvSpPr>
        <p:spPr/>
        <p:txBody>
          <a:bodyPr/>
          <a:lstStyle/>
          <a:p>
            <a:r>
              <a:rPr lang="en-US" altLang="zh-CN" dirty="0"/>
              <a:t>ARC087F</a:t>
            </a:r>
            <a:endParaRPr lang="zh-CN" altLang="en-US" dirty="0"/>
          </a:p>
        </p:txBody>
      </p:sp>
      <p:sp>
        <p:nvSpPr>
          <p:cNvPr id="3" name="内容占位符 2">
            <a:extLst>
              <a:ext uri="{FF2B5EF4-FFF2-40B4-BE49-F238E27FC236}">
                <a16:creationId xmlns:a16="http://schemas.microsoft.com/office/drawing/2014/main" id="{8F53E7C7-F94F-4BAB-A6B5-F886EE2DF811}"/>
              </a:ext>
            </a:extLst>
          </p:cNvPr>
          <p:cNvSpPr>
            <a:spLocks noGrp="1"/>
          </p:cNvSpPr>
          <p:nvPr>
            <p:ph idx="1"/>
          </p:nvPr>
        </p:nvSpPr>
        <p:spPr/>
        <p:txBody>
          <a:bodyPr/>
          <a:lstStyle/>
          <a:p>
            <a:r>
              <a:rPr lang="zh-CN" altLang="en-US" dirty="0"/>
              <a:t>给你一个</a:t>
            </a:r>
            <a:r>
              <a:rPr lang="en-US" altLang="zh-CN" dirty="0"/>
              <a:t>N</a:t>
            </a:r>
            <a:r>
              <a:rPr lang="zh-CN" altLang="en-US" dirty="0"/>
              <a:t>个节点的树，求使得∑</a:t>
            </a:r>
            <a:r>
              <a:rPr lang="en-US" altLang="zh-CN" dirty="0" err="1"/>
              <a:t>dist</a:t>
            </a:r>
            <a:r>
              <a:rPr lang="en-US" altLang="zh-CN" dirty="0"/>
              <a:t>(</a:t>
            </a:r>
            <a:r>
              <a:rPr lang="en-US" altLang="zh-CN" dirty="0" err="1"/>
              <a:t>i,p</a:t>
            </a:r>
            <a:r>
              <a:rPr lang="en-US" altLang="zh-CN" dirty="0"/>
              <a:t>[</a:t>
            </a:r>
            <a:r>
              <a:rPr lang="en-US" altLang="zh-CN" dirty="0" err="1"/>
              <a:t>i</a:t>
            </a:r>
            <a:r>
              <a:rPr lang="en-US" altLang="zh-CN" dirty="0"/>
              <a:t>])</a:t>
            </a:r>
            <a:r>
              <a:rPr lang="zh-CN" altLang="en-US" dirty="0"/>
              <a:t>最大的排列</a:t>
            </a:r>
            <a:r>
              <a:rPr lang="en-US" altLang="zh-CN" dirty="0"/>
              <a:t>p</a:t>
            </a:r>
            <a:r>
              <a:rPr lang="zh-CN" altLang="en-US" dirty="0"/>
              <a:t>的个数。</a:t>
            </a:r>
            <a:endParaRPr lang="en-US" altLang="zh-CN" dirty="0"/>
          </a:p>
          <a:p>
            <a:r>
              <a:rPr lang="en-US" altLang="zh-CN" dirty="0"/>
              <a:t>N&lt;=5000</a:t>
            </a:r>
            <a:endParaRPr lang="zh-CN" altLang="en-US" dirty="0"/>
          </a:p>
        </p:txBody>
      </p:sp>
    </p:spTree>
    <p:extLst>
      <p:ext uri="{BB962C8B-B14F-4D97-AF65-F5344CB8AC3E}">
        <p14:creationId xmlns:p14="http://schemas.microsoft.com/office/powerpoint/2010/main" val="13147963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28FD29-AA1B-44FE-B167-A580954C5703}"/>
              </a:ext>
            </a:extLst>
          </p:cNvPr>
          <p:cNvSpPr>
            <a:spLocks noGrp="1"/>
          </p:cNvSpPr>
          <p:nvPr>
            <p:ph type="title"/>
          </p:nvPr>
        </p:nvSpPr>
        <p:spPr/>
        <p:txBody>
          <a:bodyPr/>
          <a:lstStyle/>
          <a:p>
            <a:r>
              <a:rPr lang="en-US" altLang="zh-CN" dirty="0"/>
              <a:t>ARC087F</a:t>
            </a:r>
            <a:endParaRPr lang="zh-CN" altLang="en-US" dirty="0"/>
          </a:p>
        </p:txBody>
      </p:sp>
      <p:sp>
        <p:nvSpPr>
          <p:cNvPr id="3" name="内容占位符 2">
            <a:extLst>
              <a:ext uri="{FF2B5EF4-FFF2-40B4-BE49-F238E27FC236}">
                <a16:creationId xmlns:a16="http://schemas.microsoft.com/office/drawing/2014/main" id="{2722DD37-10DD-4B68-8A64-68FCBC4E7A1A}"/>
              </a:ext>
            </a:extLst>
          </p:cNvPr>
          <p:cNvSpPr>
            <a:spLocks noGrp="1"/>
          </p:cNvSpPr>
          <p:nvPr>
            <p:ph idx="1"/>
          </p:nvPr>
        </p:nvSpPr>
        <p:spPr/>
        <p:txBody>
          <a:bodyPr/>
          <a:lstStyle/>
          <a:p>
            <a:r>
              <a:rPr lang="zh-CN" altLang="en-US" dirty="0"/>
              <a:t>（</a:t>
            </a:r>
            <a:r>
              <a:rPr lang="zh-CN" altLang="en-US" strike="sngStrike" dirty="0"/>
              <a:t>计数题乱入</a:t>
            </a:r>
            <a:r>
              <a:rPr lang="zh-CN" altLang="en-US" dirty="0"/>
              <a:t>）</a:t>
            </a:r>
            <a:endParaRPr lang="en-US" altLang="zh-CN" dirty="0"/>
          </a:p>
          <a:p>
            <a:r>
              <a:rPr lang="zh-CN" altLang="en-US" dirty="0"/>
              <a:t>考虑怎样最大化这个式子。对于一条边，设其两端的子树大小分别为</a:t>
            </a:r>
            <a:r>
              <a:rPr lang="en-US" altLang="zh-CN" dirty="0" err="1"/>
              <a:t>a,b</a:t>
            </a:r>
            <a:r>
              <a:rPr lang="zh-CN" altLang="en-US" dirty="0"/>
              <a:t>，则其贡献上界为</a:t>
            </a:r>
            <a:r>
              <a:rPr lang="en-US" altLang="zh-CN" dirty="0"/>
              <a:t>2*min(</a:t>
            </a:r>
            <a:r>
              <a:rPr lang="en-US" altLang="zh-CN" dirty="0" err="1"/>
              <a:t>a,b</a:t>
            </a:r>
            <a:r>
              <a:rPr lang="en-US" altLang="zh-CN" dirty="0"/>
              <a:t>)</a:t>
            </a:r>
            <a:r>
              <a:rPr lang="zh-CN" altLang="en-US" dirty="0"/>
              <a:t>。</a:t>
            </a:r>
            <a:endParaRPr lang="en-US" altLang="zh-CN" dirty="0"/>
          </a:p>
          <a:p>
            <a:r>
              <a:rPr lang="zh-CN" altLang="en-US" dirty="0"/>
              <a:t>将树以重心为根，每个点匹配任意一个不在重心的同一子树内的点，即可使每条边都达到这个上界。</a:t>
            </a:r>
            <a:endParaRPr lang="en-US" altLang="zh-CN" dirty="0"/>
          </a:p>
          <a:p>
            <a:r>
              <a:rPr lang="zh-CN" altLang="en-US" dirty="0"/>
              <a:t>至于计数，如果有</a:t>
            </a:r>
            <a:r>
              <a:rPr lang="en-US" altLang="zh-CN" dirty="0"/>
              <a:t>2</a:t>
            </a:r>
            <a:r>
              <a:rPr lang="zh-CN" altLang="en-US" dirty="0"/>
              <a:t>个重心答案就是</a:t>
            </a:r>
            <a:r>
              <a:rPr lang="en-US" altLang="zh-CN" dirty="0"/>
              <a:t>(n/2)!</a:t>
            </a:r>
            <a:r>
              <a:rPr lang="zh-CN" altLang="en-US" dirty="0"/>
              <a:t>，如果只有一个重心，限制就是一个点不能匹配与自己在重心同一子树内的点，容斥原理</a:t>
            </a:r>
            <a:r>
              <a:rPr lang="en-US" altLang="zh-CN" dirty="0"/>
              <a:t>+</a:t>
            </a:r>
            <a:r>
              <a:rPr lang="zh-CN" altLang="en-US" dirty="0"/>
              <a:t>背包计算。</a:t>
            </a:r>
          </a:p>
        </p:txBody>
      </p:sp>
    </p:spTree>
    <p:extLst>
      <p:ext uri="{BB962C8B-B14F-4D97-AF65-F5344CB8AC3E}">
        <p14:creationId xmlns:p14="http://schemas.microsoft.com/office/powerpoint/2010/main" val="10581676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326C96-2B7A-4EBB-8FED-3008CB90D2A1}"/>
              </a:ext>
            </a:extLst>
          </p:cNvPr>
          <p:cNvSpPr>
            <a:spLocks noGrp="1"/>
          </p:cNvSpPr>
          <p:nvPr>
            <p:ph type="title"/>
          </p:nvPr>
        </p:nvSpPr>
        <p:spPr/>
        <p:txBody>
          <a:bodyPr/>
          <a:lstStyle/>
          <a:p>
            <a:r>
              <a:rPr lang="en-US" altLang="zh-CN" dirty="0"/>
              <a:t>LOJ3280</a:t>
            </a:r>
            <a:endParaRPr lang="zh-CN" altLang="en-US" dirty="0"/>
          </a:p>
        </p:txBody>
      </p:sp>
      <p:sp>
        <p:nvSpPr>
          <p:cNvPr id="3" name="内容占位符 2">
            <a:extLst>
              <a:ext uri="{FF2B5EF4-FFF2-40B4-BE49-F238E27FC236}">
                <a16:creationId xmlns:a16="http://schemas.microsoft.com/office/drawing/2014/main" id="{E21A5AED-75C5-4E2C-9ED3-E9E6696B8464}"/>
              </a:ext>
            </a:extLst>
          </p:cNvPr>
          <p:cNvSpPr>
            <a:spLocks noGrp="1"/>
          </p:cNvSpPr>
          <p:nvPr>
            <p:ph idx="1"/>
          </p:nvPr>
        </p:nvSpPr>
        <p:spPr/>
        <p:txBody>
          <a:bodyPr/>
          <a:lstStyle/>
          <a:p>
            <a:r>
              <a:rPr lang="zh-CN" altLang="en-US" dirty="0"/>
              <a:t>给一棵树，每个点有颜色。你需要选出一个连通块，使得每一种颜色都满足：该颜色的所有点都在或都不在该连通块中。要求最小化连通块中包含的颜色数。</a:t>
            </a:r>
            <a:endParaRPr lang="en-US" altLang="zh-CN" dirty="0"/>
          </a:p>
          <a:p>
            <a:r>
              <a:rPr lang="en-US" altLang="zh-CN" dirty="0"/>
              <a:t>n&lt;=2*10^5</a:t>
            </a:r>
            <a:endParaRPr lang="zh-CN" altLang="en-US" dirty="0"/>
          </a:p>
        </p:txBody>
      </p:sp>
    </p:spTree>
    <p:extLst>
      <p:ext uri="{BB962C8B-B14F-4D97-AF65-F5344CB8AC3E}">
        <p14:creationId xmlns:p14="http://schemas.microsoft.com/office/powerpoint/2010/main" val="19693206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33CE1D-09FC-4442-86DD-ACA20C1881B6}"/>
              </a:ext>
            </a:extLst>
          </p:cNvPr>
          <p:cNvSpPr>
            <a:spLocks noGrp="1"/>
          </p:cNvSpPr>
          <p:nvPr>
            <p:ph type="title"/>
          </p:nvPr>
        </p:nvSpPr>
        <p:spPr/>
        <p:txBody>
          <a:bodyPr/>
          <a:lstStyle/>
          <a:p>
            <a:r>
              <a:rPr lang="en-US" altLang="zh-CN" dirty="0"/>
              <a:t>LOJ3280</a:t>
            </a:r>
            <a:endParaRPr lang="zh-CN" altLang="en-US" dirty="0"/>
          </a:p>
        </p:txBody>
      </p:sp>
      <p:sp>
        <p:nvSpPr>
          <p:cNvPr id="3" name="内容占位符 2">
            <a:extLst>
              <a:ext uri="{FF2B5EF4-FFF2-40B4-BE49-F238E27FC236}">
                <a16:creationId xmlns:a16="http://schemas.microsoft.com/office/drawing/2014/main" id="{AB6CA342-08F3-4441-A16A-FD0F5E4D7F3F}"/>
              </a:ext>
            </a:extLst>
          </p:cNvPr>
          <p:cNvSpPr>
            <a:spLocks noGrp="1"/>
          </p:cNvSpPr>
          <p:nvPr>
            <p:ph idx="1"/>
          </p:nvPr>
        </p:nvSpPr>
        <p:spPr/>
        <p:txBody>
          <a:bodyPr>
            <a:normAutofit fontScale="92500" lnSpcReduction="20000"/>
          </a:bodyPr>
          <a:lstStyle/>
          <a:p>
            <a:r>
              <a:rPr lang="zh-CN" altLang="en-US" dirty="0"/>
              <a:t>假设我们钦定了某个点</a:t>
            </a:r>
            <a:r>
              <a:rPr lang="en-US" altLang="zh-CN" dirty="0"/>
              <a:t>u</a:t>
            </a:r>
            <a:r>
              <a:rPr lang="zh-CN" altLang="en-US" dirty="0"/>
              <a:t>必须在连通块中。以</a:t>
            </a:r>
            <a:r>
              <a:rPr lang="en-US" altLang="zh-CN" dirty="0"/>
              <a:t>u</a:t>
            </a:r>
            <a:r>
              <a:rPr lang="zh-CN" altLang="en-US" dirty="0"/>
              <a:t>为根，对树上每个点和每种颜色建一个点。</a:t>
            </a:r>
            <a:endParaRPr lang="en-US" altLang="zh-CN" dirty="0"/>
          </a:p>
          <a:p>
            <a:r>
              <a:rPr lang="zh-CN" altLang="en-US" dirty="0"/>
              <a:t>有限制：</a:t>
            </a:r>
            <a:endParaRPr lang="en-US" altLang="zh-CN" dirty="0"/>
          </a:p>
          <a:p>
            <a:r>
              <a:rPr lang="zh-CN" altLang="en-US" dirty="0"/>
              <a:t>如果选了点</a:t>
            </a:r>
            <a:r>
              <a:rPr lang="en-US" altLang="zh-CN" dirty="0"/>
              <a:t>x</a:t>
            </a:r>
            <a:r>
              <a:rPr lang="zh-CN" altLang="en-US" dirty="0"/>
              <a:t>，必须选择点</a:t>
            </a:r>
            <a:r>
              <a:rPr lang="en-US" altLang="zh-CN" dirty="0"/>
              <a:t>fa[x]</a:t>
            </a:r>
            <a:r>
              <a:rPr lang="zh-CN" altLang="en-US" dirty="0"/>
              <a:t>。</a:t>
            </a:r>
            <a:endParaRPr lang="en-US" altLang="zh-CN" dirty="0"/>
          </a:p>
          <a:p>
            <a:r>
              <a:rPr lang="zh-CN" altLang="en-US" dirty="0"/>
              <a:t>如果选了点</a:t>
            </a:r>
            <a:r>
              <a:rPr lang="en-US" altLang="zh-CN" dirty="0"/>
              <a:t>x</a:t>
            </a:r>
            <a:r>
              <a:rPr lang="zh-CN" altLang="en-US" dirty="0"/>
              <a:t>，必须选择颜色</a:t>
            </a:r>
            <a:r>
              <a:rPr lang="en-US" altLang="zh-CN" dirty="0"/>
              <a:t>col[x]</a:t>
            </a:r>
            <a:r>
              <a:rPr lang="zh-CN" altLang="en-US" dirty="0"/>
              <a:t>。</a:t>
            </a:r>
            <a:endParaRPr lang="en-US" altLang="zh-CN" dirty="0"/>
          </a:p>
          <a:p>
            <a:r>
              <a:rPr lang="zh-CN" altLang="en-US" dirty="0"/>
              <a:t>如果选择了颜色</a:t>
            </a:r>
            <a:r>
              <a:rPr lang="en-US" altLang="zh-CN" dirty="0"/>
              <a:t>col[x]</a:t>
            </a:r>
            <a:r>
              <a:rPr lang="zh-CN" altLang="en-US" dirty="0"/>
              <a:t>，必须选择颜色为</a:t>
            </a:r>
            <a:r>
              <a:rPr lang="en-US" altLang="zh-CN" dirty="0"/>
              <a:t>col[x]</a:t>
            </a:r>
            <a:r>
              <a:rPr lang="zh-CN" altLang="en-US" dirty="0"/>
              <a:t>的所有点。</a:t>
            </a:r>
            <a:endParaRPr lang="en-US" altLang="zh-CN" dirty="0"/>
          </a:p>
          <a:p>
            <a:r>
              <a:rPr lang="zh-CN" altLang="en-US" dirty="0"/>
              <a:t>如果选了</a:t>
            </a:r>
            <a:r>
              <a:rPr lang="en-US" altLang="zh-CN" dirty="0"/>
              <a:t>a</a:t>
            </a:r>
            <a:r>
              <a:rPr lang="zh-CN" altLang="en-US" dirty="0"/>
              <a:t>必须选</a:t>
            </a:r>
            <a:r>
              <a:rPr lang="en-US" altLang="zh-CN" dirty="0"/>
              <a:t>b</a:t>
            </a:r>
            <a:r>
              <a:rPr lang="zh-CN" altLang="en-US" dirty="0"/>
              <a:t>，那么</a:t>
            </a:r>
            <a:r>
              <a:rPr lang="en-US" altLang="zh-CN" dirty="0"/>
              <a:t>a</a:t>
            </a:r>
            <a:r>
              <a:rPr lang="zh-CN" altLang="en-US" dirty="0"/>
              <a:t>向</a:t>
            </a:r>
            <a:r>
              <a:rPr lang="en-US" altLang="zh-CN" dirty="0"/>
              <a:t>b</a:t>
            </a:r>
            <a:r>
              <a:rPr lang="zh-CN" altLang="en-US" dirty="0"/>
              <a:t>连边。从</a:t>
            </a:r>
            <a:r>
              <a:rPr lang="en-US" altLang="zh-CN" dirty="0"/>
              <a:t>u</a:t>
            </a:r>
            <a:r>
              <a:rPr lang="zh-CN" altLang="en-US" dirty="0"/>
              <a:t>出发能到达的所有点包含的颜色数即为钦定点</a:t>
            </a:r>
            <a:r>
              <a:rPr lang="en-US" altLang="zh-CN" dirty="0"/>
              <a:t>u</a:t>
            </a:r>
            <a:r>
              <a:rPr lang="zh-CN" altLang="en-US" dirty="0"/>
              <a:t>时的最小颜色数。</a:t>
            </a:r>
            <a:endParaRPr lang="en-US" altLang="zh-CN" dirty="0"/>
          </a:p>
          <a:p>
            <a:r>
              <a:rPr lang="zh-CN" altLang="en-US" dirty="0"/>
              <a:t>现在要枚举每个点来钦定，怎么办呢？点分治。</a:t>
            </a:r>
            <a:endParaRPr lang="en-US" altLang="zh-CN" dirty="0"/>
          </a:p>
          <a:p>
            <a:r>
              <a:rPr lang="zh-CN" altLang="en-US" dirty="0"/>
              <a:t>注意一个细节，点分治中的连通块只是原树的一个子集，可能有某些颜色包含在该连通块外面的点，这样的颜色是不能选的。</a:t>
            </a:r>
          </a:p>
        </p:txBody>
      </p:sp>
    </p:spTree>
    <p:extLst>
      <p:ext uri="{BB962C8B-B14F-4D97-AF65-F5344CB8AC3E}">
        <p14:creationId xmlns:p14="http://schemas.microsoft.com/office/powerpoint/2010/main" val="5269650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242556-993C-445C-AB59-6DEC5C61077C}"/>
              </a:ext>
            </a:extLst>
          </p:cNvPr>
          <p:cNvSpPr>
            <a:spLocks noGrp="1"/>
          </p:cNvSpPr>
          <p:nvPr>
            <p:ph type="title"/>
          </p:nvPr>
        </p:nvSpPr>
        <p:spPr/>
        <p:txBody>
          <a:bodyPr/>
          <a:lstStyle/>
          <a:p>
            <a:r>
              <a:rPr lang="en-US" altLang="zh-CN" dirty="0"/>
              <a:t>LUOGU4292</a:t>
            </a:r>
            <a:endParaRPr lang="zh-CN" altLang="en-US" dirty="0"/>
          </a:p>
        </p:txBody>
      </p:sp>
      <p:sp>
        <p:nvSpPr>
          <p:cNvPr id="3" name="内容占位符 2">
            <a:extLst>
              <a:ext uri="{FF2B5EF4-FFF2-40B4-BE49-F238E27FC236}">
                <a16:creationId xmlns:a16="http://schemas.microsoft.com/office/drawing/2014/main" id="{36E01F3F-3186-4469-8841-FA09AD7EE06A}"/>
              </a:ext>
            </a:extLst>
          </p:cNvPr>
          <p:cNvSpPr>
            <a:spLocks noGrp="1"/>
          </p:cNvSpPr>
          <p:nvPr>
            <p:ph idx="1"/>
          </p:nvPr>
        </p:nvSpPr>
        <p:spPr/>
        <p:txBody>
          <a:bodyPr/>
          <a:lstStyle/>
          <a:p>
            <a:r>
              <a:rPr lang="zh-CN" altLang="en-US" dirty="0"/>
              <a:t>给一棵树，求边数在</a:t>
            </a:r>
            <a:r>
              <a:rPr lang="en-US" altLang="zh-CN" dirty="0"/>
              <a:t>[L,R]</a:t>
            </a:r>
            <a:r>
              <a:rPr lang="zh-CN" altLang="en-US" dirty="0"/>
              <a:t>之间，平均边权最大的简单路径。</a:t>
            </a:r>
            <a:endParaRPr lang="en-US" altLang="zh-CN" dirty="0"/>
          </a:p>
          <a:p>
            <a:r>
              <a:rPr lang="en-US" altLang="zh-CN" dirty="0"/>
              <a:t>n&lt;=10^5</a:t>
            </a:r>
            <a:endParaRPr lang="zh-CN" altLang="en-US" dirty="0"/>
          </a:p>
        </p:txBody>
      </p:sp>
    </p:spTree>
    <p:extLst>
      <p:ext uri="{BB962C8B-B14F-4D97-AF65-F5344CB8AC3E}">
        <p14:creationId xmlns:p14="http://schemas.microsoft.com/office/powerpoint/2010/main" val="21326746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79144-6E4B-465F-887C-DC2D255F6421}"/>
              </a:ext>
            </a:extLst>
          </p:cNvPr>
          <p:cNvSpPr>
            <a:spLocks noGrp="1"/>
          </p:cNvSpPr>
          <p:nvPr>
            <p:ph type="title"/>
          </p:nvPr>
        </p:nvSpPr>
        <p:spPr/>
        <p:txBody>
          <a:bodyPr/>
          <a:lstStyle/>
          <a:p>
            <a:r>
              <a:rPr lang="en-US" altLang="zh-CN" dirty="0"/>
              <a:t>LUOGU4292</a:t>
            </a:r>
            <a:endParaRPr lang="zh-CN" altLang="en-US" dirty="0"/>
          </a:p>
        </p:txBody>
      </p:sp>
      <p:sp>
        <p:nvSpPr>
          <p:cNvPr id="3" name="内容占位符 2">
            <a:extLst>
              <a:ext uri="{FF2B5EF4-FFF2-40B4-BE49-F238E27FC236}">
                <a16:creationId xmlns:a16="http://schemas.microsoft.com/office/drawing/2014/main" id="{036A5F9D-6F13-4B58-A8CB-45F1EA4CEB89}"/>
              </a:ext>
            </a:extLst>
          </p:cNvPr>
          <p:cNvSpPr>
            <a:spLocks noGrp="1"/>
          </p:cNvSpPr>
          <p:nvPr>
            <p:ph idx="1"/>
          </p:nvPr>
        </p:nvSpPr>
        <p:spPr/>
        <p:txBody>
          <a:bodyPr/>
          <a:lstStyle/>
          <a:p>
            <a:r>
              <a:rPr lang="zh-CN" altLang="en-US" dirty="0"/>
              <a:t>平均值最大，考虑二分答案，问题转化为是否存在一条路径权值和</a:t>
            </a:r>
            <a:r>
              <a:rPr lang="en-US" altLang="zh-CN" dirty="0"/>
              <a:t>&gt;=0</a:t>
            </a:r>
            <a:r>
              <a:rPr lang="zh-CN" altLang="en-US" dirty="0"/>
              <a:t>。</a:t>
            </a:r>
            <a:endParaRPr lang="en-US" altLang="zh-CN" dirty="0"/>
          </a:p>
          <a:p>
            <a:r>
              <a:rPr lang="zh-CN" altLang="en-US" dirty="0"/>
              <a:t>路径统计考虑点分治。设分治中心为</a:t>
            </a:r>
            <a:r>
              <a:rPr lang="en-US" altLang="zh-CN" dirty="0"/>
              <a:t>u</a:t>
            </a:r>
            <a:r>
              <a:rPr lang="zh-CN" altLang="en-US" dirty="0"/>
              <a:t>，我们依次加入每一棵子树，维护</a:t>
            </a:r>
            <a:r>
              <a:rPr lang="en-US" altLang="zh-CN" dirty="0"/>
              <a:t>f[</a:t>
            </a:r>
            <a:r>
              <a:rPr lang="en-US" altLang="zh-CN" dirty="0" err="1"/>
              <a:t>i</a:t>
            </a:r>
            <a:r>
              <a:rPr lang="en-US" altLang="zh-CN" dirty="0"/>
              <a:t>]</a:t>
            </a:r>
            <a:r>
              <a:rPr lang="zh-CN" altLang="en-US" dirty="0"/>
              <a:t>表示前面的子树中到</a:t>
            </a:r>
            <a:r>
              <a:rPr lang="en-US" altLang="zh-CN" dirty="0"/>
              <a:t>u</a:t>
            </a:r>
            <a:r>
              <a:rPr lang="zh-CN" altLang="en-US" dirty="0"/>
              <a:t>距离为</a:t>
            </a:r>
            <a:r>
              <a:rPr lang="en-US" altLang="zh-CN" dirty="0" err="1"/>
              <a:t>i</a:t>
            </a:r>
            <a:r>
              <a:rPr lang="zh-CN" altLang="en-US" dirty="0"/>
              <a:t>的点的最大边权和，然后对这一棵子树中的每个点进行一次区间最大值查询。</a:t>
            </a:r>
            <a:endParaRPr lang="en-US" altLang="zh-CN" dirty="0"/>
          </a:p>
          <a:p>
            <a:r>
              <a:rPr lang="zh-CN" altLang="en-US" dirty="0"/>
              <a:t>为了保证复杂度，需要按最大深度从小到大依次加入子树。否则可能出现之前的子树深度很大，使得</a:t>
            </a:r>
            <a:r>
              <a:rPr lang="en-US" altLang="zh-CN" dirty="0"/>
              <a:t>f</a:t>
            </a:r>
            <a:r>
              <a:rPr lang="zh-CN" altLang="en-US" dirty="0"/>
              <a:t>数组很长，后面每一棵子树都需要与这么长的</a:t>
            </a:r>
            <a:r>
              <a:rPr lang="en-US" altLang="zh-CN" dirty="0"/>
              <a:t>f</a:t>
            </a:r>
            <a:r>
              <a:rPr lang="zh-CN" altLang="en-US" dirty="0"/>
              <a:t>数组进行一次运算。</a:t>
            </a:r>
            <a:endParaRPr lang="en-US" altLang="zh-CN" dirty="0"/>
          </a:p>
          <a:p>
            <a:endParaRPr lang="zh-CN" altLang="en-US" dirty="0"/>
          </a:p>
        </p:txBody>
      </p:sp>
    </p:spTree>
    <p:extLst>
      <p:ext uri="{BB962C8B-B14F-4D97-AF65-F5344CB8AC3E}">
        <p14:creationId xmlns:p14="http://schemas.microsoft.com/office/powerpoint/2010/main" val="27346803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3AA820-04E4-49DF-828A-774780A1C856}"/>
              </a:ext>
            </a:extLst>
          </p:cNvPr>
          <p:cNvSpPr>
            <a:spLocks noGrp="1"/>
          </p:cNvSpPr>
          <p:nvPr>
            <p:ph type="title"/>
          </p:nvPr>
        </p:nvSpPr>
        <p:spPr/>
        <p:txBody>
          <a:bodyPr/>
          <a:lstStyle/>
          <a:p>
            <a:r>
              <a:rPr lang="en-US" altLang="zh-CN" dirty="0"/>
              <a:t>CF1110F</a:t>
            </a:r>
            <a:endParaRPr lang="zh-CN" altLang="en-US" dirty="0"/>
          </a:p>
        </p:txBody>
      </p:sp>
      <p:sp>
        <p:nvSpPr>
          <p:cNvPr id="3" name="内容占位符 2">
            <a:extLst>
              <a:ext uri="{FF2B5EF4-FFF2-40B4-BE49-F238E27FC236}">
                <a16:creationId xmlns:a16="http://schemas.microsoft.com/office/drawing/2014/main" id="{15A4279A-83CA-471F-8AE2-DF2C17DE7216}"/>
              </a:ext>
            </a:extLst>
          </p:cNvPr>
          <p:cNvSpPr>
            <a:spLocks noGrp="1"/>
          </p:cNvSpPr>
          <p:nvPr>
            <p:ph idx="1"/>
          </p:nvPr>
        </p:nvSpPr>
        <p:spPr/>
        <p:txBody>
          <a:bodyPr/>
          <a:lstStyle/>
          <a:p>
            <a:r>
              <a:rPr lang="zh-CN" altLang="en-US" dirty="0"/>
              <a:t>给定一棵以</a:t>
            </a:r>
            <a:r>
              <a:rPr lang="en-US" altLang="zh-CN" dirty="0"/>
              <a:t>1</a:t>
            </a:r>
            <a:r>
              <a:rPr lang="zh-CN" altLang="en-US" dirty="0"/>
              <a:t>为根的</a:t>
            </a:r>
            <a:r>
              <a:rPr lang="en-US" altLang="zh-CN" dirty="0"/>
              <a:t>n</a:t>
            </a:r>
            <a:r>
              <a:rPr lang="zh-CN" altLang="en-US" dirty="0"/>
              <a:t>个节点有根树，</a:t>
            </a:r>
            <a:r>
              <a:rPr lang="en-US" altLang="zh-CN" dirty="0"/>
              <a:t>1</a:t>
            </a:r>
            <a:r>
              <a:rPr lang="zh-CN" altLang="en-US" dirty="0"/>
              <a:t>不是叶子。给定</a:t>
            </a:r>
            <a:r>
              <a:rPr lang="en-US" altLang="zh-CN" dirty="0"/>
              <a:t>m</a:t>
            </a:r>
            <a:r>
              <a:rPr lang="zh-CN" altLang="en-US" dirty="0"/>
              <a:t>次询问，形如 </a:t>
            </a:r>
            <a:r>
              <a:rPr lang="en-US" altLang="zh-CN" dirty="0"/>
              <a:t>v l r</a:t>
            </a:r>
            <a:r>
              <a:rPr lang="zh-CN" altLang="en-US" dirty="0"/>
              <a:t>，输出编号为</a:t>
            </a:r>
            <a:r>
              <a:rPr lang="en-US" altLang="zh-CN" dirty="0" err="1"/>
              <a:t>l~r</a:t>
            </a:r>
            <a:r>
              <a:rPr lang="zh-CN" altLang="en-US" dirty="0"/>
              <a:t>以内的叶子中离</a:t>
            </a:r>
            <a:r>
              <a:rPr lang="en-US" altLang="zh-CN" dirty="0"/>
              <a:t>v</a:t>
            </a:r>
            <a:r>
              <a:rPr lang="zh-CN" altLang="en-US" dirty="0"/>
              <a:t>最近的叶子的距离。</a:t>
            </a:r>
            <a:endParaRPr lang="en-US" altLang="zh-CN" dirty="0"/>
          </a:p>
          <a:p>
            <a:r>
              <a:rPr lang="zh-CN" altLang="en-US" dirty="0"/>
              <a:t>保证给出的树已按</a:t>
            </a:r>
            <a:r>
              <a:rPr lang="en-US" altLang="zh-CN" dirty="0" err="1"/>
              <a:t>dfs</a:t>
            </a:r>
            <a:r>
              <a:rPr lang="zh-CN" altLang="en-US" dirty="0"/>
              <a:t>序重标号。</a:t>
            </a:r>
            <a:endParaRPr lang="en-US" altLang="zh-CN" dirty="0"/>
          </a:p>
          <a:p>
            <a:r>
              <a:rPr lang="en-US" altLang="zh-CN" dirty="0" err="1"/>
              <a:t>n,m</a:t>
            </a:r>
            <a:r>
              <a:rPr lang="en-US" altLang="zh-CN" dirty="0"/>
              <a:t>&lt;=5*10^5</a:t>
            </a:r>
            <a:endParaRPr lang="zh-CN" altLang="en-US" dirty="0"/>
          </a:p>
        </p:txBody>
      </p:sp>
    </p:spTree>
    <p:extLst>
      <p:ext uri="{BB962C8B-B14F-4D97-AF65-F5344CB8AC3E}">
        <p14:creationId xmlns:p14="http://schemas.microsoft.com/office/powerpoint/2010/main" val="39024708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59CA44-6A72-4252-BB5C-79E1B675C5EA}"/>
              </a:ext>
            </a:extLst>
          </p:cNvPr>
          <p:cNvSpPr>
            <a:spLocks noGrp="1"/>
          </p:cNvSpPr>
          <p:nvPr>
            <p:ph type="title"/>
          </p:nvPr>
        </p:nvSpPr>
        <p:spPr/>
        <p:txBody>
          <a:bodyPr/>
          <a:lstStyle/>
          <a:p>
            <a:r>
              <a:rPr lang="en-US" altLang="zh-CN" dirty="0"/>
              <a:t>CF1110F</a:t>
            </a:r>
            <a:endParaRPr lang="zh-CN" altLang="en-US" dirty="0"/>
          </a:p>
        </p:txBody>
      </p:sp>
      <p:sp>
        <p:nvSpPr>
          <p:cNvPr id="3" name="内容占位符 2">
            <a:extLst>
              <a:ext uri="{FF2B5EF4-FFF2-40B4-BE49-F238E27FC236}">
                <a16:creationId xmlns:a16="http://schemas.microsoft.com/office/drawing/2014/main" id="{4AB5F672-2855-4111-B03F-FDC567A119F5}"/>
              </a:ext>
            </a:extLst>
          </p:cNvPr>
          <p:cNvSpPr>
            <a:spLocks noGrp="1"/>
          </p:cNvSpPr>
          <p:nvPr>
            <p:ph idx="1"/>
          </p:nvPr>
        </p:nvSpPr>
        <p:spPr/>
        <p:txBody>
          <a:bodyPr/>
          <a:lstStyle/>
          <a:p>
            <a:r>
              <a:rPr lang="zh-CN" altLang="en-US" dirty="0"/>
              <a:t>将询问离线，</a:t>
            </a:r>
            <a:r>
              <a:rPr lang="en-US" altLang="zh-CN" dirty="0" err="1"/>
              <a:t>dfs</a:t>
            </a:r>
            <a:r>
              <a:rPr lang="zh-CN" altLang="en-US" dirty="0"/>
              <a:t>原树，用一棵线段树以标号为下标，动态维护每个点与当前</a:t>
            </a:r>
            <a:r>
              <a:rPr lang="en-US" altLang="zh-CN" dirty="0" err="1"/>
              <a:t>dfs</a:t>
            </a:r>
            <a:r>
              <a:rPr lang="zh-CN" altLang="en-US" dirty="0"/>
              <a:t>到的点的距离。</a:t>
            </a:r>
            <a:endParaRPr lang="en-US" altLang="zh-CN" dirty="0"/>
          </a:p>
          <a:p>
            <a:r>
              <a:rPr lang="zh-CN" altLang="en-US" dirty="0"/>
              <a:t>从当前点转移到某个儿子时，子树内的点维护的距离会减去该点到儿子的边权，子树外的点维护的距离会加上该点到儿子的边权。这是至多三段区间修改。询问就是求出区间最小值。</a:t>
            </a:r>
            <a:endParaRPr lang="en-US" altLang="zh-CN" dirty="0"/>
          </a:p>
        </p:txBody>
      </p:sp>
    </p:spTree>
    <p:extLst>
      <p:ext uri="{BB962C8B-B14F-4D97-AF65-F5344CB8AC3E}">
        <p14:creationId xmlns:p14="http://schemas.microsoft.com/office/powerpoint/2010/main" val="6761179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DF2DB5-B436-4FA2-8E63-D5A1C1AEFAFA}"/>
              </a:ext>
            </a:extLst>
          </p:cNvPr>
          <p:cNvSpPr>
            <a:spLocks noGrp="1"/>
          </p:cNvSpPr>
          <p:nvPr>
            <p:ph type="title"/>
          </p:nvPr>
        </p:nvSpPr>
        <p:spPr/>
        <p:txBody>
          <a:bodyPr/>
          <a:lstStyle/>
          <a:p>
            <a:r>
              <a:rPr lang="en-US" altLang="zh-CN" dirty="0"/>
              <a:t>LOJ3046</a:t>
            </a:r>
            <a:endParaRPr lang="zh-CN" altLang="en-US" dirty="0"/>
          </a:p>
        </p:txBody>
      </p:sp>
      <p:sp>
        <p:nvSpPr>
          <p:cNvPr id="3" name="内容占位符 2">
            <a:extLst>
              <a:ext uri="{FF2B5EF4-FFF2-40B4-BE49-F238E27FC236}">
                <a16:creationId xmlns:a16="http://schemas.microsoft.com/office/drawing/2014/main" id="{C55DD8DB-86A6-4A5E-8D83-A6AF629E9E69}"/>
              </a:ext>
            </a:extLst>
          </p:cNvPr>
          <p:cNvSpPr>
            <a:spLocks noGrp="1"/>
          </p:cNvSpPr>
          <p:nvPr>
            <p:ph idx="1"/>
          </p:nvPr>
        </p:nvSpPr>
        <p:spPr/>
        <p:txBody>
          <a:bodyPr/>
          <a:lstStyle/>
          <a:p>
            <a:r>
              <a:rPr lang="en-US" altLang="zh-CN" dirty="0"/>
              <a:t>n</a:t>
            </a:r>
            <a:r>
              <a:rPr lang="zh-CN" altLang="en-US" dirty="0"/>
              <a:t>个点的树，给定</a:t>
            </a:r>
            <a:r>
              <a:rPr lang="en-US" altLang="zh-CN" dirty="0"/>
              <a:t>m</a:t>
            </a:r>
            <a:r>
              <a:rPr lang="zh-CN" altLang="en-US" dirty="0"/>
              <a:t>条链，求同在至少一条链上的点对数。</a:t>
            </a:r>
            <a:endParaRPr lang="en-US" altLang="zh-CN" dirty="0"/>
          </a:p>
          <a:p>
            <a:r>
              <a:rPr lang="en-US" altLang="zh-CN" dirty="0" err="1"/>
              <a:t>n,m</a:t>
            </a:r>
            <a:r>
              <a:rPr lang="en-US" altLang="zh-CN" dirty="0"/>
              <a:t>&lt;=10^5</a:t>
            </a:r>
            <a:endParaRPr lang="zh-CN" altLang="en-US" dirty="0"/>
          </a:p>
        </p:txBody>
      </p:sp>
    </p:spTree>
    <p:extLst>
      <p:ext uri="{BB962C8B-B14F-4D97-AF65-F5344CB8AC3E}">
        <p14:creationId xmlns:p14="http://schemas.microsoft.com/office/powerpoint/2010/main" val="1066723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A20D58-3966-45A6-AC5E-B1D08A654A57}"/>
              </a:ext>
            </a:extLst>
          </p:cNvPr>
          <p:cNvSpPr>
            <a:spLocks noGrp="1"/>
          </p:cNvSpPr>
          <p:nvPr>
            <p:ph type="title"/>
          </p:nvPr>
        </p:nvSpPr>
        <p:spPr/>
        <p:txBody>
          <a:bodyPr/>
          <a:lstStyle/>
          <a:p>
            <a:r>
              <a:rPr lang="en-US" altLang="zh-CN" dirty="0"/>
              <a:t>LOJ3046</a:t>
            </a:r>
            <a:endParaRPr lang="zh-CN" altLang="en-US" dirty="0"/>
          </a:p>
        </p:txBody>
      </p:sp>
      <p:sp>
        <p:nvSpPr>
          <p:cNvPr id="3" name="内容占位符 2">
            <a:extLst>
              <a:ext uri="{FF2B5EF4-FFF2-40B4-BE49-F238E27FC236}">
                <a16:creationId xmlns:a16="http://schemas.microsoft.com/office/drawing/2014/main" id="{1673DBAF-ED32-4EEE-8077-C15D8E1A5EC4}"/>
              </a:ext>
            </a:extLst>
          </p:cNvPr>
          <p:cNvSpPr>
            <a:spLocks noGrp="1"/>
          </p:cNvSpPr>
          <p:nvPr>
            <p:ph idx="1"/>
          </p:nvPr>
        </p:nvSpPr>
        <p:spPr/>
        <p:txBody>
          <a:bodyPr>
            <a:normAutofit fontScale="92500" lnSpcReduction="10000"/>
          </a:bodyPr>
          <a:lstStyle/>
          <a:p>
            <a:r>
              <a:rPr lang="zh-CN" altLang="en-US" dirty="0"/>
              <a:t>对每个点求出经过它的链的链并大小即可。</a:t>
            </a:r>
            <a:endParaRPr lang="en-US" altLang="zh-CN" dirty="0"/>
          </a:p>
          <a:p>
            <a:r>
              <a:rPr lang="zh-CN" altLang="en-US" dirty="0"/>
              <a:t>对于经过某个点</a:t>
            </a:r>
            <a:r>
              <a:rPr lang="en-US" altLang="zh-CN" dirty="0"/>
              <a:t>x</a:t>
            </a:r>
            <a:r>
              <a:rPr lang="zh-CN" altLang="en-US" dirty="0"/>
              <a:t>的所有链，将其拆成两条直上直下的链。设这些链下面的端点形成的点集为</a:t>
            </a:r>
            <a:r>
              <a:rPr lang="en-US" altLang="zh-CN" dirty="0"/>
              <a:t>S</a:t>
            </a:r>
            <a:r>
              <a:rPr lang="zh-CN" altLang="en-US" dirty="0"/>
              <a:t>。假设这些链都延伸到了根，则链并就是</a:t>
            </a:r>
            <a:r>
              <a:rPr lang="en-US" altLang="zh-CN" dirty="0"/>
              <a:t>S</a:t>
            </a:r>
            <a:r>
              <a:rPr lang="zh-CN" altLang="en-US" dirty="0"/>
              <a:t>中的点按</a:t>
            </a:r>
            <a:r>
              <a:rPr lang="en-US" altLang="zh-CN" dirty="0" err="1"/>
              <a:t>dfs</a:t>
            </a:r>
            <a:r>
              <a:rPr lang="zh-CN" altLang="en-US" dirty="0"/>
              <a:t>序排序后，深度和减去相邻两端点</a:t>
            </a:r>
            <a:r>
              <a:rPr lang="en-US" altLang="zh-CN" dirty="0" err="1"/>
              <a:t>lca</a:t>
            </a:r>
            <a:r>
              <a:rPr lang="zh-CN" altLang="en-US" dirty="0"/>
              <a:t>的深度之和。现在链不一定延伸到了根，不过这些链一定是连通的，因此减去</a:t>
            </a:r>
            <a:r>
              <a:rPr lang="en-US" altLang="zh-CN" dirty="0"/>
              <a:t>S</a:t>
            </a:r>
            <a:r>
              <a:rPr lang="zh-CN" altLang="en-US" dirty="0"/>
              <a:t>的</a:t>
            </a:r>
            <a:r>
              <a:rPr lang="en-US" altLang="zh-CN" dirty="0" err="1"/>
              <a:t>lca</a:t>
            </a:r>
            <a:r>
              <a:rPr lang="zh-CN" altLang="en-US" dirty="0"/>
              <a:t>的深度即可。</a:t>
            </a:r>
            <a:endParaRPr lang="en-US" altLang="zh-CN" dirty="0"/>
          </a:p>
          <a:p>
            <a:r>
              <a:rPr lang="zh-CN" altLang="en-US" dirty="0"/>
              <a:t>现在需要对每个</a:t>
            </a:r>
            <a:r>
              <a:rPr lang="en-US" altLang="zh-CN" dirty="0"/>
              <a:t>x</a:t>
            </a:r>
            <a:r>
              <a:rPr lang="zh-CN" altLang="en-US" dirty="0"/>
              <a:t>快速计算这个东西，怎么做？先树上差分（对于每条链</a:t>
            </a:r>
            <a:r>
              <a:rPr lang="en-US" altLang="zh-CN" dirty="0"/>
              <a:t>(</a:t>
            </a:r>
            <a:r>
              <a:rPr lang="en-US" altLang="zh-CN" dirty="0" err="1"/>
              <a:t>x,y</a:t>
            </a:r>
            <a:r>
              <a:rPr lang="en-US" altLang="zh-CN" dirty="0"/>
              <a:t>)</a:t>
            </a:r>
            <a:r>
              <a:rPr lang="zh-CN" altLang="en-US" dirty="0"/>
              <a:t>，在</a:t>
            </a:r>
            <a:r>
              <a:rPr lang="en-US" altLang="zh-CN" dirty="0" err="1"/>
              <a:t>x,y</a:t>
            </a:r>
            <a:r>
              <a:rPr lang="zh-CN" altLang="en-US" dirty="0"/>
              <a:t>处加入这条链，在</a:t>
            </a:r>
            <a:r>
              <a:rPr lang="en-US" altLang="zh-CN" dirty="0"/>
              <a:t>fa[</a:t>
            </a:r>
            <a:r>
              <a:rPr lang="en-US" altLang="zh-CN" dirty="0" err="1"/>
              <a:t>lca</a:t>
            </a:r>
            <a:r>
              <a:rPr lang="en-US" altLang="zh-CN" dirty="0"/>
              <a:t>(</a:t>
            </a:r>
            <a:r>
              <a:rPr lang="en-US" altLang="zh-CN" dirty="0" err="1"/>
              <a:t>x,y</a:t>
            </a:r>
            <a:r>
              <a:rPr lang="en-US" altLang="zh-CN" dirty="0"/>
              <a:t>)]</a:t>
            </a:r>
            <a:r>
              <a:rPr lang="zh-CN" altLang="en-US" dirty="0"/>
              <a:t>处去掉两次这条链），变成维护每个点子树信息和的问题，然后线段树合并维护。</a:t>
            </a:r>
            <a:endParaRPr lang="en-US" altLang="zh-CN" dirty="0"/>
          </a:p>
          <a:p>
            <a:r>
              <a:rPr lang="zh-CN" altLang="en-US" dirty="0"/>
              <a:t>线段树需要以</a:t>
            </a:r>
            <a:r>
              <a:rPr lang="en-US" altLang="zh-CN" dirty="0" err="1"/>
              <a:t>dfs</a:t>
            </a:r>
            <a:r>
              <a:rPr lang="zh-CN" altLang="en-US" dirty="0"/>
              <a:t>序为下标，每个节点维护区间内深度和、</a:t>
            </a:r>
            <a:r>
              <a:rPr lang="en-US" altLang="zh-CN" dirty="0" err="1"/>
              <a:t>dfs</a:t>
            </a:r>
            <a:r>
              <a:rPr lang="zh-CN" altLang="en-US" dirty="0"/>
              <a:t>序最小、最大的点、区间内相邻两点</a:t>
            </a:r>
            <a:r>
              <a:rPr lang="en-US" altLang="zh-CN" dirty="0" err="1"/>
              <a:t>lca</a:t>
            </a:r>
            <a:r>
              <a:rPr lang="zh-CN" altLang="en-US" dirty="0"/>
              <a:t>深度之和，容易发现两区间可以快速合并。</a:t>
            </a:r>
          </a:p>
        </p:txBody>
      </p:sp>
    </p:spTree>
    <p:extLst>
      <p:ext uri="{BB962C8B-B14F-4D97-AF65-F5344CB8AC3E}">
        <p14:creationId xmlns:p14="http://schemas.microsoft.com/office/powerpoint/2010/main" val="35376689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273535-60DE-4586-9B6B-D2029410DBE4}"/>
              </a:ext>
            </a:extLst>
          </p:cNvPr>
          <p:cNvSpPr>
            <a:spLocks noGrp="1"/>
          </p:cNvSpPr>
          <p:nvPr>
            <p:ph type="title"/>
          </p:nvPr>
        </p:nvSpPr>
        <p:spPr/>
        <p:txBody>
          <a:bodyPr/>
          <a:lstStyle/>
          <a:p>
            <a:r>
              <a:rPr lang="en-US" altLang="zh-CN" dirty="0"/>
              <a:t>CF925E</a:t>
            </a:r>
            <a:endParaRPr lang="zh-CN" altLang="en-US" dirty="0"/>
          </a:p>
        </p:txBody>
      </p:sp>
      <p:sp>
        <p:nvSpPr>
          <p:cNvPr id="3" name="内容占位符 2">
            <a:extLst>
              <a:ext uri="{FF2B5EF4-FFF2-40B4-BE49-F238E27FC236}">
                <a16:creationId xmlns:a16="http://schemas.microsoft.com/office/drawing/2014/main" id="{82CD7A38-FC7D-4307-AD21-363E9B66CCD8}"/>
              </a:ext>
            </a:extLst>
          </p:cNvPr>
          <p:cNvSpPr>
            <a:spLocks noGrp="1"/>
          </p:cNvSpPr>
          <p:nvPr>
            <p:ph idx="1"/>
          </p:nvPr>
        </p:nvSpPr>
        <p:spPr/>
        <p:txBody>
          <a:bodyPr/>
          <a:lstStyle/>
          <a:p>
            <a:r>
              <a:rPr lang="zh-CN" altLang="en-US" dirty="0"/>
              <a:t>有一棵 </a:t>
            </a:r>
            <a:r>
              <a:rPr lang="en-US" altLang="zh-CN" dirty="0"/>
              <a:t>n </a:t>
            </a:r>
            <a:r>
              <a:rPr lang="zh-CN" altLang="en-US" dirty="0"/>
              <a:t>个点以 </a:t>
            </a:r>
            <a:r>
              <a:rPr lang="en-US" altLang="zh-CN" dirty="0"/>
              <a:t>1 </a:t>
            </a:r>
            <a:r>
              <a:rPr lang="zh-CN" altLang="en-US" dirty="0"/>
              <a:t>为根的树，初始所有点都是白点。接下来有 </a:t>
            </a:r>
            <a:r>
              <a:rPr lang="en-US" altLang="zh-CN" dirty="0"/>
              <a:t>m </a:t>
            </a:r>
            <a:r>
              <a:rPr lang="zh-CN" altLang="en-US" dirty="0"/>
              <a:t>次操作，每次操作给定一个数 </a:t>
            </a:r>
            <a:r>
              <a:rPr lang="en-US" altLang="zh-CN" dirty="0"/>
              <a:t>k</a:t>
            </a:r>
            <a:r>
              <a:rPr lang="zh-CN" altLang="en-US" dirty="0"/>
              <a:t>，若 </a:t>
            </a:r>
            <a:r>
              <a:rPr lang="en-US" altLang="zh-CN" dirty="0"/>
              <a:t>k&gt;0</a:t>
            </a:r>
            <a:r>
              <a:rPr lang="zh-CN" altLang="en-US" dirty="0"/>
              <a:t>，则将第 </a:t>
            </a:r>
            <a:r>
              <a:rPr lang="en-US" altLang="zh-CN" dirty="0"/>
              <a:t>k</a:t>
            </a:r>
            <a:r>
              <a:rPr lang="zh-CN" altLang="en-US" dirty="0"/>
              <a:t> 个点从白点变成黑点；若 </a:t>
            </a:r>
            <a:r>
              <a:rPr lang="en-US" altLang="zh-CN" dirty="0"/>
              <a:t>k&lt;0</a:t>
            </a:r>
            <a:r>
              <a:rPr lang="zh-CN" altLang="en-US" dirty="0"/>
              <a:t>，则将第 </a:t>
            </a:r>
            <a:r>
              <a:rPr lang="en-US" altLang="zh-CN" dirty="0"/>
              <a:t>k</a:t>
            </a:r>
            <a:r>
              <a:rPr lang="zh-CN" altLang="en-US" dirty="0"/>
              <a:t> 个点从黑点变成白点。同时每个点给定一个值 </a:t>
            </a:r>
            <a:r>
              <a:rPr lang="en-US" altLang="zh-CN" dirty="0"/>
              <a:t>t[</a:t>
            </a:r>
            <a:r>
              <a:rPr lang="en-US" altLang="zh-CN" dirty="0" err="1"/>
              <a:t>i</a:t>
            </a:r>
            <a:r>
              <a:rPr lang="en-US" altLang="zh-CN" dirty="0"/>
              <a:t>]</a:t>
            </a:r>
            <a:r>
              <a:rPr lang="zh-CN" altLang="en-US" dirty="0"/>
              <a:t>，</a:t>
            </a:r>
            <a:r>
              <a:rPr lang="zh-CN" altLang="en-US" b="1" dirty="0"/>
              <a:t>若一个白点子树内黑点个数大于 </a:t>
            </a:r>
            <a:r>
              <a:rPr lang="en-US" altLang="zh-CN" b="1" dirty="0"/>
              <a:t>t[</a:t>
            </a:r>
            <a:r>
              <a:rPr lang="en-US" altLang="zh-CN" b="1" dirty="0" err="1"/>
              <a:t>i</a:t>
            </a:r>
            <a:r>
              <a:rPr lang="zh-CN" altLang="en-US" b="1" dirty="0"/>
              <a:t>​</a:t>
            </a:r>
            <a:r>
              <a:rPr lang="en-US" altLang="zh-CN" b="1" dirty="0"/>
              <a:t>]</a:t>
            </a:r>
            <a:r>
              <a:rPr lang="zh-CN" altLang="en-US" dirty="0"/>
              <a:t>，则称该白点为关键点。求每次操作后关键点的个数。保证操作合法。</a:t>
            </a:r>
          </a:p>
          <a:p>
            <a:r>
              <a:rPr lang="en-US" altLang="zh-CN" dirty="0"/>
              <a:t>n,m≤10^5</a:t>
            </a:r>
            <a:endParaRPr lang="zh-CN" altLang="en-US" dirty="0"/>
          </a:p>
          <a:p>
            <a:endParaRPr lang="zh-CN" altLang="en-US" dirty="0"/>
          </a:p>
        </p:txBody>
      </p:sp>
    </p:spTree>
    <p:extLst>
      <p:ext uri="{BB962C8B-B14F-4D97-AF65-F5344CB8AC3E}">
        <p14:creationId xmlns:p14="http://schemas.microsoft.com/office/powerpoint/2010/main" val="16620333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D20005-97DA-4254-9E3C-55C4398DE662}"/>
              </a:ext>
            </a:extLst>
          </p:cNvPr>
          <p:cNvSpPr>
            <a:spLocks noGrp="1"/>
          </p:cNvSpPr>
          <p:nvPr>
            <p:ph type="title"/>
          </p:nvPr>
        </p:nvSpPr>
        <p:spPr/>
        <p:txBody>
          <a:bodyPr/>
          <a:lstStyle/>
          <a:p>
            <a:r>
              <a:rPr lang="en-US" altLang="zh-CN" dirty="0"/>
              <a:t>CF925E</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644D707-EEEF-479E-AE8C-5432E79B9576}"/>
                  </a:ext>
                </a:extLst>
              </p:cNvPr>
              <p:cNvSpPr>
                <a:spLocks noGrp="1"/>
              </p:cNvSpPr>
              <p:nvPr>
                <p:ph idx="1"/>
              </p:nvPr>
            </p:nvSpPr>
            <p:spPr/>
            <p:txBody>
              <a:bodyPr>
                <a:normAutofit lnSpcReduction="10000"/>
              </a:bodyPr>
              <a:lstStyle/>
              <a:p>
                <a:r>
                  <a:rPr lang="zh-CN" altLang="en-US" dirty="0"/>
                  <a:t>考虑对操作序列进行分块。每一块开始前，容易求得每个点子树内的黑点个数，设为</a:t>
                </a:r>
                <a:r>
                  <a:rPr lang="en-US" altLang="zh-CN" dirty="0"/>
                  <a:t>a[</a:t>
                </a:r>
                <a:r>
                  <a:rPr lang="en-US" altLang="zh-CN" dirty="0" err="1"/>
                  <a:t>i</a:t>
                </a:r>
                <a:r>
                  <a:rPr lang="en-US" altLang="zh-CN" dirty="0"/>
                  <a:t>]</a:t>
                </a:r>
                <a:r>
                  <a:rPr lang="zh-CN" altLang="en-US" dirty="0"/>
                  <a:t>。</a:t>
                </a:r>
                <a:endParaRPr lang="en-US" altLang="zh-CN" dirty="0"/>
              </a:p>
              <a:p>
                <a:r>
                  <a:rPr lang="zh-CN" altLang="en-US" dirty="0"/>
                  <a:t>建出该块内所有修改过的点的虚树。对于每一条虚树上的边，其上的所有点在该块内新增的黑点数是一样的。设边</a:t>
                </a:r>
                <a:r>
                  <a:rPr lang="en-US" altLang="zh-CN" dirty="0" err="1"/>
                  <a:t>i</a:t>
                </a:r>
                <a:r>
                  <a:rPr lang="zh-CN" altLang="en-US" dirty="0"/>
                  <a:t>子树内新增的黑点数为</a:t>
                </a:r>
                <a:r>
                  <a:rPr lang="en-US" altLang="zh-CN" dirty="0"/>
                  <a:t>b[</a:t>
                </a:r>
                <a:r>
                  <a:rPr lang="en-US" altLang="zh-CN" dirty="0" err="1"/>
                  <a:t>i</a:t>
                </a:r>
                <a:r>
                  <a:rPr lang="en-US" altLang="zh-CN" dirty="0"/>
                  <a:t>]</a:t>
                </a:r>
                <a:r>
                  <a:rPr lang="zh-CN" altLang="en-US" dirty="0"/>
                  <a:t>。</a:t>
                </a:r>
                <a:endParaRPr lang="en-US" altLang="zh-CN" dirty="0"/>
              </a:p>
              <a:p>
                <a:r>
                  <a:rPr lang="zh-CN" altLang="en-US" dirty="0"/>
                  <a:t>将每条边上的点按照</a:t>
                </a:r>
                <a:r>
                  <a:rPr lang="en-US" altLang="zh-CN" dirty="0"/>
                  <a:t>t[</a:t>
                </a:r>
                <a:r>
                  <a:rPr lang="en-US" altLang="zh-CN" dirty="0" err="1"/>
                  <a:t>i</a:t>
                </a:r>
                <a:r>
                  <a:rPr lang="en-US" altLang="zh-CN" dirty="0"/>
                  <a:t>]-a[</a:t>
                </a:r>
                <a:r>
                  <a:rPr lang="en-US" altLang="zh-CN" dirty="0" err="1"/>
                  <a:t>i</a:t>
                </a:r>
                <a:r>
                  <a:rPr lang="en-US" altLang="zh-CN" dirty="0"/>
                  <a:t>]</a:t>
                </a:r>
                <a:r>
                  <a:rPr lang="zh-CN" altLang="en-US" dirty="0"/>
                  <a:t>排序，</a:t>
                </a:r>
                <a:r>
                  <a:rPr lang="en-US" altLang="zh-CN" dirty="0"/>
                  <a:t> t[</a:t>
                </a:r>
                <a:r>
                  <a:rPr lang="en-US" altLang="zh-CN" dirty="0" err="1"/>
                  <a:t>i</a:t>
                </a:r>
                <a:r>
                  <a:rPr lang="en-US" altLang="zh-CN" dirty="0"/>
                  <a:t>]-a[</a:t>
                </a:r>
                <a:r>
                  <a:rPr lang="en-US" altLang="zh-CN" dirty="0" err="1"/>
                  <a:t>i</a:t>
                </a:r>
                <a:r>
                  <a:rPr lang="en-US" altLang="zh-CN" dirty="0"/>
                  <a:t>]</a:t>
                </a:r>
                <a:r>
                  <a:rPr lang="zh-CN" altLang="en-US" dirty="0"/>
                  <a:t>相同的缩在一起，并维护指针指向最后一个</a:t>
                </a:r>
                <a:r>
                  <a:rPr lang="en-US" altLang="zh-CN" dirty="0"/>
                  <a:t>t[</a:t>
                </a:r>
                <a:r>
                  <a:rPr lang="en-US" altLang="zh-CN" dirty="0" err="1"/>
                  <a:t>i</a:t>
                </a:r>
                <a:r>
                  <a:rPr lang="en-US" altLang="zh-CN" dirty="0"/>
                  <a:t>]-a[</a:t>
                </a:r>
                <a:r>
                  <a:rPr lang="en-US" altLang="zh-CN" dirty="0" err="1"/>
                  <a:t>i</a:t>
                </a:r>
                <a:r>
                  <a:rPr lang="en-US" altLang="zh-CN" dirty="0"/>
                  <a:t>]&lt;0</a:t>
                </a:r>
                <a:r>
                  <a:rPr lang="zh-CN" altLang="en-US" dirty="0"/>
                  <a:t>（即是关键点）的位置。每次修改点的颜色后暴力在虚树上向上跳，将跳到的链的</a:t>
                </a:r>
                <a:r>
                  <a:rPr lang="en-US" altLang="zh-CN" dirty="0"/>
                  <a:t>b[j]</a:t>
                </a:r>
                <a:r>
                  <a:rPr lang="zh-CN" altLang="en-US" dirty="0"/>
                  <a:t>加上或减去</a:t>
                </a:r>
                <a:r>
                  <a:rPr lang="en-US" altLang="zh-CN" dirty="0"/>
                  <a:t>1</a:t>
                </a:r>
                <a:r>
                  <a:rPr lang="zh-CN" altLang="en-US" dirty="0"/>
                  <a:t>。然后修改链上指针使其继续指向最后一个</a:t>
                </a:r>
                <a:r>
                  <a:rPr lang="en-US" altLang="zh-CN" dirty="0"/>
                  <a:t>t[</a:t>
                </a:r>
                <a:r>
                  <a:rPr lang="en-US" altLang="zh-CN" dirty="0" err="1"/>
                  <a:t>i</a:t>
                </a:r>
                <a:r>
                  <a:rPr lang="en-US" altLang="zh-CN" dirty="0"/>
                  <a:t>]+b[j]-a[</a:t>
                </a:r>
                <a:r>
                  <a:rPr lang="en-US" altLang="zh-CN" dirty="0" err="1"/>
                  <a:t>i</a:t>
                </a:r>
                <a:r>
                  <a:rPr lang="en-US" altLang="zh-CN" dirty="0"/>
                  <a:t>]&lt;0</a:t>
                </a:r>
                <a:r>
                  <a:rPr lang="zh-CN" altLang="en-US" dirty="0"/>
                  <a:t>的位置。因为</a:t>
                </a:r>
                <a:r>
                  <a:rPr lang="en-US" altLang="zh-CN" dirty="0"/>
                  <a:t>b[j]</a:t>
                </a:r>
                <a:r>
                  <a:rPr lang="zh-CN" altLang="en-US" dirty="0"/>
                  <a:t>只会变化</a:t>
                </a:r>
                <a:r>
                  <a:rPr lang="en-US" altLang="zh-CN" dirty="0"/>
                  <a:t>1</a:t>
                </a:r>
                <a:r>
                  <a:rPr lang="zh-CN" altLang="en-US" dirty="0"/>
                  <a:t>，所以指针至多向左（右）移动一次。</a:t>
                </a:r>
                <a:endParaRPr lang="en-US" altLang="zh-CN" dirty="0"/>
              </a:p>
              <a:p>
                <a:r>
                  <a:rPr lang="zh-CN" altLang="en-US" dirty="0"/>
                  <a:t>如果排序使用基数排序，总复杂度为</a:t>
                </a:r>
                <a:r>
                  <a:rPr lang="en-US" altLang="zh-CN" dirty="0"/>
                  <a:t>O(m</a:t>
                </a:r>
                <a14:m>
                  <m:oMath xmlns:m="http://schemas.openxmlformats.org/officeDocument/2006/math">
                    <m:rad>
                      <m:radPr>
                        <m:degHide m:val="on"/>
                        <m:ctrlPr>
                          <a:rPr lang="en-US" altLang="zh-CN" i="1" smtClean="0">
                            <a:latin typeface="Cambria Math" panose="02040503050406030204" pitchFamily="18" charset="0"/>
                          </a:rPr>
                        </m:ctrlPr>
                      </m:radPr>
                      <m:deg/>
                      <m:e>
                        <m:r>
                          <a:rPr lang="en-US" altLang="zh-CN" b="0" i="1" smtClean="0">
                            <a:latin typeface="Cambria Math" panose="02040503050406030204" pitchFamily="18" charset="0"/>
                          </a:rPr>
                          <m:t>𝑛</m:t>
                        </m:r>
                      </m:e>
                    </m:rad>
                  </m:oMath>
                </a14:m>
                <a:r>
                  <a:rPr lang="en-US" altLang="zh-CN" dirty="0"/>
                  <a:t>)</a:t>
                </a:r>
                <a:endParaRPr lang="zh-CN" altLang="en-US" dirty="0"/>
              </a:p>
            </p:txBody>
          </p:sp>
        </mc:Choice>
        <mc:Fallback xmlns="">
          <p:sp>
            <p:nvSpPr>
              <p:cNvPr id="3" name="内容占位符 2">
                <a:extLst>
                  <a:ext uri="{FF2B5EF4-FFF2-40B4-BE49-F238E27FC236}">
                    <a16:creationId xmlns:a16="http://schemas.microsoft.com/office/drawing/2014/main" id="{8644D707-EEEF-479E-AE8C-5432E79B9576}"/>
                  </a:ext>
                </a:extLst>
              </p:cNvPr>
              <p:cNvSpPr>
                <a:spLocks noGrp="1" noRot="1" noChangeAspect="1" noMove="1" noResize="1" noEditPoints="1" noAdjustHandles="1" noChangeArrowheads="1" noChangeShapeType="1" noTextEdit="1"/>
              </p:cNvSpPr>
              <p:nvPr>
                <p:ph idx="1"/>
              </p:nvPr>
            </p:nvSpPr>
            <p:spPr>
              <a:blipFill>
                <a:blip r:embed="rId2"/>
                <a:stretch>
                  <a:fillRect l="-1043" t="-3221" r="-2899" b="-12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114487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1062</TotalTime>
  <Words>4252</Words>
  <Application>Microsoft Office PowerPoint</Application>
  <PresentationFormat>宽屏</PresentationFormat>
  <Paragraphs>155</Paragraphs>
  <Slides>41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41</vt:i4>
      </vt:variant>
    </vt:vector>
  </HeadingPairs>
  <TitlesOfParts>
    <vt:vector size="48" baseType="lpstr">
      <vt:lpstr>等线</vt:lpstr>
      <vt:lpstr>等线 Light</vt:lpstr>
      <vt:lpstr>Arial</vt:lpstr>
      <vt:lpstr>Cambria Math</vt:lpstr>
      <vt:lpstr>Courier New</vt:lpstr>
      <vt:lpstr>Times New Roman</vt:lpstr>
      <vt:lpstr>Office 主题​​</vt:lpstr>
      <vt:lpstr>树上问题</vt:lpstr>
      <vt:lpstr>树的直径</vt:lpstr>
      <vt:lpstr>树的重心</vt:lpstr>
      <vt:lpstr>重链剖分</vt:lpstr>
      <vt:lpstr>Luogu 4211</vt:lpstr>
      <vt:lpstr>Luogu 4211</vt:lpstr>
      <vt:lpstr>长链剖分</vt:lpstr>
      <vt:lpstr>No Source</vt:lpstr>
      <vt:lpstr>No Source</vt:lpstr>
      <vt:lpstr>树上启发式合并</vt:lpstr>
      <vt:lpstr>CF741D</vt:lpstr>
      <vt:lpstr>CF741D</vt:lpstr>
      <vt:lpstr>虚树</vt:lpstr>
      <vt:lpstr>CF1320E</vt:lpstr>
      <vt:lpstr>CF1320E</vt:lpstr>
      <vt:lpstr>点分治</vt:lpstr>
      <vt:lpstr>Codechef TSUM2</vt:lpstr>
      <vt:lpstr>Codechef TSUM2</vt:lpstr>
      <vt:lpstr>Luogu 4886</vt:lpstr>
      <vt:lpstr>Luogu 4886</vt:lpstr>
      <vt:lpstr>动态点分治</vt:lpstr>
      <vt:lpstr>Luogu 6329</vt:lpstr>
      <vt:lpstr>Luogu 6329</vt:lpstr>
      <vt:lpstr>树上维护每个子树的信息</vt:lpstr>
      <vt:lpstr>题目选讲</vt:lpstr>
      <vt:lpstr>CF516D</vt:lpstr>
      <vt:lpstr>CF516D</vt:lpstr>
      <vt:lpstr>LOJ3163</vt:lpstr>
      <vt:lpstr>LOJ3163</vt:lpstr>
      <vt:lpstr>ARC087F</vt:lpstr>
      <vt:lpstr>ARC087F</vt:lpstr>
      <vt:lpstr>LOJ3280</vt:lpstr>
      <vt:lpstr>LOJ3280</vt:lpstr>
      <vt:lpstr>LUOGU4292</vt:lpstr>
      <vt:lpstr>LUOGU4292</vt:lpstr>
      <vt:lpstr>CF1110F</vt:lpstr>
      <vt:lpstr>CF1110F</vt:lpstr>
      <vt:lpstr>LOJ3046</vt:lpstr>
      <vt:lpstr>LOJ3046</vt:lpstr>
      <vt:lpstr>CF925E</vt:lpstr>
      <vt:lpstr>CF925E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树上问题</dc:title>
  <dc:creator>X2 Fury</dc:creator>
  <cp:lastModifiedBy>X2 Fury</cp:lastModifiedBy>
  <cp:revision>788</cp:revision>
  <dcterms:created xsi:type="dcterms:W3CDTF">2021-07-04T11:48:15Z</dcterms:created>
  <dcterms:modified xsi:type="dcterms:W3CDTF">2021-07-09T02:40:24Z</dcterms:modified>
</cp:coreProperties>
</file>